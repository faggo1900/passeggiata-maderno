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6C958A-55F6-2855-A988-3A8DC34981B7}" v="1" dt="2026-04-25T07:45:45.690"/>
    <p1510:client id="{B6C36D9E-4F46-D474-AD2C-971D84CF4356}" v="47" dt="2026-04-25T07:47:38.3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0" d="100"/>
          <a:sy n="90" d="100"/>
        </p:scale>
        <p:origin x="-576" y="-68"/>
      </p:cViewPr>
      <p:guideLst>
        <p:guide orient="horz" pos="162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F06A1F5A-6FF5-4324-886A-EED1D35D5B7F}" type="datetimeFigureOut">
              <a:rPr/>
              <a:pPr/>
              <a:t>4/25/2026</a:t>
            </a:fld>
            <a:endParaRPr lang="en-US" dirty="0"/>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9159B23B-6A63-460D-9C68-F5A68185B5B0}" type="slidenum">
              <a:rPr/>
              <a:pPr/>
              <a:t>‹N›</a:t>
            </a:fld>
            <a:endParaRPr lang="en-US" dirty="0"/>
          </a:p>
        </p:txBody>
      </p:sp>
    </p:spTree>
    <p:extLst>
      <p:ext uri="{BB962C8B-B14F-4D97-AF65-F5344CB8AC3E}">
        <p14:creationId xmlns:p14="http://schemas.microsoft.com/office/powerpoint/2010/main" xmlns="" val="3990790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dirty="0"/>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dirty="0"/>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dirty="0"/>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dirty="0"/>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dirty="0"/>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dirty="0"/>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dirty="0"/>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dirty="0"/>
          </a:p>
        </p:txBody>
      </p:sp>
    </p:spTree>
    <p:extLst>
      <p:ext uri="{BB962C8B-B14F-4D97-AF65-F5344CB8AC3E}">
        <p14:creationId xmlns:p14="http://schemas.microsoft.com/office/powerpoint/2010/main" xmlns=""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dirty="0"/>
          </a:p>
        </p:txBody>
      </p:sp>
    </p:spTree>
    <p:extLst>
      <p:ext uri="{BB962C8B-B14F-4D97-AF65-F5344CB8AC3E}">
        <p14:creationId xmlns:p14="http://schemas.microsoft.com/office/powerpoint/2010/main" xmlns=""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dirty="0"/>
          </a:p>
        </p:txBody>
      </p:sp>
    </p:spTree>
    <p:extLst>
      <p:ext uri="{BB962C8B-B14F-4D97-AF65-F5344CB8AC3E}">
        <p14:creationId xmlns:p14="http://schemas.microsoft.com/office/powerpoint/2010/main" xmlns=""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dirty="0"/>
          </a:p>
        </p:txBody>
      </p:sp>
    </p:spTree>
    <p:extLst>
      <p:ext uri="{BB962C8B-B14F-4D97-AF65-F5344CB8AC3E}">
        <p14:creationId xmlns:p14="http://schemas.microsoft.com/office/powerpoint/2010/main" xmlns=""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dirty="0"/>
          </a:p>
        </p:txBody>
      </p:sp>
    </p:spTree>
    <p:extLst>
      <p:ext uri="{BB962C8B-B14F-4D97-AF65-F5344CB8AC3E}">
        <p14:creationId xmlns:p14="http://schemas.microsoft.com/office/powerpoint/2010/main" xmlns=""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dirty="0"/>
          </a:p>
        </p:txBody>
      </p:sp>
    </p:spTree>
    <p:extLst>
      <p:ext uri="{BB962C8B-B14F-4D97-AF65-F5344CB8AC3E}">
        <p14:creationId xmlns:p14="http://schemas.microsoft.com/office/powerpoint/2010/main" xmlns=""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14</a:t>
            </a:fld>
            <a:endParaRPr lang="en-US" dirty="0"/>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6-uDRK1cBbU"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youtu.be/FHxLnZITSRw?si=6V8UzcSX81_JCGpE" TargetMode="External"/><Relationship Id="rId5" Type="http://schemas.openxmlformats.org/officeDocument/2006/relationships/hyperlink" Target="https://youtu.be/WZZM9jbYBtU?si=j3SKUKbuKSJsrtIO" TargetMode="External"/><Relationship Id="rId4" Type="http://schemas.openxmlformats.org/officeDocument/2006/relationships/hyperlink" Target="https://youtu.be/1CKkZ_Nv1FQ?si=nyJggtDKQ9p3zIxz"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2"/>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B85042"/>
          </a:solidFill>
          <a:ln w="12700">
            <a:solidFill>
              <a:srgbClr val="B85042"/>
            </a:solidFill>
            <a:prstDash val="solid"/>
          </a:ln>
        </p:spPr>
      </p:sp>
      <p:sp>
        <p:nvSpPr>
          <p:cNvPr id="5" name="Text 3"/>
          <p:cNvSpPr/>
          <p:nvPr/>
        </p:nvSpPr>
        <p:spPr>
          <a:xfrm>
            <a:off x="822960" y="502920"/>
            <a:ext cx="5486400" cy="274320"/>
          </a:xfrm>
          <a:prstGeom prst="rect">
            <a:avLst/>
          </a:prstGeom>
          <a:noFill/>
          <a:ln/>
        </p:spPr>
        <p:txBody>
          <a:bodyPr wrap="square" rtlCol="0" anchor="ctr"/>
          <a:lstStyle/>
          <a:p>
            <a:pPr marL="0" indent="0">
              <a:buNone/>
            </a:pPr>
            <a:r>
              <a:rPr lang="en-US" sz="1200" b="1" kern="0" spc="300" dirty="0">
                <a:solidFill>
                  <a:srgbClr val="C5A572"/>
                </a:solidFill>
                <a:latin typeface="Calibri" pitchFamily="34" charset="0"/>
                <a:ea typeface="Calibri" pitchFamily="34" charset="-122"/>
                <a:cs typeface="Calibri" pitchFamily="34" charset="-120"/>
              </a:rPr>
              <a:t>Laboratorio di Web Mapping</a:t>
            </a:r>
            <a:endParaRPr lang="en-US" sz="1200" dirty="0"/>
          </a:p>
        </p:txBody>
      </p:sp>
      <p:sp>
        <p:nvSpPr>
          <p:cNvPr id="6" name="Text 4"/>
          <p:cNvSpPr/>
          <p:nvPr/>
        </p:nvSpPr>
        <p:spPr>
          <a:xfrm>
            <a:off x="822960" y="777240"/>
            <a:ext cx="5486400" cy="228600"/>
          </a:xfrm>
          <a:prstGeom prst="rect">
            <a:avLst/>
          </a:prstGeom>
          <a:noFill/>
          <a:ln/>
        </p:spPr>
        <p:txBody>
          <a:bodyPr wrap="square" rtlCol="0" anchor="ctr"/>
          <a:lstStyle/>
          <a:p>
            <a:pPr marL="0" indent="0">
              <a:buNone/>
            </a:pPr>
            <a:r>
              <a:rPr lang="en-US" sz="1000" dirty="0">
                <a:solidFill>
                  <a:srgbClr val="8A8A8A"/>
                </a:solidFill>
                <a:latin typeface="Calibri" pitchFamily="34" charset="0"/>
                <a:ea typeface="Calibri" pitchFamily="34" charset="-122"/>
                <a:cs typeface="Calibri" pitchFamily="34" charset="-120"/>
              </a:rPr>
              <a:t>A.A. </a:t>
            </a:r>
            <a:r>
              <a:rPr lang="en-US" sz="1000" dirty="0" smtClean="0">
                <a:solidFill>
                  <a:srgbClr val="8A8A8A"/>
                </a:solidFill>
                <a:latin typeface="Calibri" pitchFamily="34" charset="0"/>
                <a:ea typeface="Calibri" pitchFamily="34" charset="-122"/>
                <a:cs typeface="Calibri" pitchFamily="34" charset="-120"/>
              </a:rPr>
              <a:t>2025/2026  </a:t>
            </a:r>
            <a:r>
              <a:rPr lang="en-US" sz="1000" dirty="0">
                <a:solidFill>
                  <a:srgbClr val="8A8A8A"/>
                </a:solidFill>
                <a:latin typeface="Calibri" pitchFamily="34" charset="0"/>
                <a:ea typeface="Calibri" pitchFamily="34" charset="-122"/>
                <a:cs typeface="Calibri" pitchFamily="34" charset="-120"/>
              </a:rPr>
              <a:t>·  Prof. M. Angelaccio</a:t>
            </a:r>
            <a:endParaRPr lang="en-US" sz="1000" dirty="0"/>
          </a:p>
        </p:txBody>
      </p:sp>
      <p:sp>
        <p:nvSpPr>
          <p:cNvPr id="7" name="Text 5"/>
          <p:cNvSpPr/>
          <p:nvPr/>
        </p:nvSpPr>
        <p:spPr>
          <a:xfrm>
            <a:off x="822960" y="1554480"/>
            <a:ext cx="7589520" cy="822960"/>
          </a:xfrm>
          <a:prstGeom prst="rect">
            <a:avLst/>
          </a:prstGeom>
          <a:noFill/>
          <a:ln/>
        </p:spPr>
        <p:txBody>
          <a:bodyPr wrap="square" lIns="0" tIns="0" rIns="0" bIns="0" rtlCol="0" anchor="ctr"/>
          <a:lstStyle/>
          <a:p>
            <a:pPr marL="0" indent="0">
              <a:buNone/>
            </a:pPr>
            <a:r>
              <a:rPr lang="en-US" sz="4400" b="1" dirty="0">
                <a:solidFill>
                  <a:srgbClr val="2B2B2B"/>
                </a:solidFill>
                <a:latin typeface="Georgia" pitchFamily="34" charset="0"/>
                <a:ea typeface="Georgia" pitchFamily="34" charset="-122"/>
                <a:cs typeface="Georgia" pitchFamily="34" charset="-120"/>
              </a:rPr>
              <a:t>Passeggiate Romane</a:t>
            </a:r>
            <a:endParaRPr lang="en-US" sz="4400" dirty="0"/>
          </a:p>
        </p:txBody>
      </p:sp>
      <p:sp>
        <p:nvSpPr>
          <p:cNvPr id="8" name="Text 6"/>
          <p:cNvSpPr/>
          <p:nvPr/>
        </p:nvSpPr>
        <p:spPr>
          <a:xfrm>
            <a:off x="822960" y="2423160"/>
            <a:ext cx="7589520" cy="457200"/>
          </a:xfrm>
          <a:prstGeom prst="rect">
            <a:avLst/>
          </a:prstGeom>
          <a:noFill/>
          <a:ln/>
        </p:spPr>
        <p:txBody>
          <a:bodyPr wrap="square" lIns="0" tIns="0" rIns="0" bIns="0" rtlCol="0" anchor="ctr"/>
          <a:lstStyle/>
          <a:p>
            <a:pPr marL="0" indent="0">
              <a:buNone/>
            </a:pPr>
            <a:r>
              <a:rPr lang="en-US" sz="2200" i="1" dirty="0" smtClean="0">
                <a:solidFill>
                  <a:srgbClr val="B85042"/>
                </a:solidFill>
                <a:latin typeface="Georgia" pitchFamily="34" charset="0"/>
                <a:ea typeface="Georgia" pitchFamily="34" charset="-122"/>
                <a:cs typeface="Georgia" pitchFamily="34" charset="-120"/>
              </a:rPr>
              <a:t>LA NASCITA DELLA ROMA BAROCCA</a:t>
            </a:r>
            <a:endParaRPr lang="en-US" sz="2200" dirty="0"/>
          </a:p>
        </p:txBody>
      </p:sp>
      <p:sp>
        <p:nvSpPr>
          <p:cNvPr id="9" name="Text 7"/>
          <p:cNvSpPr/>
          <p:nvPr/>
        </p:nvSpPr>
        <p:spPr>
          <a:xfrm>
            <a:off x="822960" y="2880360"/>
            <a:ext cx="7589520" cy="365760"/>
          </a:xfrm>
          <a:prstGeom prst="rect">
            <a:avLst/>
          </a:prstGeom>
          <a:noFill/>
          <a:ln/>
        </p:spPr>
        <p:txBody>
          <a:bodyPr wrap="square" lIns="0" tIns="0" rIns="0" bIns="0" rtlCol="0" anchor="ctr"/>
          <a:lstStyle/>
          <a:p>
            <a:r>
              <a:rPr lang="en-US" sz="1400" i="1" dirty="0" smtClean="0">
                <a:latin typeface="Calibri" pitchFamily="34" charset="0"/>
                <a:ea typeface="Calibri" pitchFamily="34" charset="-122"/>
                <a:cs typeface="Calibri" pitchFamily="34" charset="-120"/>
              </a:rPr>
              <a:t>Palazzi, cupole e grandi visioni: l’impronta di Carlo Maderno sulla Città Eterna</a:t>
            </a:r>
            <a:endParaRPr lang="en-US" sz="1400" dirty="0"/>
          </a:p>
        </p:txBody>
      </p:sp>
      <p:sp>
        <p:nvSpPr>
          <p:cNvPr id="10" name="Shape 8"/>
          <p:cNvSpPr/>
          <p:nvPr/>
        </p:nvSpPr>
        <p:spPr>
          <a:xfrm>
            <a:off x="822960" y="3474720"/>
            <a:ext cx="2286000" cy="0"/>
          </a:xfrm>
          <a:prstGeom prst="line">
            <a:avLst/>
          </a:prstGeom>
          <a:noFill/>
          <a:ln w="19050">
            <a:solidFill>
              <a:srgbClr val="C5A572"/>
            </a:solidFill>
            <a:prstDash val="solid"/>
          </a:ln>
        </p:spPr>
      </p:sp>
      <p:sp>
        <p:nvSpPr>
          <p:cNvPr id="11" name="Text 9"/>
          <p:cNvSpPr/>
          <p:nvPr/>
        </p:nvSpPr>
        <p:spPr>
          <a:xfrm>
            <a:off x="822960" y="3611880"/>
            <a:ext cx="7589520" cy="1371600"/>
          </a:xfrm>
          <a:prstGeom prst="rect">
            <a:avLst/>
          </a:prstGeom>
          <a:noFill/>
          <a:ln/>
        </p:spPr>
        <p:txBody>
          <a:bodyPr wrap="square" lIns="0" tIns="0" rIns="0" bIns="0" rtlCol="0" anchor="ctr"/>
          <a:lstStyle/>
          <a:p>
            <a:pPr marL="0" indent="0">
              <a:spcAft>
                <a:spcPts val="300"/>
              </a:spcAft>
              <a:buNone/>
            </a:pPr>
            <a:r>
              <a:rPr lang="en-US" sz="1200" b="1" dirty="0">
                <a:solidFill>
                  <a:srgbClr val="2B2B2B"/>
                </a:solidFill>
                <a:latin typeface="Calibri" pitchFamily="34" charset="0"/>
                <a:ea typeface="Calibri" pitchFamily="34" charset="-122"/>
                <a:cs typeface="Calibri" pitchFamily="34" charset="-120"/>
              </a:rPr>
              <a:t>Studente: </a:t>
            </a:r>
            <a:r>
              <a:rPr lang="en-US" sz="1200" dirty="0" smtClean="0">
                <a:solidFill>
                  <a:srgbClr val="2B2B2B"/>
                </a:solidFill>
                <a:latin typeface="Calibri" pitchFamily="34" charset="0"/>
                <a:ea typeface="Calibri" pitchFamily="34" charset="-122"/>
                <a:cs typeface="Calibri" pitchFamily="34" charset="-120"/>
              </a:rPr>
              <a:t>Lorenzo Fagiani</a:t>
            </a:r>
            <a:endParaRPr lang="en-US" sz="1200" dirty="0"/>
          </a:p>
          <a:p>
            <a:pPr marL="0" indent="0">
              <a:spcAft>
                <a:spcPts val="300"/>
              </a:spcAft>
              <a:buNone/>
            </a:pPr>
            <a:r>
              <a:rPr lang="en-US" sz="1200" b="1" dirty="0">
                <a:solidFill>
                  <a:srgbClr val="2B2B2B"/>
                </a:solidFill>
                <a:latin typeface="Calibri" pitchFamily="34" charset="0"/>
                <a:ea typeface="Calibri" pitchFamily="34" charset="-122"/>
                <a:cs typeface="Calibri" pitchFamily="34" charset="-120"/>
              </a:rPr>
              <a:t>Matricola</a:t>
            </a:r>
            <a:r>
              <a:rPr lang="en-US" sz="1200" b="1" dirty="0" smtClean="0">
                <a:solidFill>
                  <a:srgbClr val="2B2B2B"/>
                </a:solidFill>
                <a:latin typeface="Calibri" pitchFamily="34" charset="0"/>
                <a:ea typeface="Calibri" pitchFamily="34" charset="-122"/>
                <a:cs typeface="Calibri" pitchFamily="34" charset="-120"/>
              </a:rPr>
              <a:t>: </a:t>
            </a:r>
            <a:r>
              <a:rPr lang="en-US" sz="1200" dirty="0" smtClean="0">
                <a:solidFill>
                  <a:srgbClr val="2B2B2B"/>
                </a:solidFill>
                <a:latin typeface="Calibri" pitchFamily="34" charset="0"/>
                <a:ea typeface="Calibri" pitchFamily="34" charset="-122"/>
                <a:cs typeface="Calibri" pitchFamily="34" charset="-120"/>
              </a:rPr>
              <a:t>0343816</a:t>
            </a:r>
            <a:endParaRPr lang="en-US" sz="1200" dirty="0"/>
          </a:p>
          <a:p>
            <a:pPr marL="0" indent="0">
              <a:spcAft>
                <a:spcPts val="300"/>
              </a:spcAft>
              <a:buNone/>
            </a:pPr>
            <a:r>
              <a:rPr lang="en-US" sz="1200" b="1" dirty="0">
                <a:solidFill>
                  <a:srgbClr val="2B2B2B"/>
                </a:solidFill>
                <a:latin typeface="Calibri" pitchFamily="34" charset="0"/>
                <a:ea typeface="Calibri" pitchFamily="34" charset="-122"/>
                <a:cs typeface="Calibri" pitchFamily="34" charset="-120"/>
              </a:rPr>
              <a:t>E-mail istituzionale: </a:t>
            </a:r>
            <a:r>
              <a:rPr lang="en-US" sz="1200" dirty="0" smtClean="0">
                <a:solidFill>
                  <a:srgbClr val="2B2B2B"/>
                </a:solidFill>
                <a:latin typeface="Calibri" pitchFamily="34" charset="0"/>
                <a:ea typeface="Calibri" pitchFamily="34" charset="-122"/>
                <a:cs typeface="Calibri" pitchFamily="34" charset="-120"/>
              </a:rPr>
              <a:t>lorenzo.fagiani.01@students.uniroma2.eu</a:t>
            </a:r>
            <a:endParaRPr lang="en-US" sz="1200" dirty="0"/>
          </a:p>
          <a:p>
            <a:pPr marL="0" indent="0">
              <a:spcAft>
                <a:spcPts val="300"/>
              </a:spcAft>
              <a:buNone/>
            </a:pPr>
            <a:r>
              <a:rPr lang="en-US" sz="1200" b="1" dirty="0">
                <a:solidFill>
                  <a:srgbClr val="2B2B2B"/>
                </a:solidFill>
                <a:latin typeface="Calibri" pitchFamily="34" charset="0"/>
                <a:ea typeface="Calibri" pitchFamily="34" charset="-122"/>
                <a:cs typeface="Calibri" pitchFamily="34" charset="-120"/>
              </a:rPr>
              <a:t>Personaggio: </a:t>
            </a:r>
            <a:r>
              <a:rPr lang="en-US" sz="1200" dirty="0" smtClean="0">
                <a:solidFill>
                  <a:srgbClr val="2B2B2B"/>
                </a:solidFill>
                <a:latin typeface="Calibri" pitchFamily="34" charset="0"/>
                <a:ea typeface="Calibri" pitchFamily="34" charset="-122"/>
                <a:cs typeface="Calibri" pitchFamily="34" charset="-120"/>
              </a:rPr>
              <a:t>Carlo Maderno</a:t>
            </a:r>
            <a:endParaRPr lang="en-US" sz="1200" dirty="0"/>
          </a:p>
          <a:p>
            <a:pPr marL="0" indent="0">
              <a:spcAft>
                <a:spcPts val="300"/>
              </a:spcAft>
              <a:buNone/>
            </a:pPr>
            <a:r>
              <a:rPr lang="en-US" sz="1200" b="1" dirty="0">
                <a:solidFill>
                  <a:srgbClr val="2B2B2B"/>
                </a:solidFill>
                <a:latin typeface="Calibri" pitchFamily="34" charset="0"/>
                <a:ea typeface="Calibri" pitchFamily="34" charset="-122"/>
                <a:cs typeface="Calibri" pitchFamily="34" charset="-120"/>
              </a:rPr>
              <a:t>Categoria: </a:t>
            </a:r>
            <a:r>
              <a:rPr lang="en-US" sz="1200" i="1" dirty="0" smtClean="0">
                <a:solidFill>
                  <a:srgbClr val="B85042"/>
                </a:solidFill>
                <a:latin typeface="Calibri" pitchFamily="34" charset="0"/>
                <a:ea typeface="Calibri" pitchFamily="34" charset="-122"/>
                <a:cs typeface="Calibri" pitchFamily="34" charset="-120"/>
              </a:rPr>
              <a:t>Architetti</a:t>
            </a:r>
            <a:endParaRPr lang="en-US" sz="1200" dirty="0"/>
          </a:p>
        </p:txBody>
      </p:sp>
      <p:pic>
        <p:nvPicPr>
          <p:cNvPr id="12" name="Immagine 11" descr="logo tor vergata.png"/>
          <p:cNvPicPr>
            <a:picLocks noChangeAspect="1"/>
          </p:cNvPicPr>
          <p:nvPr/>
        </p:nvPicPr>
        <p:blipFill>
          <a:blip r:embed="rId3"/>
          <a:stretch>
            <a:fillRect/>
          </a:stretch>
        </p:blipFill>
        <p:spPr>
          <a:xfrm>
            <a:off x="5570806" y="228893"/>
            <a:ext cx="3473835" cy="9000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2"/>
        </a:solidFill>
        <a:effectLst/>
      </p:bgPr>
    </p:bg>
    <p:spTree>
      <p:nvGrpSpPr>
        <p:cNvPr id="1" name=""/>
        <p:cNvGrpSpPr/>
        <p:nvPr/>
      </p:nvGrpSpPr>
      <p:grpSpPr>
        <a:xfrm>
          <a:off x="0" y="0"/>
          <a:ext cx="0" cy="0"/>
          <a:chOff x="0" y="0"/>
          <a:chExt cx="0" cy="0"/>
        </a:xfrm>
      </p:grpSpPr>
      <p:sp>
        <p:nvSpPr>
          <p:cNvPr id="2" name="Text 0"/>
          <p:cNvSpPr/>
          <p:nvPr/>
        </p:nvSpPr>
        <p:spPr>
          <a:xfrm>
            <a:off x="457200" y="320040"/>
            <a:ext cx="1097280" cy="640080"/>
          </a:xfrm>
          <a:prstGeom prst="rect">
            <a:avLst/>
          </a:prstGeom>
          <a:noFill/>
          <a:ln/>
        </p:spPr>
        <p:txBody>
          <a:bodyPr wrap="square" lIns="0" tIns="0" rIns="0" bIns="0" rtlCol="0" anchor="ctr"/>
          <a:lstStyle/>
          <a:p>
            <a:pPr marL="0" indent="0">
              <a:buNone/>
            </a:pPr>
            <a:r>
              <a:rPr lang="en-US" sz="3200" b="1" dirty="0">
                <a:solidFill>
                  <a:srgbClr val="C5A572"/>
                </a:solidFill>
                <a:latin typeface="Georgia" pitchFamily="34" charset="0"/>
                <a:ea typeface="Georgia" pitchFamily="34" charset="-122"/>
                <a:cs typeface="Georgia" pitchFamily="34" charset="-120"/>
              </a:rPr>
              <a:t>01</a:t>
            </a:r>
            <a:endParaRPr lang="en-US" sz="3200" dirty="0"/>
          </a:p>
        </p:txBody>
      </p:sp>
      <p:sp>
        <p:nvSpPr>
          <p:cNvPr id="3" name="Text 1"/>
          <p:cNvSpPr/>
          <p:nvPr/>
        </p:nvSpPr>
        <p:spPr>
          <a:xfrm>
            <a:off x="1554480" y="320040"/>
            <a:ext cx="7132320" cy="640080"/>
          </a:xfrm>
          <a:prstGeom prst="rect">
            <a:avLst/>
          </a:prstGeom>
          <a:noFill/>
          <a:ln/>
        </p:spPr>
        <p:txBody>
          <a:bodyPr wrap="square" lIns="0" tIns="0" rIns="0" bIns="0" rtlCol="0" anchor="ctr"/>
          <a:lstStyle/>
          <a:p>
            <a:pPr marL="0" indent="0">
              <a:buNone/>
            </a:pPr>
            <a:r>
              <a:rPr lang="en-US" sz="2600" b="1" dirty="0">
                <a:solidFill>
                  <a:srgbClr val="2B2B2B"/>
                </a:solidFill>
                <a:latin typeface="Georgia" pitchFamily="34" charset="0"/>
                <a:ea typeface="Georgia" pitchFamily="34" charset="-122"/>
                <a:cs typeface="Georgia" pitchFamily="34" charset="-120"/>
              </a:rPr>
              <a:t>Indice</a:t>
            </a:r>
            <a:endParaRPr lang="en-US" sz="2600" dirty="0"/>
          </a:p>
        </p:txBody>
      </p:sp>
      <p:sp>
        <p:nvSpPr>
          <p:cNvPr id="4" name="Shape 2"/>
          <p:cNvSpPr/>
          <p:nvPr/>
        </p:nvSpPr>
        <p:spPr>
          <a:xfrm>
            <a:off x="457200" y="1005840"/>
            <a:ext cx="1828800" cy="0"/>
          </a:xfrm>
          <a:prstGeom prst="line">
            <a:avLst/>
          </a:prstGeom>
          <a:noFill/>
          <a:ln w="25400">
            <a:solidFill>
              <a:srgbClr val="B85042"/>
            </a:solidFill>
            <a:prstDash val="solid"/>
          </a:ln>
        </p:spPr>
      </p:sp>
      <p:sp>
        <p:nvSpPr>
          <p:cNvPr id="5" name="Text 3"/>
          <p:cNvSpPr/>
          <p:nvPr/>
        </p:nvSpPr>
        <p:spPr>
          <a:xfrm>
            <a:off x="640080" y="1280160"/>
            <a:ext cx="457200" cy="320040"/>
          </a:xfrm>
          <a:prstGeom prst="rect">
            <a:avLst/>
          </a:prstGeom>
          <a:noFill/>
          <a:ln/>
        </p:spPr>
        <p:txBody>
          <a:bodyPr wrap="square" lIns="0" tIns="0" rIns="0" bIns="0" rtlCol="0" anchor="ctr"/>
          <a:lstStyle/>
          <a:p>
            <a:pPr marL="0" indent="0">
              <a:buNone/>
            </a:pPr>
            <a:r>
              <a:rPr lang="en-US" sz="1400" b="1" dirty="0">
                <a:solidFill>
                  <a:srgbClr val="C5A572"/>
                </a:solidFill>
                <a:latin typeface="Georgia" pitchFamily="34" charset="0"/>
                <a:ea typeface="Georgia" pitchFamily="34" charset="-122"/>
                <a:cs typeface="Georgia" pitchFamily="34" charset="-120"/>
              </a:rPr>
              <a:t>01</a:t>
            </a:r>
            <a:endParaRPr lang="en-US" sz="1400" dirty="0"/>
          </a:p>
        </p:txBody>
      </p:sp>
      <p:sp>
        <p:nvSpPr>
          <p:cNvPr id="6" name="Text 4"/>
          <p:cNvSpPr/>
          <p:nvPr/>
        </p:nvSpPr>
        <p:spPr>
          <a:xfrm>
            <a:off x="1143000" y="1280160"/>
            <a:ext cx="333756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Il personaggio</a:t>
            </a:r>
            <a:endParaRPr lang="en-US" sz="1300" dirty="0"/>
          </a:p>
        </p:txBody>
      </p:sp>
      <p:sp>
        <p:nvSpPr>
          <p:cNvPr id="7" name="Text 5"/>
          <p:cNvSpPr/>
          <p:nvPr/>
        </p:nvSpPr>
        <p:spPr>
          <a:xfrm>
            <a:off x="640080" y="1691640"/>
            <a:ext cx="457200" cy="320040"/>
          </a:xfrm>
          <a:prstGeom prst="rect">
            <a:avLst/>
          </a:prstGeom>
          <a:noFill/>
          <a:ln/>
        </p:spPr>
        <p:txBody>
          <a:bodyPr wrap="square" lIns="0" tIns="0" rIns="0" bIns="0" rtlCol="0" anchor="ctr"/>
          <a:lstStyle/>
          <a:p>
            <a:pPr marL="0" indent="0">
              <a:buNone/>
            </a:pPr>
            <a:r>
              <a:rPr lang="en-US" sz="1400" b="1" dirty="0">
                <a:solidFill>
                  <a:srgbClr val="C5A572"/>
                </a:solidFill>
                <a:latin typeface="Georgia" pitchFamily="34" charset="0"/>
                <a:ea typeface="Georgia" pitchFamily="34" charset="-122"/>
                <a:cs typeface="Georgia" pitchFamily="34" charset="-120"/>
              </a:rPr>
              <a:t>02</a:t>
            </a:r>
            <a:endParaRPr lang="en-US" sz="1400" dirty="0"/>
          </a:p>
        </p:txBody>
      </p:sp>
      <p:sp>
        <p:nvSpPr>
          <p:cNvPr id="8" name="Text 6"/>
          <p:cNvSpPr/>
          <p:nvPr/>
        </p:nvSpPr>
        <p:spPr>
          <a:xfrm>
            <a:off x="1143000" y="1691640"/>
            <a:ext cx="333756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Perché questo personaggio</a:t>
            </a:r>
            <a:endParaRPr lang="en-US" sz="1300" dirty="0"/>
          </a:p>
        </p:txBody>
      </p:sp>
      <p:sp>
        <p:nvSpPr>
          <p:cNvPr id="9" name="Text 7"/>
          <p:cNvSpPr/>
          <p:nvPr/>
        </p:nvSpPr>
        <p:spPr>
          <a:xfrm>
            <a:off x="640080" y="2103120"/>
            <a:ext cx="457200" cy="320040"/>
          </a:xfrm>
          <a:prstGeom prst="rect">
            <a:avLst/>
          </a:prstGeom>
          <a:noFill/>
          <a:ln/>
        </p:spPr>
        <p:txBody>
          <a:bodyPr wrap="square" lIns="0" tIns="0" rIns="0" bIns="0" rtlCol="0" anchor="ctr"/>
          <a:lstStyle/>
          <a:p>
            <a:pPr marL="0" indent="0">
              <a:buNone/>
            </a:pPr>
            <a:r>
              <a:rPr lang="en-US" sz="1400" b="1" dirty="0">
                <a:solidFill>
                  <a:srgbClr val="C5A572"/>
                </a:solidFill>
                <a:latin typeface="Georgia" pitchFamily="34" charset="0"/>
                <a:ea typeface="Georgia" pitchFamily="34" charset="-122"/>
                <a:cs typeface="Georgia" pitchFamily="34" charset="-120"/>
              </a:rPr>
              <a:t>03</a:t>
            </a:r>
            <a:endParaRPr lang="en-US" sz="1400" dirty="0"/>
          </a:p>
        </p:txBody>
      </p:sp>
      <p:sp>
        <p:nvSpPr>
          <p:cNvPr id="10" name="Text 8"/>
          <p:cNvSpPr/>
          <p:nvPr/>
        </p:nvSpPr>
        <p:spPr>
          <a:xfrm>
            <a:off x="1143000" y="2103120"/>
            <a:ext cx="333756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Concept della passeggiata</a:t>
            </a:r>
            <a:endParaRPr lang="en-US" sz="1300" dirty="0"/>
          </a:p>
        </p:txBody>
      </p:sp>
      <p:sp>
        <p:nvSpPr>
          <p:cNvPr id="11" name="Text 9"/>
          <p:cNvSpPr/>
          <p:nvPr/>
        </p:nvSpPr>
        <p:spPr>
          <a:xfrm>
            <a:off x="640080" y="2514600"/>
            <a:ext cx="457200" cy="320040"/>
          </a:xfrm>
          <a:prstGeom prst="rect">
            <a:avLst/>
          </a:prstGeom>
          <a:noFill/>
          <a:ln/>
        </p:spPr>
        <p:txBody>
          <a:bodyPr wrap="square" lIns="0" tIns="0" rIns="0" bIns="0" rtlCol="0" anchor="ctr"/>
          <a:lstStyle/>
          <a:p>
            <a:pPr marL="0" indent="0">
              <a:buNone/>
            </a:pPr>
            <a:r>
              <a:rPr lang="en-US" sz="1400" b="1" dirty="0">
                <a:solidFill>
                  <a:srgbClr val="C5A572"/>
                </a:solidFill>
                <a:latin typeface="Georgia" pitchFamily="34" charset="0"/>
                <a:ea typeface="Georgia" pitchFamily="34" charset="-122"/>
                <a:cs typeface="Georgia" pitchFamily="34" charset="-120"/>
              </a:rPr>
              <a:t>04</a:t>
            </a:r>
            <a:endParaRPr lang="en-US" sz="1400" dirty="0"/>
          </a:p>
        </p:txBody>
      </p:sp>
      <p:sp>
        <p:nvSpPr>
          <p:cNvPr id="12" name="Text 10"/>
          <p:cNvSpPr/>
          <p:nvPr/>
        </p:nvSpPr>
        <p:spPr>
          <a:xfrm>
            <a:off x="1143000" y="2514600"/>
            <a:ext cx="333756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Il percorso sulla mappa</a:t>
            </a:r>
            <a:endParaRPr lang="en-US" sz="1300" dirty="0"/>
          </a:p>
        </p:txBody>
      </p:sp>
      <p:sp>
        <p:nvSpPr>
          <p:cNvPr id="13" name="Text 11"/>
          <p:cNvSpPr/>
          <p:nvPr/>
        </p:nvSpPr>
        <p:spPr>
          <a:xfrm>
            <a:off x="640080" y="2926080"/>
            <a:ext cx="457200" cy="320040"/>
          </a:xfrm>
          <a:prstGeom prst="rect">
            <a:avLst/>
          </a:prstGeom>
          <a:noFill/>
          <a:ln/>
        </p:spPr>
        <p:txBody>
          <a:bodyPr wrap="square" lIns="0" tIns="0" rIns="0" bIns="0" rtlCol="0" anchor="ctr"/>
          <a:lstStyle/>
          <a:p>
            <a:pPr marL="0" indent="0">
              <a:buNone/>
            </a:pPr>
            <a:r>
              <a:rPr lang="en-US" sz="1400" b="1" dirty="0">
                <a:solidFill>
                  <a:srgbClr val="C5A572"/>
                </a:solidFill>
                <a:latin typeface="Georgia" pitchFamily="34" charset="0"/>
                <a:ea typeface="Georgia" pitchFamily="34" charset="-122"/>
                <a:cs typeface="Georgia" pitchFamily="34" charset="-120"/>
              </a:rPr>
              <a:t>05</a:t>
            </a:r>
            <a:endParaRPr lang="en-US" sz="1400" dirty="0"/>
          </a:p>
        </p:txBody>
      </p:sp>
      <p:sp>
        <p:nvSpPr>
          <p:cNvPr id="14" name="Text 12"/>
          <p:cNvSpPr/>
          <p:nvPr/>
        </p:nvSpPr>
        <p:spPr>
          <a:xfrm>
            <a:off x="1143000" y="2926080"/>
            <a:ext cx="333756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Le tappe (panoramica)</a:t>
            </a:r>
            <a:endParaRPr lang="en-US" sz="1300" dirty="0"/>
          </a:p>
        </p:txBody>
      </p:sp>
      <p:sp>
        <p:nvSpPr>
          <p:cNvPr id="15" name="Text 13"/>
          <p:cNvSpPr/>
          <p:nvPr/>
        </p:nvSpPr>
        <p:spPr>
          <a:xfrm>
            <a:off x="640080" y="3337560"/>
            <a:ext cx="457200" cy="320040"/>
          </a:xfrm>
          <a:prstGeom prst="rect">
            <a:avLst/>
          </a:prstGeom>
          <a:noFill/>
          <a:ln/>
        </p:spPr>
        <p:txBody>
          <a:bodyPr wrap="square" lIns="0" tIns="0" rIns="0" bIns="0" rtlCol="0" anchor="ctr"/>
          <a:lstStyle/>
          <a:p>
            <a:pPr marL="0" indent="0">
              <a:buNone/>
            </a:pPr>
            <a:r>
              <a:rPr lang="en-US" sz="1400" b="1" dirty="0">
                <a:solidFill>
                  <a:srgbClr val="C5A572"/>
                </a:solidFill>
                <a:latin typeface="Georgia" pitchFamily="34" charset="0"/>
                <a:ea typeface="Georgia" pitchFamily="34" charset="-122"/>
                <a:cs typeface="Georgia" pitchFamily="34" charset="-120"/>
              </a:rPr>
              <a:t>06</a:t>
            </a:r>
            <a:endParaRPr lang="en-US" sz="1400" dirty="0"/>
          </a:p>
        </p:txBody>
      </p:sp>
      <p:sp>
        <p:nvSpPr>
          <p:cNvPr id="16" name="Text 14"/>
          <p:cNvSpPr/>
          <p:nvPr/>
        </p:nvSpPr>
        <p:spPr>
          <a:xfrm>
            <a:off x="1143000" y="3337560"/>
            <a:ext cx="333756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Approfondimento di una tappa</a:t>
            </a:r>
            <a:endParaRPr lang="en-US" sz="1300" dirty="0"/>
          </a:p>
        </p:txBody>
      </p:sp>
      <p:sp>
        <p:nvSpPr>
          <p:cNvPr id="17" name="Text 15"/>
          <p:cNvSpPr/>
          <p:nvPr/>
        </p:nvSpPr>
        <p:spPr>
          <a:xfrm>
            <a:off x="640080" y="3749040"/>
            <a:ext cx="457200" cy="320040"/>
          </a:xfrm>
          <a:prstGeom prst="rect">
            <a:avLst/>
          </a:prstGeom>
          <a:noFill/>
          <a:ln/>
        </p:spPr>
        <p:txBody>
          <a:bodyPr wrap="square" lIns="0" tIns="0" rIns="0" bIns="0" rtlCol="0" anchor="ctr"/>
          <a:lstStyle/>
          <a:p>
            <a:pPr marL="0" indent="0">
              <a:buNone/>
            </a:pPr>
            <a:r>
              <a:rPr lang="en-US" sz="1400" b="1" dirty="0">
                <a:solidFill>
                  <a:srgbClr val="C5A572"/>
                </a:solidFill>
                <a:latin typeface="Georgia" pitchFamily="34" charset="0"/>
                <a:ea typeface="Georgia" pitchFamily="34" charset="-122"/>
                <a:cs typeface="Georgia" pitchFamily="34" charset="-120"/>
              </a:rPr>
              <a:t>07</a:t>
            </a:r>
            <a:endParaRPr lang="en-US" sz="1400" dirty="0"/>
          </a:p>
        </p:txBody>
      </p:sp>
      <p:sp>
        <p:nvSpPr>
          <p:cNvPr id="18" name="Text 16"/>
          <p:cNvSpPr/>
          <p:nvPr/>
        </p:nvSpPr>
        <p:spPr>
          <a:xfrm>
            <a:off x="1143000" y="3749040"/>
            <a:ext cx="333756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Architettura software</a:t>
            </a:r>
            <a:endParaRPr lang="en-US" sz="1300" dirty="0"/>
          </a:p>
        </p:txBody>
      </p:sp>
      <p:sp>
        <p:nvSpPr>
          <p:cNvPr id="19" name="Text 17"/>
          <p:cNvSpPr/>
          <p:nvPr/>
        </p:nvSpPr>
        <p:spPr>
          <a:xfrm>
            <a:off x="4754880" y="1280160"/>
            <a:ext cx="457200" cy="320040"/>
          </a:xfrm>
          <a:prstGeom prst="rect">
            <a:avLst/>
          </a:prstGeom>
          <a:noFill/>
          <a:ln/>
        </p:spPr>
        <p:txBody>
          <a:bodyPr wrap="square" lIns="0" tIns="0" rIns="0" bIns="0" rtlCol="0" anchor="ctr"/>
          <a:lstStyle/>
          <a:p>
            <a:pPr marL="0" indent="0">
              <a:buNone/>
            </a:pPr>
            <a:r>
              <a:rPr lang="en-US" sz="1400" b="1" dirty="0">
                <a:solidFill>
                  <a:srgbClr val="C5A572"/>
                </a:solidFill>
                <a:latin typeface="Georgia" pitchFamily="34" charset="0"/>
                <a:ea typeface="Georgia" pitchFamily="34" charset="-122"/>
                <a:cs typeface="Georgia" pitchFamily="34" charset="-120"/>
              </a:rPr>
              <a:t>08</a:t>
            </a:r>
            <a:endParaRPr lang="en-US" sz="1400" dirty="0"/>
          </a:p>
        </p:txBody>
      </p:sp>
      <p:sp>
        <p:nvSpPr>
          <p:cNvPr id="20" name="Text 18"/>
          <p:cNvSpPr/>
          <p:nvPr/>
        </p:nvSpPr>
        <p:spPr>
          <a:xfrm>
            <a:off x="5257800" y="1280160"/>
            <a:ext cx="333756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Schema dati (data.json)</a:t>
            </a:r>
            <a:endParaRPr lang="en-US" sz="1300" dirty="0"/>
          </a:p>
        </p:txBody>
      </p:sp>
      <p:sp>
        <p:nvSpPr>
          <p:cNvPr id="21" name="Text 19"/>
          <p:cNvSpPr/>
          <p:nvPr/>
        </p:nvSpPr>
        <p:spPr>
          <a:xfrm>
            <a:off x="4754880" y="1691640"/>
            <a:ext cx="457200" cy="320040"/>
          </a:xfrm>
          <a:prstGeom prst="rect">
            <a:avLst/>
          </a:prstGeom>
          <a:noFill/>
          <a:ln/>
        </p:spPr>
        <p:txBody>
          <a:bodyPr wrap="square" lIns="0" tIns="0" rIns="0" bIns="0" rtlCol="0" anchor="ctr"/>
          <a:lstStyle/>
          <a:p>
            <a:pPr marL="0" indent="0">
              <a:buNone/>
            </a:pPr>
            <a:r>
              <a:rPr lang="en-US" sz="1400" b="1" dirty="0">
                <a:solidFill>
                  <a:srgbClr val="C5A572"/>
                </a:solidFill>
                <a:latin typeface="Georgia" pitchFamily="34" charset="0"/>
                <a:ea typeface="Georgia" pitchFamily="34" charset="-122"/>
                <a:cs typeface="Georgia" pitchFamily="34" charset="-120"/>
              </a:rPr>
              <a:t>09</a:t>
            </a:r>
            <a:endParaRPr lang="en-US" sz="1400" dirty="0"/>
          </a:p>
        </p:txBody>
      </p:sp>
      <p:sp>
        <p:nvSpPr>
          <p:cNvPr id="22" name="Text 20"/>
          <p:cNvSpPr/>
          <p:nvPr/>
        </p:nvSpPr>
        <p:spPr>
          <a:xfrm>
            <a:off x="5257800" y="1691640"/>
            <a:ext cx="333756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Interfaccia utente</a:t>
            </a:r>
            <a:endParaRPr lang="en-US" sz="1300" dirty="0"/>
          </a:p>
        </p:txBody>
      </p:sp>
      <p:sp>
        <p:nvSpPr>
          <p:cNvPr id="23" name="Text 21"/>
          <p:cNvSpPr/>
          <p:nvPr/>
        </p:nvSpPr>
        <p:spPr>
          <a:xfrm>
            <a:off x="4754880" y="2103120"/>
            <a:ext cx="457200" cy="320040"/>
          </a:xfrm>
          <a:prstGeom prst="rect">
            <a:avLst/>
          </a:prstGeom>
          <a:noFill/>
          <a:ln/>
        </p:spPr>
        <p:txBody>
          <a:bodyPr wrap="square" lIns="0" tIns="0" rIns="0" bIns="0" rtlCol="0" anchor="ctr"/>
          <a:lstStyle/>
          <a:p>
            <a:pPr marL="0" indent="0">
              <a:buNone/>
            </a:pPr>
            <a:r>
              <a:rPr lang="en-US" sz="1400" b="1" dirty="0">
                <a:solidFill>
                  <a:srgbClr val="C5A572"/>
                </a:solidFill>
                <a:latin typeface="Georgia" pitchFamily="34" charset="0"/>
                <a:ea typeface="Georgia" pitchFamily="34" charset="-122"/>
                <a:cs typeface="Georgia" pitchFamily="34" charset="-120"/>
              </a:rPr>
              <a:t>10</a:t>
            </a:r>
            <a:endParaRPr lang="en-US" sz="1400" dirty="0"/>
          </a:p>
        </p:txBody>
      </p:sp>
      <p:sp>
        <p:nvSpPr>
          <p:cNvPr id="24" name="Text 22"/>
          <p:cNvSpPr/>
          <p:nvPr/>
        </p:nvSpPr>
        <p:spPr>
          <a:xfrm>
            <a:off x="5257800" y="2103120"/>
            <a:ext cx="333756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Elementi di originalità</a:t>
            </a:r>
            <a:endParaRPr lang="en-US" sz="1300" dirty="0"/>
          </a:p>
        </p:txBody>
      </p:sp>
      <p:sp>
        <p:nvSpPr>
          <p:cNvPr id="25" name="Text 23"/>
          <p:cNvSpPr/>
          <p:nvPr/>
        </p:nvSpPr>
        <p:spPr>
          <a:xfrm>
            <a:off x="4754880" y="2514600"/>
            <a:ext cx="457200" cy="320040"/>
          </a:xfrm>
          <a:prstGeom prst="rect">
            <a:avLst/>
          </a:prstGeom>
          <a:noFill/>
          <a:ln/>
        </p:spPr>
        <p:txBody>
          <a:bodyPr wrap="square" lIns="0" tIns="0" rIns="0" bIns="0" rtlCol="0" anchor="ctr"/>
          <a:lstStyle/>
          <a:p>
            <a:pPr marL="0" indent="0">
              <a:buNone/>
            </a:pPr>
            <a:r>
              <a:rPr lang="en-US" sz="1400" b="1" dirty="0">
                <a:solidFill>
                  <a:srgbClr val="C5A572"/>
                </a:solidFill>
                <a:latin typeface="Georgia" pitchFamily="34" charset="0"/>
                <a:ea typeface="Georgia" pitchFamily="34" charset="-122"/>
                <a:cs typeface="Georgia" pitchFamily="34" charset="-120"/>
              </a:rPr>
              <a:t>11</a:t>
            </a:r>
            <a:endParaRPr lang="en-US" sz="1400" dirty="0"/>
          </a:p>
        </p:txBody>
      </p:sp>
      <p:sp>
        <p:nvSpPr>
          <p:cNvPr id="26" name="Text 24"/>
          <p:cNvSpPr/>
          <p:nvPr/>
        </p:nvSpPr>
        <p:spPr>
          <a:xfrm>
            <a:off x="5257800" y="2514600"/>
            <a:ext cx="333756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Fonti e bibliografia</a:t>
            </a:r>
            <a:endParaRPr lang="en-US" sz="1300" dirty="0"/>
          </a:p>
        </p:txBody>
      </p:sp>
      <p:sp>
        <p:nvSpPr>
          <p:cNvPr id="27" name="Text 25"/>
          <p:cNvSpPr/>
          <p:nvPr/>
        </p:nvSpPr>
        <p:spPr>
          <a:xfrm>
            <a:off x="4754880" y="2926080"/>
            <a:ext cx="457200" cy="320040"/>
          </a:xfrm>
          <a:prstGeom prst="rect">
            <a:avLst/>
          </a:prstGeom>
          <a:noFill/>
          <a:ln/>
        </p:spPr>
        <p:txBody>
          <a:bodyPr wrap="square" lIns="0" tIns="0" rIns="0" bIns="0" rtlCol="0" anchor="ctr"/>
          <a:lstStyle/>
          <a:p>
            <a:pPr marL="0" indent="0">
              <a:buNone/>
            </a:pPr>
            <a:r>
              <a:rPr lang="en-US" sz="1400" b="1" dirty="0">
                <a:solidFill>
                  <a:srgbClr val="C5A572"/>
                </a:solidFill>
                <a:latin typeface="Georgia" pitchFamily="34" charset="0"/>
                <a:ea typeface="Georgia" pitchFamily="34" charset="-122"/>
                <a:cs typeface="Georgia" pitchFamily="34" charset="-120"/>
              </a:rPr>
              <a:t>12</a:t>
            </a:r>
            <a:endParaRPr lang="en-US" sz="1400" dirty="0"/>
          </a:p>
        </p:txBody>
      </p:sp>
      <p:sp>
        <p:nvSpPr>
          <p:cNvPr id="28" name="Text 26"/>
          <p:cNvSpPr/>
          <p:nvPr/>
        </p:nvSpPr>
        <p:spPr>
          <a:xfrm>
            <a:off x="5257800" y="2926080"/>
            <a:ext cx="333756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Conclusioni e sviluppi</a:t>
            </a:r>
            <a:endParaRPr lang="en-US" sz="1300" dirty="0"/>
          </a:p>
        </p:txBody>
      </p:sp>
      <p:sp>
        <p:nvSpPr>
          <p:cNvPr id="29" name="Text 27"/>
          <p:cNvSpPr/>
          <p:nvPr/>
        </p:nvSpPr>
        <p:spPr>
          <a:xfrm>
            <a:off x="4754880" y="3337560"/>
            <a:ext cx="457200" cy="320040"/>
          </a:xfrm>
          <a:prstGeom prst="rect">
            <a:avLst/>
          </a:prstGeom>
          <a:noFill/>
          <a:ln/>
        </p:spPr>
        <p:txBody>
          <a:bodyPr wrap="square" lIns="0" tIns="0" rIns="0" bIns="0" rtlCol="0" anchor="ctr"/>
          <a:lstStyle/>
          <a:p>
            <a:pPr marL="0" indent="0">
              <a:buNone/>
            </a:pPr>
            <a:r>
              <a:rPr lang="en-US" sz="1400" b="1" dirty="0">
                <a:solidFill>
                  <a:srgbClr val="C5A572"/>
                </a:solidFill>
                <a:latin typeface="Georgia" pitchFamily="34" charset="0"/>
                <a:ea typeface="Georgia" pitchFamily="34" charset="-122"/>
                <a:cs typeface="Georgia" pitchFamily="34" charset="-120"/>
              </a:rPr>
              <a:t>13</a:t>
            </a:r>
            <a:endParaRPr lang="en-US" sz="1400" dirty="0"/>
          </a:p>
        </p:txBody>
      </p:sp>
      <p:sp>
        <p:nvSpPr>
          <p:cNvPr id="30" name="Text 28"/>
          <p:cNvSpPr/>
          <p:nvPr/>
        </p:nvSpPr>
        <p:spPr>
          <a:xfrm>
            <a:off x="5257800" y="3337560"/>
            <a:ext cx="333756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Link al progetto</a:t>
            </a:r>
            <a:endParaRPr lang="en-US" sz="1300" dirty="0"/>
          </a:p>
        </p:txBody>
      </p:sp>
      <p:sp>
        <p:nvSpPr>
          <p:cNvPr id="31" name="Shape 29"/>
          <p:cNvSpPr/>
          <p:nvPr/>
        </p:nvSpPr>
        <p:spPr>
          <a:xfrm>
            <a:off x="457200" y="4800600"/>
            <a:ext cx="8229600" cy="0"/>
          </a:xfrm>
          <a:prstGeom prst="line">
            <a:avLst/>
          </a:prstGeom>
          <a:noFill/>
          <a:ln w="6350">
            <a:solidFill>
              <a:srgbClr val="C5A572"/>
            </a:solidFill>
            <a:prstDash val="solid"/>
          </a:ln>
        </p:spPr>
      </p:sp>
      <p:sp>
        <p:nvSpPr>
          <p:cNvPr id="32" name="Text 30"/>
          <p:cNvSpPr/>
          <p:nvPr/>
        </p:nvSpPr>
        <p:spPr>
          <a:xfrm>
            <a:off x="457200" y="4864608"/>
            <a:ext cx="6400800" cy="228600"/>
          </a:xfrm>
          <a:prstGeom prst="rect">
            <a:avLst/>
          </a:prstGeom>
          <a:noFill/>
          <a:ln/>
        </p:spPr>
        <p:txBody>
          <a:bodyPr wrap="square" rtlCol="0" anchor="ctr"/>
          <a:lstStyle/>
          <a:p>
            <a:pPr marL="0" indent="0">
              <a:buNone/>
            </a:pPr>
            <a:r>
              <a:rPr lang="en-US" sz="900" b="1" dirty="0">
                <a:solidFill>
                  <a:srgbClr val="B85042"/>
                </a:solidFill>
                <a:latin typeface="Calibri" pitchFamily="34" charset="0"/>
                <a:ea typeface="Calibri" pitchFamily="34" charset="-122"/>
                <a:cs typeface="Calibri" pitchFamily="34" charset="-120"/>
              </a:rPr>
              <a:t>Passeggiate Romane</a:t>
            </a:r>
            <a:r>
              <a:rPr lang="en-US" sz="900" dirty="0">
                <a:solidFill>
                  <a:srgbClr val="8A8A8A"/>
                </a:solidFill>
                <a:latin typeface="Calibri" pitchFamily="34" charset="0"/>
                <a:ea typeface="Calibri" pitchFamily="34" charset="-122"/>
                <a:cs typeface="Calibri" pitchFamily="34" charset="-120"/>
              </a:rPr>
              <a:t>  ·  </a:t>
            </a:r>
            <a:r>
              <a:rPr lang="en-US" sz="900" dirty="0" smtClean="0">
                <a:solidFill>
                  <a:srgbClr val="8A8A8A"/>
                </a:solidFill>
                <a:latin typeface="Calibri" pitchFamily="34" charset="0"/>
                <a:ea typeface="Calibri" pitchFamily="34" charset="-122"/>
                <a:cs typeface="Calibri" pitchFamily="34" charset="-120"/>
              </a:rPr>
              <a:t>Lorenzo Fagiani </a:t>
            </a:r>
            <a:r>
              <a:rPr lang="en-US" sz="900" dirty="0">
                <a:solidFill>
                  <a:srgbClr val="8A8A8A"/>
                </a:solidFill>
                <a:latin typeface="Calibri" pitchFamily="34" charset="0"/>
                <a:ea typeface="Calibri" pitchFamily="34" charset="-122"/>
                <a:cs typeface="Calibri" pitchFamily="34" charset="-120"/>
              </a:rPr>
              <a:t>· A.A. </a:t>
            </a:r>
            <a:r>
              <a:rPr lang="en-US" sz="900" dirty="0" smtClean="0">
                <a:solidFill>
                  <a:srgbClr val="8A8A8A"/>
                </a:solidFill>
                <a:latin typeface="Calibri" pitchFamily="34" charset="0"/>
                <a:ea typeface="Calibri" pitchFamily="34" charset="-122"/>
                <a:cs typeface="Calibri" pitchFamily="34" charset="-120"/>
              </a:rPr>
              <a:t>2025/2026</a:t>
            </a:r>
            <a:endParaRPr lang="en-US" sz="900" dirty="0"/>
          </a:p>
        </p:txBody>
      </p:sp>
      <p:sp>
        <p:nvSpPr>
          <p:cNvPr id="33" name="Text 31"/>
          <p:cNvSpPr/>
          <p:nvPr/>
        </p:nvSpPr>
        <p:spPr>
          <a:xfrm>
            <a:off x="8046720" y="4864608"/>
            <a:ext cx="640080" cy="22860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2"/>
        </a:solidFill>
        <a:effectLst/>
      </p:bgPr>
    </p:bg>
    <p:spTree>
      <p:nvGrpSpPr>
        <p:cNvPr id="1" name=""/>
        <p:cNvGrpSpPr/>
        <p:nvPr/>
      </p:nvGrpSpPr>
      <p:grpSpPr>
        <a:xfrm>
          <a:off x="0" y="0"/>
          <a:ext cx="0" cy="0"/>
          <a:chOff x="0" y="0"/>
          <a:chExt cx="0" cy="0"/>
        </a:xfrm>
      </p:grpSpPr>
      <p:sp>
        <p:nvSpPr>
          <p:cNvPr id="2" name="Text 0"/>
          <p:cNvSpPr/>
          <p:nvPr/>
        </p:nvSpPr>
        <p:spPr>
          <a:xfrm>
            <a:off x="457200" y="320040"/>
            <a:ext cx="1097280" cy="640080"/>
          </a:xfrm>
          <a:prstGeom prst="rect">
            <a:avLst/>
          </a:prstGeom>
          <a:noFill/>
          <a:ln/>
        </p:spPr>
        <p:txBody>
          <a:bodyPr wrap="square" lIns="0" tIns="0" rIns="0" bIns="0" rtlCol="0" anchor="ctr"/>
          <a:lstStyle/>
          <a:p>
            <a:pPr marL="0" indent="0">
              <a:buNone/>
            </a:pPr>
            <a:r>
              <a:rPr lang="en-US" sz="3200" b="1" dirty="0">
                <a:solidFill>
                  <a:srgbClr val="C5A572"/>
                </a:solidFill>
                <a:latin typeface="Georgia" pitchFamily="34" charset="0"/>
                <a:ea typeface="Georgia" pitchFamily="34" charset="-122"/>
                <a:cs typeface="Georgia" pitchFamily="34" charset="-120"/>
              </a:rPr>
              <a:t>01</a:t>
            </a:r>
            <a:endParaRPr lang="en-US" sz="3200" dirty="0"/>
          </a:p>
        </p:txBody>
      </p:sp>
      <p:sp>
        <p:nvSpPr>
          <p:cNvPr id="3" name="Text 1"/>
          <p:cNvSpPr/>
          <p:nvPr/>
        </p:nvSpPr>
        <p:spPr>
          <a:xfrm>
            <a:off x="1554480" y="320040"/>
            <a:ext cx="7132320" cy="640080"/>
          </a:xfrm>
          <a:prstGeom prst="rect">
            <a:avLst/>
          </a:prstGeom>
          <a:noFill/>
          <a:ln/>
        </p:spPr>
        <p:txBody>
          <a:bodyPr wrap="square" lIns="0" tIns="0" rIns="0" bIns="0" rtlCol="0" anchor="ctr"/>
          <a:lstStyle/>
          <a:p>
            <a:pPr marL="0" indent="0">
              <a:buNone/>
            </a:pPr>
            <a:r>
              <a:rPr lang="en-US" sz="2600" b="1" dirty="0">
                <a:solidFill>
                  <a:srgbClr val="2B2B2B"/>
                </a:solidFill>
                <a:latin typeface="Georgia" pitchFamily="34" charset="0"/>
                <a:ea typeface="Georgia" pitchFamily="34" charset="-122"/>
                <a:cs typeface="Georgia" pitchFamily="34" charset="-120"/>
              </a:rPr>
              <a:t>Il personaggio</a:t>
            </a:r>
            <a:endParaRPr lang="en-US" sz="2600" dirty="0"/>
          </a:p>
        </p:txBody>
      </p:sp>
      <p:sp>
        <p:nvSpPr>
          <p:cNvPr id="4" name="Shape 2"/>
          <p:cNvSpPr/>
          <p:nvPr/>
        </p:nvSpPr>
        <p:spPr>
          <a:xfrm>
            <a:off x="457200" y="1005840"/>
            <a:ext cx="2371286" cy="0"/>
          </a:xfrm>
          <a:prstGeom prst="line">
            <a:avLst/>
          </a:prstGeom>
          <a:noFill/>
          <a:ln w="25400">
            <a:solidFill>
              <a:srgbClr val="B85042"/>
            </a:solidFill>
            <a:prstDash val="solid"/>
          </a:ln>
        </p:spPr>
      </p:sp>
      <p:sp>
        <p:nvSpPr>
          <p:cNvPr id="7" name="Text 5"/>
          <p:cNvSpPr/>
          <p:nvPr/>
        </p:nvSpPr>
        <p:spPr>
          <a:xfrm>
            <a:off x="457200" y="4332848"/>
            <a:ext cx="3418449" cy="309489"/>
          </a:xfrm>
          <a:prstGeom prst="rect">
            <a:avLst/>
          </a:prstGeom>
          <a:noFill/>
          <a:ln/>
        </p:spPr>
        <p:txBody>
          <a:bodyPr wrap="square" lIns="0" tIns="0" rIns="0" bIns="0" rtlCol="0" anchor="ctr"/>
          <a:lstStyle/>
          <a:p>
            <a:r>
              <a:rPr lang="it-IT" sz="1200" i="1" dirty="0" smtClean="0"/>
              <a:t>Ritratto di Carlo Maderno (XVII secolo</a:t>
            </a:r>
            <a:r>
              <a:rPr lang="it-IT" sz="1200" i="1" dirty="0" smtClean="0"/>
              <a:t>)</a:t>
            </a:r>
          </a:p>
          <a:p>
            <a:r>
              <a:rPr lang="it-IT" sz="1200" i="1" dirty="0" smtClean="0"/>
              <a:t>F</a:t>
            </a:r>
            <a:r>
              <a:rPr lang="it-IT" sz="1200" i="1" dirty="0" smtClean="0"/>
              <a:t>onte</a:t>
            </a:r>
            <a:r>
              <a:rPr lang="it-IT" sz="1200" i="1" dirty="0" smtClean="0"/>
              <a:t>: Dizionario Storico della Svizzera (DSS</a:t>
            </a:r>
            <a:r>
              <a:rPr lang="it-IT" sz="1200" dirty="0" smtClean="0"/>
              <a:t>)</a:t>
            </a:r>
            <a:endParaRPr lang="en-US" sz="1200" dirty="0"/>
          </a:p>
        </p:txBody>
      </p:sp>
      <p:sp>
        <p:nvSpPr>
          <p:cNvPr id="8" name="Text 6"/>
          <p:cNvSpPr/>
          <p:nvPr/>
        </p:nvSpPr>
        <p:spPr>
          <a:xfrm>
            <a:off x="3657600" y="1280160"/>
            <a:ext cx="5029200" cy="457200"/>
          </a:xfrm>
          <a:prstGeom prst="rect">
            <a:avLst/>
          </a:prstGeom>
          <a:noFill/>
          <a:ln/>
        </p:spPr>
        <p:txBody>
          <a:bodyPr wrap="square" lIns="0" tIns="0" rIns="0" bIns="0" rtlCol="0" anchor="ctr"/>
          <a:lstStyle/>
          <a:p>
            <a:pPr marL="0" indent="0">
              <a:buNone/>
            </a:pPr>
            <a:r>
              <a:rPr lang="en-US" sz="2200" b="1" dirty="0" smtClean="0">
                <a:solidFill>
                  <a:srgbClr val="B85042"/>
                </a:solidFill>
                <a:latin typeface="Georgia" pitchFamily="34" charset="0"/>
                <a:ea typeface="Georgia" pitchFamily="34" charset="-122"/>
                <a:cs typeface="Georgia" pitchFamily="34" charset="-120"/>
              </a:rPr>
              <a:t>CARLO MADERNO</a:t>
            </a:r>
            <a:endParaRPr lang="en-US" sz="2200" dirty="0"/>
          </a:p>
        </p:txBody>
      </p:sp>
      <p:sp>
        <p:nvSpPr>
          <p:cNvPr id="9" name="Text 7"/>
          <p:cNvSpPr/>
          <p:nvPr/>
        </p:nvSpPr>
        <p:spPr>
          <a:xfrm>
            <a:off x="3657600" y="1737360"/>
            <a:ext cx="5029200" cy="274320"/>
          </a:xfrm>
          <a:prstGeom prst="rect">
            <a:avLst/>
          </a:prstGeom>
          <a:noFill/>
          <a:ln/>
        </p:spPr>
        <p:txBody>
          <a:bodyPr wrap="square" lIns="0" tIns="0" rIns="0" bIns="0" rtlCol="0" anchor="ctr"/>
          <a:lstStyle/>
          <a:p>
            <a:pPr marL="0" indent="0">
              <a:buNone/>
            </a:pPr>
            <a:r>
              <a:rPr lang="en-US" sz="1100" i="1" dirty="0" smtClean="0">
                <a:latin typeface="Calibri" pitchFamily="34" charset="0"/>
                <a:ea typeface="Calibri" pitchFamily="34" charset="-122"/>
                <a:cs typeface="Calibri" pitchFamily="34" charset="-120"/>
              </a:rPr>
              <a:t>1556-1629  </a:t>
            </a:r>
            <a:r>
              <a:rPr lang="en-US" sz="1100" i="1" dirty="0">
                <a:latin typeface="Calibri" pitchFamily="34" charset="0"/>
                <a:ea typeface="Calibri" pitchFamily="34" charset="-122"/>
                <a:cs typeface="Calibri" pitchFamily="34" charset="-120"/>
              </a:rPr>
              <a:t>·  </a:t>
            </a:r>
            <a:r>
              <a:rPr lang="en-US" sz="1100" i="1" dirty="0" smtClean="0">
                <a:latin typeface="Calibri" pitchFamily="34" charset="0"/>
                <a:ea typeface="Calibri" pitchFamily="34" charset="-122"/>
                <a:cs typeface="Calibri" pitchFamily="34" charset="-120"/>
              </a:rPr>
              <a:t>Architetto </a:t>
            </a:r>
            <a:r>
              <a:rPr lang="en-US" sz="1100" i="1" dirty="0">
                <a:latin typeface="Calibri" pitchFamily="34" charset="0"/>
                <a:ea typeface="Calibri" pitchFamily="34" charset="-122"/>
                <a:cs typeface="Calibri" pitchFamily="34" charset="-120"/>
              </a:rPr>
              <a:t>·  </a:t>
            </a:r>
            <a:r>
              <a:rPr lang="en-US" sz="1100" i="1" dirty="0" smtClean="0">
                <a:latin typeface="Calibri" pitchFamily="34" charset="0"/>
                <a:ea typeface="Calibri" pitchFamily="34" charset="-122"/>
                <a:cs typeface="Calibri" pitchFamily="34" charset="-120"/>
              </a:rPr>
              <a:t>Italiano</a:t>
            </a:r>
            <a:endParaRPr lang="en-US" sz="1100" dirty="0"/>
          </a:p>
        </p:txBody>
      </p:sp>
      <p:sp>
        <p:nvSpPr>
          <p:cNvPr id="10" name="Text 8"/>
          <p:cNvSpPr/>
          <p:nvPr/>
        </p:nvSpPr>
        <p:spPr>
          <a:xfrm>
            <a:off x="3559126" y="2011680"/>
            <a:ext cx="5127674" cy="1234440"/>
          </a:xfrm>
          <a:prstGeom prst="rect">
            <a:avLst/>
          </a:prstGeom>
          <a:noFill/>
          <a:ln/>
        </p:spPr>
        <p:txBody>
          <a:bodyPr wrap="square" lIns="91440" tIns="45720" rIns="91440" bIns="45720" rtlCol="0" anchor="t"/>
          <a:lstStyle/>
          <a:p>
            <a:r>
              <a:rPr lang="it-IT" sz="1000" i="1" dirty="0" smtClean="0"/>
              <a:t>Carlo Maderno (1556-1629) è considerato l'iniziatore del Barocco romano. Giunto nell'Urbe giovanissimo, si formò nei cantieri del tardo Cinquecento sotto la guida dello zio Domenico Fontana. La sua visione innovativa riuscì a superare la rigidità del Rinascimento maturo, introducendo un linguaggio architettonico fatto di grandiosità, dinamismo e monumentalità che ha cambiato radicalmente il volto sacro della Capitale. Come architetto di punta dei papi del primo Seicento, Maderno ha saputo gestire progetti di complessità titanica, dalla costruzione di palazzi cardinalizi all'estensione della navata e della facciata della Basilica di San Pietro. La sua eredità immortale è visibile oggi nelle cupole e nelle prospettive che definiscono l'identità barocca di Roma.</a:t>
            </a:r>
            <a:endParaRPr lang="en-US" sz="1000" i="1" dirty="0">
              <a:solidFill>
                <a:srgbClr val="2B2B2B"/>
              </a:solidFill>
              <a:ea typeface="Calibri" panose="020F0502020204030204"/>
              <a:cs typeface="Calibri" panose="020F0502020204030204"/>
            </a:endParaRPr>
          </a:p>
        </p:txBody>
      </p:sp>
      <p:sp>
        <p:nvSpPr>
          <p:cNvPr id="11" name="Shape 9"/>
          <p:cNvSpPr/>
          <p:nvPr/>
        </p:nvSpPr>
        <p:spPr>
          <a:xfrm>
            <a:off x="3657600" y="3520440"/>
            <a:ext cx="3108960" cy="320040"/>
          </a:xfrm>
          <a:prstGeom prst="rect">
            <a:avLst/>
          </a:prstGeom>
          <a:solidFill>
            <a:srgbClr val="B85042"/>
          </a:solidFill>
          <a:ln w="12700">
            <a:solidFill>
              <a:srgbClr val="B85042"/>
            </a:solidFill>
            <a:prstDash val="solid"/>
          </a:ln>
        </p:spPr>
      </p:sp>
      <p:sp>
        <p:nvSpPr>
          <p:cNvPr id="12" name="Text 10"/>
          <p:cNvSpPr/>
          <p:nvPr/>
        </p:nvSpPr>
        <p:spPr>
          <a:xfrm>
            <a:off x="3657600" y="3520440"/>
            <a:ext cx="3200400" cy="32004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CATEGORIA: </a:t>
            </a:r>
            <a:r>
              <a:rPr lang="en-US" sz="1100" b="1" kern="0" spc="200" dirty="0" smtClean="0">
                <a:solidFill>
                  <a:srgbClr val="FFFFFF"/>
                </a:solidFill>
                <a:latin typeface="Calibri" pitchFamily="34" charset="0"/>
                <a:ea typeface="Calibri" pitchFamily="34" charset="-122"/>
                <a:cs typeface="Calibri" pitchFamily="34" charset="-120"/>
              </a:rPr>
              <a:t>Architetti e Urbanisti</a:t>
            </a:r>
            <a:endParaRPr lang="en-US" sz="1100" dirty="0"/>
          </a:p>
        </p:txBody>
      </p:sp>
      <p:sp>
        <p:nvSpPr>
          <p:cNvPr id="13" name="Text 11"/>
          <p:cNvSpPr/>
          <p:nvPr/>
        </p:nvSpPr>
        <p:spPr>
          <a:xfrm>
            <a:off x="3657600" y="3909060"/>
            <a:ext cx="5029200" cy="228600"/>
          </a:xfrm>
          <a:prstGeom prst="rect">
            <a:avLst/>
          </a:prstGeom>
          <a:noFill/>
          <a:ln/>
        </p:spPr>
        <p:txBody>
          <a:bodyPr wrap="square" lIns="0" tIns="0" rIns="0" bIns="0" rtlCol="0" anchor="ctr"/>
          <a:lstStyle/>
          <a:p>
            <a:pPr marL="0" indent="0">
              <a:buNone/>
            </a:pPr>
            <a:r>
              <a:rPr lang="en-US" sz="1000" b="1" dirty="0">
                <a:latin typeface="Calibri" pitchFamily="34" charset="0"/>
                <a:ea typeface="Calibri" pitchFamily="34" charset="-122"/>
                <a:cs typeface="Calibri" pitchFamily="34" charset="-120"/>
              </a:rPr>
              <a:t>Opere principali correlate al percorso:</a:t>
            </a:r>
            <a:endParaRPr lang="en-US" sz="1000" dirty="0"/>
          </a:p>
        </p:txBody>
      </p:sp>
      <p:sp>
        <p:nvSpPr>
          <p:cNvPr id="14" name="Text 12"/>
          <p:cNvSpPr/>
          <p:nvPr/>
        </p:nvSpPr>
        <p:spPr>
          <a:xfrm>
            <a:off x="3657600" y="4137660"/>
            <a:ext cx="5029200" cy="594360"/>
          </a:xfrm>
          <a:prstGeom prst="rect">
            <a:avLst/>
          </a:prstGeom>
          <a:noFill/>
          <a:ln/>
        </p:spPr>
        <p:txBody>
          <a:bodyPr wrap="square" lIns="0" tIns="0" rIns="0" bIns="0" rtlCol="0" anchor="ctr"/>
          <a:lstStyle/>
          <a:p>
            <a:pPr marL="342900" indent="-342900">
              <a:buSzPct val="100000"/>
              <a:buChar char="•"/>
            </a:pPr>
            <a:r>
              <a:rPr lang="en-US" sz="1000" i="1" dirty="0" smtClean="0">
                <a:ea typeface="Calibri" pitchFamily="34" charset="-122"/>
                <a:cs typeface="Calibri" pitchFamily="34" charset="-120"/>
              </a:rPr>
              <a:t>Cortile di Palazzo Aldobrandini (Galleria Doria Pamphilj) — 1601-1605</a:t>
            </a:r>
            <a:endParaRPr lang="en-US" sz="1000" i="1" dirty="0" smtClean="0"/>
          </a:p>
          <a:p>
            <a:pPr marL="342900" indent="-342900">
              <a:buSzPct val="100000"/>
              <a:buChar char="•"/>
            </a:pPr>
            <a:r>
              <a:rPr lang="it-IT" sz="1000" i="1" dirty="0" smtClean="0"/>
              <a:t>Cupola di Sant'Andrea della Valle </a:t>
            </a:r>
            <a:r>
              <a:rPr lang="en-US" sz="1000" i="1" dirty="0" smtClean="0">
                <a:ea typeface="Calibri" pitchFamily="34" charset="-122"/>
                <a:cs typeface="Calibri" pitchFamily="34" charset="-120"/>
              </a:rPr>
              <a:t>— </a:t>
            </a:r>
            <a:r>
              <a:rPr lang="it-IT" sz="1000" i="1" dirty="0" smtClean="0"/>
              <a:t>1608-1623</a:t>
            </a:r>
            <a:endParaRPr lang="en-US" sz="1000" i="1" dirty="0" smtClean="0"/>
          </a:p>
          <a:p>
            <a:pPr marL="342900" indent="-342900">
              <a:buSzPct val="100000"/>
              <a:buChar char="•"/>
            </a:pPr>
            <a:r>
              <a:rPr lang="it-IT" sz="1000" i="1" dirty="0" smtClean="0"/>
              <a:t>Struttura della Chiesa di Sant'Ignazio di Loyola — 1626-1650</a:t>
            </a:r>
          </a:p>
          <a:p>
            <a:pPr marL="342900" indent="-342900">
              <a:buSzPct val="100000"/>
              <a:buChar char="•"/>
            </a:pPr>
            <a:r>
              <a:rPr lang="it-IT" sz="1000" i="1" dirty="0" smtClean="0"/>
              <a:t>Facciata e navata della Basilica di San Pietro — 1607-1614</a:t>
            </a:r>
            <a:endParaRPr lang="en-US" sz="1000" i="1" dirty="0"/>
          </a:p>
        </p:txBody>
      </p:sp>
      <p:sp>
        <p:nvSpPr>
          <p:cNvPr id="15" name="Shape 13"/>
          <p:cNvSpPr/>
          <p:nvPr/>
        </p:nvSpPr>
        <p:spPr>
          <a:xfrm>
            <a:off x="457200" y="4800600"/>
            <a:ext cx="8229600" cy="0"/>
          </a:xfrm>
          <a:prstGeom prst="line">
            <a:avLst/>
          </a:prstGeom>
          <a:noFill/>
          <a:ln w="6350">
            <a:solidFill>
              <a:srgbClr val="C5A572"/>
            </a:solidFill>
            <a:prstDash val="solid"/>
          </a:ln>
        </p:spPr>
      </p:sp>
      <p:sp>
        <p:nvSpPr>
          <p:cNvPr id="16" name="Text 14"/>
          <p:cNvSpPr/>
          <p:nvPr/>
        </p:nvSpPr>
        <p:spPr>
          <a:xfrm>
            <a:off x="457200" y="4864608"/>
            <a:ext cx="6400800" cy="228600"/>
          </a:xfrm>
          <a:prstGeom prst="rect">
            <a:avLst/>
          </a:prstGeom>
          <a:noFill/>
          <a:ln/>
        </p:spPr>
        <p:txBody>
          <a:bodyPr wrap="square" rtlCol="0" anchor="ctr"/>
          <a:lstStyle/>
          <a:p>
            <a:pPr marL="0" indent="0">
              <a:buNone/>
            </a:pPr>
            <a:r>
              <a:rPr lang="en-US" sz="900" b="1" dirty="0">
                <a:solidFill>
                  <a:srgbClr val="B85042"/>
                </a:solidFill>
                <a:latin typeface="Calibri" pitchFamily="34" charset="0"/>
                <a:ea typeface="Calibri" pitchFamily="34" charset="-122"/>
                <a:cs typeface="Calibri" pitchFamily="34" charset="-120"/>
              </a:rPr>
              <a:t>Passeggiate Romane</a:t>
            </a:r>
            <a:r>
              <a:rPr lang="en-US" sz="900" dirty="0">
                <a:solidFill>
                  <a:srgbClr val="8A8A8A"/>
                </a:solidFill>
                <a:latin typeface="Calibri" pitchFamily="34" charset="0"/>
                <a:ea typeface="Calibri" pitchFamily="34" charset="-122"/>
                <a:cs typeface="Calibri" pitchFamily="34" charset="-120"/>
              </a:rPr>
              <a:t>  ·  </a:t>
            </a:r>
            <a:r>
              <a:rPr lang="en-US" sz="900" dirty="0" smtClean="0">
                <a:solidFill>
                  <a:srgbClr val="8A8A8A"/>
                </a:solidFill>
                <a:latin typeface="Calibri" pitchFamily="34" charset="0"/>
                <a:ea typeface="Calibri" pitchFamily="34" charset="-122"/>
                <a:cs typeface="Calibri" pitchFamily="34" charset="-120"/>
              </a:rPr>
              <a:t>Lorenzo Fagiani </a:t>
            </a:r>
            <a:r>
              <a:rPr lang="en-US" sz="900" dirty="0">
                <a:solidFill>
                  <a:srgbClr val="8A8A8A"/>
                </a:solidFill>
                <a:latin typeface="Calibri" pitchFamily="34" charset="0"/>
                <a:ea typeface="Calibri" pitchFamily="34" charset="-122"/>
                <a:cs typeface="Calibri" pitchFamily="34" charset="-120"/>
              </a:rPr>
              <a:t>· A.A. </a:t>
            </a:r>
            <a:r>
              <a:rPr lang="en-US" sz="900" dirty="0" smtClean="0">
                <a:solidFill>
                  <a:srgbClr val="8A8A8A"/>
                </a:solidFill>
                <a:latin typeface="Calibri" pitchFamily="34" charset="0"/>
                <a:ea typeface="Calibri" pitchFamily="34" charset="-122"/>
                <a:cs typeface="Calibri" pitchFamily="34" charset="-120"/>
              </a:rPr>
              <a:t>2025/2026</a:t>
            </a:r>
            <a:endParaRPr lang="en-US" sz="900" dirty="0"/>
          </a:p>
        </p:txBody>
      </p:sp>
      <p:sp>
        <p:nvSpPr>
          <p:cNvPr id="17" name="Text 15"/>
          <p:cNvSpPr/>
          <p:nvPr/>
        </p:nvSpPr>
        <p:spPr>
          <a:xfrm>
            <a:off x="8046720" y="4864608"/>
            <a:ext cx="640080" cy="22860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3 / 14</a:t>
            </a:r>
            <a:endParaRPr lang="en-US" sz="900" dirty="0"/>
          </a:p>
        </p:txBody>
      </p:sp>
      <p:pic>
        <p:nvPicPr>
          <p:cNvPr id="18" name="Immagine 17" descr="maderno ritratto 1.jpeg"/>
          <p:cNvPicPr>
            <a:picLocks noChangeAspect="1"/>
          </p:cNvPicPr>
          <p:nvPr/>
        </p:nvPicPr>
        <p:blipFill>
          <a:blip r:embed="rId3"/>
          <a:stretch>
            <a:fillRect/>
          </a:stretch>
        </p:blipFill>
        <p:spPr>
          <a:xfrm>
            <a:off x="457200" y="1123591"/>
            <a:ext cx="2371286" cy="31037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2"/>
        </a:solidFill>
        <a:effectLst/>
      </p:bgPr>
    </p:bg>
    <p:spTree>
      <p:nvGrpSpPr>
        <p:cNvPr id="1" name=""/>
        <p:cNvGrpSpPr/>
        <p:nvPr/>
      </p:nvGrpSpPr>
      <p:grpSpPr>
        <a:xfrm>
          <a:off x="0" y="0"/>
          <a:ext cx="0" cy="0"/>
          <a:chOff x="0" y="0"/>
          <a:chExt cx="0" cy="0"/>
        </a:xfrm>
      </p:grpSpPr>
      <p:sp>
        <p:nvSpPr>
          <p:cNvPr id="2" name="Text 0"/>
          <p:cNvSpPr/>
          <p:nvPr/>
        </p:nvSpPr>
        <p:spPr>
          <a:xfrm>
            <a:off x="457200" y="320040"/>
            <a:ext cx="1097280" cy="640080"/>
          </a:xfrm>
          <a:prstGeom prst="rect">
            <a:avLst/>
          </a:prstGeom>
          <a:noFill/>
          <a:ln/>
        </p:spPr>
        <p:txBody>
          <a:bodyPr wrap="square" lIns="0" tIns="0" rIns="0" bIns="0" rtlCol="0" anchor="ctr"/>
          <a:lstStyle/>
          <a:p>
            <a:pPr marL="0" indent="0">
              <a:buNone/>
            </a:pPr>
            <a:r>
              <a:rPr lang="en-US" sz="3200" b="1" dirty="0">
                <a:solidFill>
                  <a:srgbClr val="C5A572"/>
                </a:solidFill>
                <a:latin typeface="Georgia" pitchFamily="34" charset="0"/>
                <a:ea typeface="Georgia" pitchFamily="34" charset="-122"/>
                <a:cs typeface="Georgia" pitchFamily="34" charset="-120"/>
              </a:rPr>
              <a:t>02</a:t>
            </a:r>
            <a:endParaRPr lang="en-US" sz="3200" dirty="0"/>
          </a:p>
        </p:txBody>
      </p:sp>
      <p:sp>
        <p:nvSpPr>
          <p:cNvPr id="3" name="Text 1"/>
          <p:cNvSpPr/>
          <p:nvPr/>
        </p:nvSpPr>
        <p:spPr>
          <a:xfrm>
            <a:off x="1554480" y="320040"/>
            <a:ext cx="7132320" cy="640080"/>
          </a:xfrm>
          <a:prstGeom prst="rect">
            <a:avLst/>
          </a:prstGeom>
          <a:noFill/>
          <a:ln/>
        </p:spPr>
        <p:txBody>
          <a:bodyPr wrap="square" lIns="0" tIns="0" rIns="0" bIns="0" rtlCol="0" anchor="ctr"/>
          <a:lstStyle/>
          <a:p>
            <a:pPr marL="0" indent="0">
              <a:buNone/>
            </a:pPr>
            <a:r>
              <a:rPr lang="en-US" sz="2600" b="1" dirty="0">
                <a:solidFill>
                  <a:srgbClr val="2B2B2B"/>
                </a:solidFill>
                <a:latin typeface="Georgia" pitchFamily="34" charset="0"/>
                <a:ea typeface="Georgia" pitchFamily="34" charset="-122"/>
                <a:cs typeface="Georgia" pitchFamily="34" charset="-120"/>
              </a:rPr>
              <a:t>Perché questo personaggio</a:t>
            </a:r>
            <a:endParaRPr lang="en-US" sz="2600" dirty="0"/>
          </a:p>
        </p:txBody>
      </p:sp>
      <p:sp>
        <p:nvSpPr>
          <p:cNvPr id="4" name="Shape 2"/>
          <p:cNvSpPr/>
          <p:nvPr/>
        </p:nvSpPr>
        <p:spPr>
          <a:xfrm>
            <a:off x="457200" y="1005840"/>
            <a:ext cx="4410222" cy="0"/>
          </a:xfrm>
          <a:prstGeom prst="line">
            <a:avLst/>
          </a:prstGeom>
          <a:noFill/>
          <a:ln w="25400">
            <a:solidFill>
              <a:srgbClr val="B85042"/>
            </a:solidFill>
            <a:prstDash val="solid"/>
          </a:ln>
        </p:spPr>
      </p:sp>
      <p:sp>
        <p:nvSpPr>
          <p:cNvPr id="5" name="Text 3"/>
          <p:cNvSpPr/>
          <p:nvPr/>
        </p:nvSpPr>
        <p:spPr>
          <a:xfrm>
            <a:off x="457200" y="1280160"/>
            <a:ext cx="4572000" cy="2560320"/>
          </a:xfrm>
          <a:prstGeom prst="rect">
            <a:avLst/>
          </a:prstGeom>
          <a:noFill/>
          <a:ln/>
        </p:spPr>
        <p:txBody>
          <a:bodyPr wrap="square" rtlCol="0" anchor="t"/>
          <a:lstStyle/>
          <a:p>
            <a:r>
              <a:rPr lang="it-IT" sz="1000" i="1" dirty="0" smtClean="0"/>
              <a:t>Carlo Maderno non è stato semplicemente un costruttore, ma il visionario che ha saputo traghettare Roma dal rigore del Rinascimento alla teatralità del Barocco. La scelta di questo personaggio nasce dalla volontà di esplorare il momento esatto in cui l'architettura cessa di essere una pura regola simmetrica per diventare emozione e dinamismo. Maderno incarna il coraggio intellettuale di chi, pur muovendosi tra le pesanti eredità di maestri come Michelangelo, ha saputo imporre una firma originale e monumentale. Attraverso i suoi occhi, Roma si trasforma in una scenografia continua: dalle cupole che sfidano le leggi della fisica fino alle facciate monumentali capaci di catturare la luce naturale per esaltare i volumi della pietra. Questo itinerario permette di capire come la sua arte si sia evoluta a contatto con la città. Partendo dai cortili dei palazzi nobiliari, dove inizia a spezzare le regole classiche, fino ad arrivare alle grandi chiese cittadine, Maderno ha letteralmente preparato lo spazio e i volumi per le future illusioni ottiche barocche. Scegliere lui significa scoprire l'uomo che ha avuto la responsabilità storica di completare la Basilica di San Pietro, unendo una tecnica ingegneristica impeccabile alla pura ricerca dello stupore.</a:t>
            </a:r>
            <a:endParaRPr lang="en-US" sz="1000" i="1" dirty="0"/>
          </a:p>
        </p:txBody>
      </p:sp>
      <p:sp>
        <p:nvSpPr>
          <p:cNvPr id="6" name="Shape 4"/>
          <p:cNvSpPr/>
          <p:nvPr/>
        </p:nvSpPr>
        <p:spPr>
          <a:xfrm>
            <a:off x="5303520" y="1280160"/>
            <a:ext cx="3383280" cy="2560320"/>
          </a:xfrm>
          <a:prstGeom prst="rect">
            <a:avLst/>
          </a:prstGeom>
          <a:solidFill>
            <a:srgbClr val="E7E8D1"/>
          </a:solidFill>
          <a:ln w="12700">
            <a:solidFill>
              <a:srgbClr val="C5A572"/>
            </a:solidFill>
            <a:prstDash val="solid"/>
          </a:ln>
        </p:spPr>
      </p:sp>
      <p:sp>
        <p:nvSpPr>
          <p:cNvPr id="7" name="Text 5"/>
          <p:cNvSpPr/>
          <p:nvPr/>
        </p:nvSpPr>
        <p:spPr>
          <a:xfrm>
            <a:off x="5486400" y="1417320"/>
            <a:ext cx="3017520" cy="274320"/>
          </a:xfrm>
          <a:prstGeom prst="rect">
            <a:avLst/>
          </a:prstGeom>
          <a:noFill/>
          <a:ln/>
        </p:spPr>
        <p:txBody>
          <a:bodyPr wrap="square" lIns="0" tIns="0" rIns="0" bIns="0" rtlCol="0" anchor="ctr"/>
          <a:lstStyle/>
          <a:p>
            <a:pPr marL="0" indent="0">
              <a:buNone/>
            </a:pPr>
            <a:r>
              <a:rPr lang="en-US" sz="1400" b="1" dirty="0">
                <a:solidFill>
                  <a:srgbClr val="B85042"/>
                </a:solidFill>
                <a:latin typeface="Georgia" pitchFamily="34" charset="0"/>
                <a:ea typeface="Georgia" pitchFamily="34" charset="-122"/>
                <a:cs typeface="Georgia" pitchFamily="34" charset="-120"/>
              </a:rPr>
              <a:t>Chiave di lettura</a:t>
            </a:r>
            <a:endParaRPr lang="en-US" sz="1400" dirty="0"/>
          </a:p>
        </p:txBody>
      </p:sp>
      <p:sp>
        <p:nvSpPr>
          <p:cNvPr id="8" name="Text 6"/>
          <p:cNvSpPr/>
          <p:nvPr/>
        </p:nvSpPr>
        <p:spPr>
          <a:xfrm>
            <a:off x="5486400" y="1737360"/>
            <a:ext cx="3017520" cy="365760"/>
          </a:xfrm>
          <a:prstGeom prst="rect">
            <a:avLst/>
          </a:prstGeom>
          <a:noFill/>
          <a:ln/>
        </p:spPr>
        <p:txBody>
          <a:bodyPr wrap="square" lIns="0" tIns="0" rIns="0" bIns="0" rtlCol="0" anchor="ctr"/>
          <a:lstStyle/>
          <a:p>
            <a:pPr marL="0" indent="0">
              <a:buNone/>
            </a:pPr>
            <a:endParaRPr lang="en-US" sz="1000" dirty="0"/>
          </a:p>
        </p:txBody>
      </p:sp>
      <p:sp>
        <p:nvSpPr>
          <p:cNvPr id="9" name="Text 7"/>
          <p:cNvSpPr/>
          <p:nvPr/>
        </p:nvSpPr>
        <p:spPr>
          <a:xfrm>
            <a:off x="5486400" y="2194560"/>
            <a:ext cx="3017520" cy="1371600"/>
          </a:xfrm>
          <a:prstGeom prst="rect">
            <a:avLst/>
          </a:prstGeom>
          <a:noFill/>
          <a:ln/>
        </p:spPr>
        <p:txBody>
          <a:bodyPr wrap="square" lIns="0" tIns="0" rIns="0" bIns="0" rtlCol="0" anchor="ctr"/>
          <a:lstStyle/>
          <a:p>
            <a:pPr marL="0" indent="0">
              <a:buNone/>
            </a:pPr>
            <a:r>
              <a:rPr lang="en-US" sz="1400" i="1" dirty="0" smtClean="0">
                <a:solidFill>
                  <a:srgbClr val="2B2B2B"/>
                </a:solidFill>
                <a:latin typeface="Georgia" pitchFamily="34" charset="0"/>
                <a:ea typeface="Georgia" pitchFamily="34" charset="-122"/>
                <a:cs typeface="Georgia" pitchFamily="34" charset="-120"/>
              </a:rPr>
              <a:t>“Dalla struttura all’emozione: l’eredità di Maderno nel trasformare  le chiese di Roma in grandiosi palcoscenici di luce.”</a:t>
            </a:r>
            <a:endParaRPr lang="en-US" sz="1400" dirty="0"/>
          </a:p>
        </p:txBody>
      </p:sp>
      <p:sp>
        <p:nvSpPr>
          <p:cNvPr id="10" name="Shape 8"/>
          <p:cNvSpPr/>
          <p:nvPr/>
        </p:nvSpPr>
        <p:spPr>
          <a:xfrm>
            <a:off x="457200" y="4800600"/>
            <a:ext cx="8229600" cy="0"/>
          </a:xfrm>
          <a:prstGeom prst="line">
            <a:avLst/>
          </a:prstGeom>
          <a:noFill/>
          <a:ln w="6350">
            <a:solidFill>
              <a:srgbClr val="C5A572"/>
            </a:solidFill>
            <a:prstDash val="solid"/>
          </a:ln>
        </p:spPr>
      </p:sp>
      <p:sp>
        <p:nvSpPr>
          <p:cNvPr id="11" name="Text 9"/>
          <p:cNvSpPr/>
          <p:nvPr/>
        </p:nvSpPr>
        <p:spPr>
          <a:xfrm>
            <a:off x="457200" y="4864608"/>
            <a:ext cx="6400800" cy="228600"/>
          </a:xfrm>
          <a:prstGeom prst="rect">
            <a:avLst/>
          </a:prstGeom>
          <a:noFill/>
          <a:ln/>
        </p:spPr>
        <p:txBody>
          <a:bodyPr wrap="square" rtlCol="0" anchor="ctr"/>
          <a:lstStyle/>
          <a:p>
            <a:pPr marL="0" indent="0">
              <a:buNone/>
            </a:pPr>
            <a:r>
              <a:rPr lang="en-US" sz="900" b="1" dirty="0">
                <a:solidFill>
                  <a:srgbClr val="B85042"/>
                </a:solidFill>
                <a:latin typeface="Calibri" pitchFamily="34" charset="0"/>
                <a:ea typeface="Calibri" pitchFamily="34" charset="-122"/>
                <a:cs typeface="Calibri" pitchFamily="34" charset="-120"/>
              </a:rPr>
              <a:t>Passeggiate Romane</a:t>
            </a:r>
            <a:r>
              <a:rPr lang="en-US" sz="900" dirty="0">
                <a:solidFill>
                  <a:srgbClr val="8A8A8A"/>
                </a:solidFill>
                <a:latin typeface="Calibri" pitchFamily="34" charset="0"/>
                <a:ea typeface="Calibri" pitchFamily="34" charset="-122"/>
                <a:cs typeface="Calibri" pitchFamily="34" charset="-120"/>
              </a:rPr>
              <a:t>  ·  </a:t>
            </a:r>
            <a:r>
              <a:rPr lang="en-US" sz="900" dirty="0" smtClean="0">
                <a:solidFill>
                  <a:srgbClr val="8A8A8A"/>
                </a:solidFill>
                <a:latin typeface="Calibri" pitchFamily="34" charset="0"/>
                <a:ea typeface="Calibri" pitchFamily="34" charset="-122"/>
                <a:cs typeface="Calibri" pitchFamily="34" charset="-120"/>
              </a:rPr>
              <a:t>Lorenzo Fagiani · </a:t>
            </a:r>
            <a:r>
              <a:rPr lang="en-US" sz="900" dirty="0">
                <a:solidFill>
                  <a:srgbClr val="8A8A8A"/>
                </a:solidFill>
                <a:latin typeface="Calibri" pitchFamily="34" charset="0"/>
                <a:ea typeface="Calibri" pitchFamily="34" charset="-122"/>
                <a:cs typeface="Calibri" pitchFamily="34" charset="-120"/>
              </a:rPr>
              <a:t>A.A. </a:t>
            </a:r>
            <a:r>
              <a:rPr lang="en-US" sz="900" dirty="0" smtClean="0">
                <a:solidFill>
                  <a:srgbClr val="8A8A8A"/>
                </a:solidFill>
                <a:latin typeface="Calibri" pitchFamily="34" charset="0"/>
                <a:ea typeface="Calibri" pitchFamily="34" charset="-122"/>
                <a:cs typeface="Calibri" pitchFamily="34" charset="-120"/>
              </a:rPr>
              <a:t>2025/2026</a:t>
            </a:r>
            <a:endParaRPr lang="en-US" sz="900" dirty="0"/>
          </a:p>
        </p:txBody>
      </p:sp>
      <p:sp>
        <p:nvSpPr>
          <p:cNvPr id="12" name="Text 10"/>
          <p:cNvSpPr/>
          <p:nvPr/>
        </p:nvSpPr>
        <p:spPr>
          <a:xfrm>
            <a:off x="8046720" y="4864608"/>
            <a:ext cx="640080" cy="22860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2"/>
        </a:solidFill>
        <a:effectLst/>
      </p:bgPr>
    </p:bg>
    <p:spTree>
      <p:nvGrpSpPr>
        <p:cNvPr id="1" name=""/>
        <p:cNvGrpSpPr/>
        <p:nvPr/>
      </p:nvGrpSpPr>
      <p:grpSpPr>
        <a:xfrm>
          <a:off x="0" y="0"/>
          <a:ext cx="0" cy="0"/>
          <a:chOff x="0" y="0"/>
          <a:chExt cx="0" cy="0"/>
        </a:xfrm>
      </p:grpSpPr>
      <p:sp>
        <p:nvSpPr>
          <p:cNvPr id="2" name="Text 0"/>
          <p:cNvSpPr/>
          <p:nvPr/>
        </p:nvSpPr>
        <p:spPr>
          <a:xfrm>
            <a:off x="457200" y="320040"/>
            <a:ext cx="1097280" cy="640080"/>
          </a:xfrm>
          <a:prstGeom prst="rect">
            <a:avLst/>
          </a:prstGeom>
          <a:noFill/>
          <a:ln/>
        </p:spPr>
        <p:txBody>
          <a:bodyPr wrap="square" lIns="0" tIns="0" rIns="0" bIns="0" rtlCol="0" anchor="ctr"/>
          <a:lstStyle/>
          <a:p>
            <a:pPr marL="0" indent="0">
              <a:buNone/>
            </a:pPr>
            <a:r>
              <a:rPr lang="en-US" sz="3200" b="1" dirty="0">
                <a:solidFill>
                  <a:srgbClr val="C5A572"/>
                </a:solidFill>
                <a:latin typeface="Georgia" pitchFamily="34" charset="0"/>
                <a:ea typeface="Georgia" pitchFamily="34" charset="-122"/>
                <a:cs typeface="Georgia" pitchFamily="34" charset="-120"/>
              </a:rPr>
              <a:t>03</a:t>
            </a:r>
            <a:endParaRPr lang="en-US" sz="3200" dirty="0"/>
          </a:p>
        </p:txBody>
      </p:sp>
      <p:sp>
        <p:nvSpPr>
          <p:cNvPr id="3" name="Text 1"/>
          <p:cNvSpPr/>
          <p:nvPr/>
        </p:nvSpPr>
        <p:spPr>
          <a:xfrm>
            <a:off x="1554480" y="320040"/>
            <a:ext cx="7132320" cy="640080"/>
          </a:xfrm>
          <a:prstGeom prst="rect">
            <a:avLst/>
          </a:prstGeom>
          <a:noFill/>
          <a:ln/>
        </p:spPr>
        <p:txBody>
          <a:bodyPr wrap="square" lIns="0" tIns="0" rIns="0" bIns="0" rtlCol="0" anchor="ctr"/>
          <a:lstStyle/>
          <a:p>
            <a:pPr marL="0" indent="0">
              <a:buNone/>
            </a:pPr>
            <a:r>
              <a:rPr lang="en-US" sz="2600" b="1" dirty="0">
                <a:solidFill>
                  <a:srgbClr val="2B2B2B"/>
                </a:solidFill>
                <a:latin typeface="Georgia" pitchFamily="34" charset="0"/>
                <a:ea typeface="Georgia" pitchFamily="34" charset="-122"/>
                <a:cs typeface="Georgia" pitchFamily="34" charset="-120"/>
              </a:rPr>
              <a:t>Concept della passeggiata</a:t>
            </a:r>
            <a:endParaRPr lang="en-US" sz="2600" dirty="0"/>
          </a:p>
        </p:txBody>
      </p:sp>
      <p:sp>
        <p:nvSpPr>
          <p:cNvPr id="4" name="Shape 2"/>
          <p:cNvSpPr/>
          <p:nvPr/>
        </p:nvSpPr>
        <p:spPr>
          <a:xfrm>
            <a:off x="457200" y="1005840"/>
            <a:ext cx="1828800" cy="0"/>
          </a:xfrm>
          <a:prstGeom prst="line">
            <a:avLst/>
          </a:prstGeom>
          <a:noFill/>
          <a:ln w="25400">
            <a:solidFill>
              <a:srgbClr val="B85042"/>
            </a:solidFill>
            <a:prstDash val="solid"/>
          </a:ln>
        </p:spPr>
      </p:sp>
      <p:sp>
        <p:nvSpPr>
          <p:cNvPr id="5" name="Shape 3"/>
          <p:cNvSpPr/>
          <p:nvPr/>
        </p:nvSpPr>
        <p:spPr>
          <a:xfrm>
            <a:off x="457200" y="1234440"/>
            <a:ext cx="3931920" cy="1005840"/>
          </a:xfrm>
          <a:prstGeom prst="rect">
            <a:avLst/>
          </a:prstGeom>
          <a:solidFill>
            <a:srgbClr val="FFFFFF"/>
          </a:solidFill>
          <a:ln w="12700">
            <a:solidFill>
              <a:srgbClr val="E7E8D1"/>
            </a:solidFill>
            <a:prstDash val="solid"/>
          </a:ln>
        </p:spPr>
      </p:sp>
      <p:sp>
        <p:nvSpPr>
          <p:cNvPr id="6" name="Shape 4"/>
          <p:cNvSpPr/>
          <p:nvPr/>
        </p:nvSpPr>
        <p:spPr>
          <a:xfrm>
            <a:off x="457200" y="1234440"/>
            <a:ext cx="73152" cy="1005840"/>
          </a:xfrm>
          <a:prstGeom prst="rect">
            <a:avLst/>
          </a:prstGeom>
          <a:solidFill>
            <a:srgbClr val="B85042"/>
          </a:solidFill>
          <a:ln w="12700">
            <a:solidFill>
              <a:srgbClr val="B85042"/>
            </a:solidFill>
            <a:prstDash val="solid"/>
          </a:ln>
        </p:spPr>
      </p:sp>
      <p:sp>
        <p:nvSpPr>
          <p:cNvPr id="7" name="Text 5"/>
          <p:cNvSpPr/>
          <p:nvPr/>
        </p:nvSpPr>
        <p:spPr>
          <a:xfrm>
            <a:off x="640080" y="1307592"/>
            <a:ext cx="3657600" cy="228600"/>
          </a:xfrm>
          <a:prstGeom prst="rect">
            <a:avLst/>
          </a:prstGeom>
          <a:noFill/>
          <a:ln/>
        </p:spPr>
        <p:txBody>
          <a:bodyPr wrap="square" lIns="0" tIns="0" rIns="0" bIns="0" rtlCol="0" anchor="ctr"/>
          <a:lstStyle/>
          <a:p>
            <a:pPr marL="0" indent="0">
              <a:buNone/>
            </a:pPr>
            <a:r>
              <a:rPr lang="en-US" sz="900" b="1" kern="0" spc="300" dirty="0">
                <a:solidFill>
                  <a:srgbClr val="C5A572"/>
                </a:solidFill>
                <a:latin typeface="Calibri" pitchFamily="34" charset="0"/>
                <a:ea typeface="Calibri" pitchFamily="34" charset="-122"/>
                <a:cs typeface="Calibri" pitchFamily="34" charset="-120"/>
              </a:rPr>
              <a:t>DURATA</a:t>
            </a:r>
            <a:endParaRPr lang="en-US" sz="900" dirty="0"/>
          </a:p>
        </p:txBody>
      </p:sp>
      <p:sp>
        <p:nvSpPr>
          <p:cNvPr id="8" name="Text 6"/>
          <p:cNvSpPr/>
          <p:nvPr/>
        </p:nvSpPr>
        <p:spPr>
          <a:xfrm>
            <a:off x="640080" y="1508760"/>
            <a:ext cx="3657600" cy="365760"/>
          </a:xfrm>
          <a:prstGeom prst="rect">
            <a:avLst/>
          </a:prstGeom>
          <a:noFill/>
          <a:ln/>
        </p:spPr>
        <p:txBody>
          <a:bodyPr wrap="square" lIns="0" tIns="0" rIns="0" bIns="0" rtlCol="0" anchor="ctr"/>
          <a:lstStyle/>
          <a:p>
            <a:pPr marL="0" indent="0">
              <a:buNone/>
            </a:pPr>
            <a:r>
              <a:rPr lang="en-US" sz="2000" b="1" dirty="0" smtClean="0">
                <a:solidFill>
                  <a:srgbClr val="2B2B2B"/>
                </a:solidFill>
                <a:latin typeface="Georgia" pitchFamily="34" charset="0"/>
                <a:ea typeface="Georgia" pitchFamily="34" charset="-122"/>
                <a:cs typeface="Georgia" pitchFamily="34" charset="-120"/>
              </a:rPr>
              <a:t>8 ore</a:t>
            </a:r>
            <a:endParaRPr lang="en-US" sz="2000" dirty="0"/>
          </a:p>
        </p:txBody>
      </p:sp>
      <p:sp>
        <p:nvSpPr>
          <p:cNvPr id="9" name="Text 7"/>
          <p:cNvSpPr/>
          <p:nvPr/>
        </p:nvSpPr>
        <p:spPr>
          <a:xfrm>
            <a:off x="640080" y="1892808"/>
            <a:ext cx="3657600" cy="274320"/>
          </a:xfrm>
          <a:prstGeom prst="rect">
            <a:avLst/>
          </a:prstGeom>
          <a:noFill/>
          <a:ln/>
        </p:spPr>
        <p:txBody>
          <a:bodyPr wrap="square" lIns="0" tIns="0" rIns="0" bIns="0" rtlCol="0" anchor="ctr"/>
          <a:lstStyle/>
          <a:p>
            <a:pPr marL="0" indent="0">
              <a:buNone/>
            </a:pPr>
            <a:r>
              <a:rPr lang="en-US" sz="1000" i="1" dirty="0" smtClean="0">
                <a:latin typeface="Calibri" pitchFamily="34" charset="0"/>
                <a:ea typeface="Calibri" pitchFamily="34" charset="-122"/>
                <a:cs typeface="Calibri" pitchFamily="34" charset="-120"/>
              </a:rPr>
              <a:t>Dalle 10:00 </a:t>
            </a:r>
            <a:r>
              <a:rPr lang="en-US" sz="1000" i="1" dirty="0">
                <a:latin typeface="Calibri" pitchFamily="34" charset="0"/>
                <a:ea typeface="Calibri" pitchFamily="34" charset="-122"/>
                <a:cs typeface="Calibri" pitchFamily="34" charset="-120"/>
              </a:rPr>
              <a:t>alle </a:t>
            </a:r>
            <a:r>
              <a:rPr lang="en-US" sz="1000" i="1" dirty="0" smtClean="0">
                <a:latin typeface="Calibri" pitchFamily="34" charset="0"/>
                <a:ea typeface="Calibri" pitchFamily="34" charset="-122"/>
                <a:cs typeface="Calibri" pitchFamily="34" charset="-120"/>
              </a:rPr>
              <a:t>18:00</a:t>
            </a:r>
            <a:endParaRPr lang="en-US" sz="1000" dirty="0"/>
          </a:p>
        </p:txBody>
      </p:sp>
      <p:sp>
        <p:nvSpPr>
          <p:cNvPr id="10" name="Shape 8"/>
          <p:cNvSpPr/>
          <p:nvPr/>
        </p:nvSpPr>
        <p:spPr>
          <a:xfrm>
            <a:off x="4663440" y="1234440"/>
            <a:ext cx="3931920" cy="1005840"/>
          </a:xfrm>
          <a:prstGeom prst="rect">
            <a:avLst/>
          </a:prstGeom>
          <a:solidFill>
            <a:srgbClr val="FFFFFF"/>
          </a:solidFill>
          <a:ln w="12700">
            <a:solidFill>
              <a:srgbClr val="E7E8D1"/>
            </a:solidFill>
            <a:prstDash val="solid"/>
          </a:ln>
        </p:spPr>
      </p:sp>
      <p:sp>
        <p:nvSpPr>
          <p:cNvPr id="11" name="Shape 9"/>
          <p:cNvSpPr/>
          <p:nvPr/>
        </p:nvSpPr>
        <p:spPr>
          <a:xfrm>
            <a:off x="4663440" y="1234440"/>
            <a:ext cx="73152" cy="1005840"/>
          </a:xfrm>
          <a:prstGeom prst="rect">
            <a:avLst/>
          </a:prstGeom>
          <a:solidFill>
            <a:srgbClr val="B85042"/>
          </a:solidFill>
          <a:ln w="12700">
            <a:solidFill>
              <a:srgbClr val="B85042"/>
            </a:solidFill>
            <a:prstDash val="solid"/>
          </a:ln>
        </p:spPr>
      </p:sp>
      <p:sp>
        <p:nvSpPr>
          <p:cNvPr id="12" name="Text 10"/>
          <p:cNvSpPr/>
          <p:nvPr/>
        </p:nvSpPr>
        <p:spPr>
          <a:xfrm>
            <a:off x="4846320" y="1307592"/>
            <a:ext cx="3657600" cy="228600"/>
          </a:xfrm>
          <a:prstGeom prst="rect">
            <a:avLst/>
          </a:prstGeom>
          <a:noFill/>
          <a:ln/>
        </p:spPr>
        <p:txBody>
          <a:bodyPr wrap="square" lIns="0" tIns="0" rIns="0" bIns="0" rtlCol="0" anchor="ctr"/>
          <a:lstStyle/>
          <a:p>
            <a:pPr marL="0" indent="0">
              <a:buNone/>
            </a:pPr>
            <a:r>
              <a:rPr lang="en-US" sz="900" b="1" kern="0" spc="300" dirty="0">
                <a:solidFill>
                  <a:srgbClr val="C5A572"/>
                </a:solidFill>
                <a:latin typeface="Calibri" pitchFamily="34" charset="0"/>
                <a:ea typeface="Calibri" pitchFamily="34" charset="-122"/>
                <a:cs typeface="Calibri" pitchFamily="34" charset="-120"/>
              </a:rPr>
              <a:t>DISTANZA</a:t>
            </a:r>
            <a:endParaRPr lang="en-US" sz="900" dirty="0"/>
          </a:p>
        </p:txBody>
      </p:sp>
      <p:sp>
        <p:nvSpPr>
          <p:cNvPr id="13" name="Text 11"/>
          <p:cNvSpPr/>
          <p:nvPr/>
        </p:nvSpPr>
        <p:spPr>
          <a:xfrm>
            <a:off x="4846320" y="1508760"/>
            <a:ext cx="3657600" cy="365760"/>
          </a:xfrm>
          <a:prstGeom prst="rect">
            <a:avLst/>
          </a:prstGeom>
          <a:noFill/>
          <a:ln/>
        </p:spPr>
        <p:txBody>
          <a:bodyPr wrap="square" lIns="0" tIns="0" rIns="0" bIns="0" rtlCol="0" anchor="ctr"/>
          <a:lstStyle/>
          <a:p>
            <a:pPr marL="0" indent="0">
              <a:buNone/>
            </a:pPr>
            <a:r>
              <a:rPr lang="en-US" sz="2000" b="1" dirty="0" smtClean="0">
                <a:solidFill>
                  <a:srgbClr val="2B2B2B"/>
                </a:solidFill>
                <a:latin typeface="Georgia" pitchFamily="34" charset="0"/>
                <a:ea typeface="Georgia" pitchFamily="34" charset="-122"/>
                <a:cs typeface="Georgia" pitchFamily="34" charset="-120"/>
              </a:rPr>
              <a:t>3.5 km</a:t>
            </a:r>
            <a:endParaRPr lang="en-US" sz="2000" dirty="0"/>
          </a:p>
        </p:txBody>
      </p:sp>
      <p:sp>
        <p:nvSpPr>
          <p:cNvPr id="14" name="Text 12"/>
          <p:cNvSpPr/>
          <p:nvPr/>
        </p:nvSpPr>
        <p:spPr>
          <a:xfrm>
            <a:off x="4846320" y="1892808"/>
            <a:ext cx="3657600" cy="274320"/>
          </a:xfrm>
          <a:prstGeom prst="rect">
            <a:avLst/>
          </a:prstGeom>
          <a:noFill/>
          <a:ln/>
        </p:spPr>
        <p:txBody>
          <a:bodyPr wrap="square" lIns="0" tIns="0" rIns="0" bIns="0" rtlCol="0" anchor="ctr"/>
          <a:lstStyle/>
          <a:p>
            <a:r>
              <a:rPr lang="it-IT" sz="1000" i="1" dirty="0" smtClean="0"/>
              <a:t>Percorso misto: tappe centrali a piedi e spostamento rapido in autobus (Linea 40/64) per raggiungere l’ultima tappa</a:t>
            </a:r>
            <a:endParaRPr lang="en-US" sz="1000" i="1" dirty="0"/>
          </a:p>
        </p:txBody>
      </p:sp>
      <p:sp>
        <p:nvSpPr>
          <p:cNvPr id="15" name="Shape 13"/>
          <p:cNvSpPr/>
          <p:nvPr/>
        </p:nvSpPr>
        <p:spPr>
          <a:xfrm>
            <a:off x="457200" y="2423160"/>
            <a:ext cx="3931920" cy="1005840"/>
          </a:xfrm>
          <a:prstGeom prst="rect">
            <a:avLst/>
          </a:prstGeom>
          <a:solidFill>
            <a:srgbClr val="FFFFFF"/>
          </a:solidFill>
          <a:ln w="12700">
            <a:solidFill>
              <a:srgbClr val="E7E8D1"/>
            </a:solidFill>
            <a:prstDash val="solid"/>
          </a:ln>
        </p:spPr>
      </p:sp>
      <p:sp>
        <p:nvSpPr>
          <p:cNvPr id="16" name="Shape 14"/>
          <p:cNvSpPr/>
          <p:nvPr/>
        </p:nvSpPr>
        <p:spPr>
          <a:xfrm>
            <a:off x="457200" y="2423160"/>
            <a:ext cx="73152" cy="1005840"/>
          </a:xfrm>
          <a:prstGeom prst="rect">
            <a:avLst/>
          </a:prstGeom>
          <a:solidFill>
            <a:srgbClr val="B85042"/>
          </a:solidFill>
          <a:ln w="12700">
            <a:solidFill>
              <a:srgbClr val="B85042"/>
            </a:solidFill>
            <a:prstDash val="solid"/>
          </a:ln>
        </p:spPr>
      </p:sp>
      <p:sp>
        <p:nvSpPr>
          <p:cNvPr id="17" name="Text 15"/>
          <p:cNvSpPr/>
          <p:nvPr/>
        </p:nvSpPr>
        <p:spPr>
          <a:xfrm>
            <a:off x="640080" y="2496312"/>
            <a:ext cx="3657600" cy="228600"/>
          </a:xfrm>
          <a:prstGeom prst="rect">
            <a:avLst/>
          </a:prstGeom>
          <a:noFill/>
          <a:ln/>
        </p:spPr>
        <p:txBody>
          <a:bodyPr wrap="square" lIns="0" tIns="0" rIns="0" bIns="0" rtlCol="0" anchor="ctr"/>
          <a:lstStyle/>
          <a:p>
            <a:pPr marL="0" indent="0">
              <a:buNone/>
            </a:pPr>
            <a:r>
              <a:rPr lang="en-US" sz="900" b="1" kern="0" spc="300" dirty="0">
                <a:solidFill>
                  <a:srgbClr val="C5A572"/>
                </a:solidFill>
                <a:latin typeface="Calibri" pitchFamily="34" charset="0"/>
                <a:ea typeface="Calibri" pitchFamily="34" charset="-122"/>
                <a:cs typeface="Calibri" pitchFamily="34" charset="-120"/>
              </a:rPr>
              <a:t>NUMERO TAPPE</a:t>
            </a:r>
            <a:endParaRPr lang="en-US" sz="900" dirty="0"/>
          </a:p>
        </p:txBody>
      </p:sp>
      <p:sp>
        <p:nvSpPr>
          <p:cNvPr id="18" name="Text 16"/>
          <p:cNvSpPr/>
          <p:nvPr/>
        </p:nvSpPr>
        <p:spPr>
          <a:xfrm>
            <a:off x="640080" y="2715768"/>
            <a:ext cx="3657600" cy="365760"/>
          </a:xfrm>
          <a:prstGeom prst="rect">
            <a:avLst/>
          </a:prstGeom>
          <a:noFill/>
          <a:ln/>
        </p:spPr>
        <p:txBody>
          <a:bodyPr wrap="square" lIns="0" tIns="0" rIns="0" bIns="0" rtlCol="0" anchor="ctr"/>
          <a:lstStyle/>
          <a:p>
            <a:pPr marL="0" indent="0">
              <a:buNone/>
            </a:pPr>
            <a:r>
              <a:rPr lang="en-US" sz="2000" b="1" dirty="0" smtClean="0">
                <a:solidFill>
                  <a:srgbClr val="2B2B2B"/>
                </a:solidFill>
                <a:latin typeface="Georgia" pitchFamily="34" charset="0"/>
                <a:ea typeface="Georgia" pitchFamily="34" charset="-122"/>
                <a:cs typeface="Georgia" pitchFamily="34" charset="-120"/>
              </a:rPr>
              <a:t>4</a:t>
            </a:r>
            <a:endParaRPr lang="en-US" sz="2000" dirty="0"/>
          </a:p>
        </p:txBody>
      </p:sp>
      <p:sp>
        <p:nvSpPr>
          <p:cNvPr id="19" name="Text 17"/>
          <p:cNvSpPr/>
          <p:nvPr/>
        </p:nvSpPr>
        <p:spPr>
          <a:xfrm>
            <a:off x="640080" y="3081528"/>
            <a:ext cx="3657600" cy="274320"/>
          </a:xfrm>
          <a:prstGeom prst="rect">
            <a:avLst/>
          </a:prstGeom>
          <a:noFill/>
          <a:ln/>
        </p:spPr>
        <p:txBody>
          <a:bodyPr wrap="square" lIns="0" tIns="0" rIns="0" bIns="0" rtlCol="0" anchor="ctr"/>
          <a:lstStyle/>
          <a:p>
            <a:r>
              <a:rPr lang="it-IT" sz="1000" i="1" dirty="0" smtClean="0"/>
              <a:t>Disposte secondo il movimento del sole sulle facciate</a:t>
            </a:r>
            <a:endParaRPr lang="en-US" sz="1000" i="1" dirty="0"/>
          </a:p>
        </p:txBody>
      </p:sp>
      <p:sp>
        <p:nvSpPr>
          <p:cNvPr id="20" name="Shape 18"/>
          <p:cNvSpPr/>
          <p:nvPr/>
        </p:nvSpPr>
        <p:spPr>
          <a:xfrm>
            <a:off x="4663440" y="2423160"/>
            <a:ext cx="3931920" cy="1005840"/>
          </a:xfrm>
          <a:prstGeom prst="rect">
            <a:avLst/>
          </a:prstGeom>
          <a:solidFill>
            <a:srgbClr val="FFFFFF"/>
          </a:solidFill>
          <a:ln w="12700">
            <a:solidFill>
              <a:srgbClr val="E7E8D1"/>
            </a:solidFill>
            <a:prstDash val="solid"/>
          </a:ln>
        </p:spPr>
      </p:sp>
      <p:sp>
        <p:nvSpPr>
          <p:cNvPr id="21" name="Shape 19"/>
          <p:cNvSpPr/>
          <p:nvPr/>
        </p:nvSpPr>
        <p:spPr>
          <a:xfrm>
            <a:off x="4663440" y="2423160"/>
            <a:ext cx="73152" cy="1005840"/>
          </a:xfrm>
          <a:prstGeom prst="rect">
            <a:avLst/>
          </a:prstGeom>
          <a:solidFill>
            <a:srgbClr val="B85042"/>
          </a:solidFill>
          <a:ln w="12700">
            <a:solidFill>
              <a:srgbClr val="B85042"/>
            </a:solidFill>
            <a:prstDash val="solid"/>
          </a:ln>
        </p:spPr>
      </p:sp>
      <p:sp>
        <p:nvSpPr>
          <p:cNvPr id="22" name="Text 20"/>
          <p:cNvSpPr/>
          <p:nvPr/>
        </p:nvSpPr>
        <p:spPr>
          <a:xfrm>
            <a:off x="4846320" y="2496312"/>
            <a:ext cx="3657600" cy="228600"/>
          </a:xfrm>
          <a:prstGeom prst="rect">
            <a:avLst/>
          </a:prstGeom>
          <a:noFill/>
          <a:ln/>
        </p:spPr>
        <p:txBody>
          <a:bodyPr wrap="square" lIns="0" tIns="0" rIns="0" bIns="0" rtlCol="0" anchor="ctr"/>
          <a:lstStyle/>
          <a:p>
            <a:pPr marL="0" indent="0">
              <a:buNone/>
            </a:pPr>
            <a:r>
              <a:rPr lang="en-US" sz="900" b="1" kern="0" spc="300" dirty="0">
                <a:solidFill>
                  <a:srgbClr val="C5A572"/>
                </a:solidFill>
                <a:latin typeface="Calibri" pitchFamily="34" charset="0"/>
                <a:ea typeface="Calibri" pitchFamily="34" charset="-122"/>
                <a:cs typeface="Calibri" pitchFamily="34" charset="-120"/>
              </a:rPr>
              <a:t>STAGIONE CONSIGLIATA</a:t>
            </a:r>
            <a:endParaRPr lang="en-US" sz="900" dirty="0"/>
          </a:p>
        </p:txBody>
      </p:sp>
      <p:sp>
        <p:nvSpPr>
          <p:cNvPr id="23" name="Text 21"/>
          <p:cNvSpPr/>
          <p:nvPr/>
        </p:nvSpPr>
        <p:spPr>
          <a:xfrm>
            <a:off x="4846320" y="2697480"/>
            <a:ext cx="3657600" cy="365760"/>
          </a:xfrm>
          <a:prstGeom prst="rect">
            <a:avLst/>
          </a:prstGeom>
          <a:noFill/>
          <a:ln/>
        </p:spPr>
        <p:txBody>
          <a:bodyPr wrap="square" lIns="0" tIns="0" rIns="0" bIns="0" rtlCol="0" anchor="ctr"/>
          <a:lstStyle/>
          <a:p>
            <a:pPr marL="0" indent="0">
              <a:buNone/>
            </a:pPr>
            <a:r>
              <a:rPr lang="en-US" sz="2000" b="1" dirty="0" smtClean="0">
                <a:solidFill>
                  <a:srgbClr val="2B2B2B"/>
                </a:solidFill>
                <a:latin typeface="Georgia" pitchFamily="34" charset="0"/>
                <a:ea typeface="Georgia" pitchFamily="34" charset="-122"/>
                <a:cs typeface="Georgia" pitchFamily="34" charset="-120"/>
              </a:rPr>
              <a:t>Primavera/Autunno</a:t>
            </a:r>
            <a:endParaRPr lang="en-US" sz="2000" dirty="0"/>
          </a:p>
        </p:txBody>
      </p:sp>
      <p:sp>
        <p:nvSpPr>
          <p:cNvPr id="24" name="Text 22"/>
          <p:cNvSpPr/>
          <p:nvPr/>
        </p:nvSpPr>
        <p:spPr>
          <a:xfrm>
            <a:off x="4846320" y="3081528"/>
            <a:ext cx="3840480" cy="274320"/>
          </a:xfrm>
          <a:prstGeom prst="rect">
            <a:avLst/>
          </a:prstGeom>
          <a:noFill/>
          <a:ln/>
        </p:spPr>
        <p:txBody>
          <a:bodyPr wrap="square" lIns="0" tIns="0" rIns="0" bIns="0" rtlCol="0" anchor="ctr"/>
          <a:lstStyle/>
          <a:p>
            <a:r>
              <a:rPr lang="it-IT" sz="1000" i="1" dirty="0" smtClean="0"/>
              <a:t>Ideale per osservare come la luce definisce i volumi barocchi e per gestire lo spostamento verso San Pietro prima della chiusura dei controlli.</a:t>
            </a:r>
            <a:endParaRPr lang="en-US" sz="1000" i="1" dirty="0"/>
          </a:p>
        </p:txBody>
      </p:sp>
      <p:sp>
        <p:nvSpPr>
          <p:cNvPr id="25" name="Text 23"/>
          <p:cNvSpPr/>
          <p:nvPr/>
        </p:nvSpPr>
        <p:spPr>
          <a:xfrm>
            <a:off x="457200" y="3749040"/>
            <a:ext cx="8229600" cy="914400"/>
          </a:xfrm>
          <a:prstGeom prst="rect">
            <a:avLst/>
          </a:prstGeom>
          <a:noFill/>
          <a:ln/>
        </p:spPr>
        <p:txBody>
          <a:bodyPr wrap="square" rtlCol="0" anchor="t"/>
          <a:lstStyle/>
          <a:p>
            <a:r>
              <a:rPr lang="it-IT" sz="1200" i="1" dirty="0" smtClean="0"/>
              <a:t>L'itinerario segue il filo rosso delle innovazioni strutturali con cui Maderno ha superato il rigore rinascimentale. L'esperienza si sviluppa in un crescendo di volumi e altezze: inizia nel silenzio dei palazzi di inizio Seicento e prosegue tra le audaci prospettive delle grandi cupole cittadine. Il culmine della giornata è il Vaticano, dove l'utente scopre l'eredità finale dell'architetto. È un percorso dinamico che trasforma la camminata urbana in un’analisi viva del momento in cui è nato il Barocco.</a:t>
            </a:r>
            <a:endParaRPr lang="en-US" sz="1200" i="1" dirty="0"/>
          </a:p>
        </p:txBody>
      </p:sp>
      <p:sp>
        <p:nvSpPr>
          <p:cNvPr id="26" name="Shape 24"/>
          <p:cNvSpPr/>
          <p:nvPr/>
        </p:nvSpPr>
        <p:spPr>
          <a:xfrm>
            <a:off x="457200" y="4800600"/>
            <a:ext cx="8229600" cy="0"/>
          </a:xfrm>
          <a:prstGeom prst="line">
            <a:avLst/>
          </a:prstGeom>
          <a:noFill/>
          <a:ln w="6350">
            <a:solidFill>
              <a:srgbClr val="C5A572"/>
            </a:solidFill>
            <a:prstDash val="solid"/>
          </a:ln>
        </p:spPr>
      </p:sp>
      <p:sp>
        <p:nvSpPr>
          <p:cNvPr id="27" name="Text 25"/>
          <p:cNvSpPr/>
          <p:nvPr/>
        </p:nvSpPr>
        <p:spPr>
          <a:xfrm>
            <a:off x="457200" y="4864608"/>
            <a:ext cx="6400800" cy="228600"/>
          </a:xfrm>
          <a:prstGeom prst="rect">
            <a:avLst/>
          </a:prstGeom>
          <a:noFill/>
          <a:ln/>
        </p:spPr>
        <p:txBody>
          <a:bodyPr wrap="square" rtlCol="0" anchor="ctr"/>
          <a:lstStyle/>
          <a:p>
            <a:pPr marL="0" indent="0">
              <a:buNone/>
            </a:pPr>
            <a:r>
              <a:rPr lang="en-US" sz="900" b="1" dirty="0">
                <a:solidFill>
                  <a:srgbClr val="B85042"/>
                </a:solidFill>
                <a:latin typeface="Calibri" pitchFamily="34" charset="0"/>
                <a:ea typeface="Calibri" pitchFamily="34" charset="-122"/>
                <a:cs typeface="Calibri" pitchFamily="34" charset="-120"/>
              </a:rPr>
              <a:t>Passeggiate Romane</a:t>
            </a:r>
            <a:r>
              <a:rPr lang="en-US" sz="900" dirty="0">
                <a:solidFill>
                  <a:srgbClr val="8A8A8A"/>
                </a:solidFill>
                <a:latin typeface="Calibri" pitchFamily="34" charset="0"/>
                <a:ea typeface="Calibri" pitchFamily="34" charset="-122"/>
                <a:cs typeface="Calibri" pitchFamily="34" charset="-120"/>
              </a:rPr>
              <a:t>  ·  </a:t>
            </a:r>
            <a:r>
              <a:rPr lang="en-US" sz="900" dirty="0" smtClean="0">
                <a:solidFill>
                  <a:srgbClr val="8A8A8A"/>
                </a:solidFill>
                <a:latin typeface="Calibri" pitchFamily="34" charset="0"/>
                <a:ea typeface="Calibri" pitchFamily="34" charset="-122"/>
                <a:cs typeface="Calibri" pitchFamily="34" charset="-120"/>
              </a:rPr>
              <a:t>Lorenzo Fagiani </a:t>
            </a:r>
            <a:r>
              <a:rPr lang="en-US" sz="900" dirty="0">
                <a:solidFill>
                  <a:srgbClr val="8A8A8A"/>
                </a:solidFill>
                <a:latin typeface="Calibri" pitchFamily="34" charset="0"/>
                <a:ea typeface="Calibri" pitchFamily="34" charset="-122"/>
                <a:cs typeface="Calibri" pitchFamily="34" charset="-120"/>
              </a:rPr>
              <a:t>· A.A. </a:t>
            </a:r>
            <a:r>
              <a:rPr lang="en-US" sz="900" dirty="0" smtClean="0">
                <a:solidFill>
                  <a:srgbClr val="8A8A8A"/>
                </a:solidFill>
                <a:latin typeface="Calibri" pitchFamily="34" charset="0"/>
                <a:ea typeface="Calibri" pitchFamily="34" charset="-122"/>
                <a:cs typeface="Calibri" pitchFamily="34" charset="-120"/>
              </a:rPr>
              <a:t>2025/2026</a:t>
            </a:r>
            <a:endParaRPr lang="en-US" sz="900" dirty="0"/>
          </a:p>
        </p:txBody>
      </p:sp>
      <p:sp>
        <p:nvSpPr>
          <p:cNvPr id="28" name="Text 26"/>
          <p:cNvSpPr/>
          <p:nvPr/>
        </p:nvSpPr>
        <p:spPr>
          <a:xfrm>
            <a:off x="8046720" y="4864608"/>
            <a:ext cx="640080" cy="22860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2"/>
        </a:solidFill>
        <a:effectLst/>
      </p:bgPr>
    </p:bg>
    <p:spTree>
      <p:nvGrpSpPr>
        <p:cNvPr id="1" name=""/>
        <p:cNvGrpSpPr/>
        <p:nvPr/>
      </p:nvGrpSpPr>
      <p:grpSpPr>
        <a:xfrm>
          <a:off x="0" y="0"/>
          <a:ext cx="0" cy="0"/>
          <a:chOff x="0" y="0"/>
          <a:chExt cx="0" cy="0"/>
        </a:xfrm>
      </p:grpSpPr>
      <p:sp>
        <p:nvSpPr>
          <p:cNvPr id="2" name="Text 0"/>
          <p:cNvSpPr/>
          <p:nvPr/>
        </p:nvSpPr>
        <p:spPr>
          <a:xfrm>
            <a:off x="457200" y="320040"/>
            <a:ext cx="1097280" cy="640080"/>
          </a:xfrm>
          <a:prstGeom prst="rect">
            <a:avLst/>
          </a:prstGeom>
          <a:noFill/>
          <a:ln/>
        </p:spPr>
        <p:txBody>
          <a:bodyPr wrap="square" lIns="0" tIns="0" rIns="0" bIns="0" rtlCol="0" anchor="ctr"/>
          <a:lstStyle/>
          <a:p>
            <a:pPr marL="0" indent="0">
              <a:buNone/>
            </a:pPr>
            <a:r>
              <a:rPr lang="en-US" sz="3200" b="1" dirty="0">
                <a:solidFill>
                  <a:srgbClr val="C5A572"/>
                </a:solidFill>
                <a:latin typeface="Georgia" pitchFamily="34" charset="0"/>
                <a:ea typeface="Georgia" pitchFamily="34" charset="-122"/>
                <a:cs typeface="Georgia" pitchFamily="34" charset="-120"/>
              </a:rPr>
              <a:t>04</a:t>
            </a:r>
            <a:endParaRPr lang="en-US" sz="3200" dirty="0"/>
          </a:p>
        </p:txBody>
      </p:sp>
      <p:sp>
        <p:nvSpPr>
          <p:cNvPr id="3" name="Text 1"/>
          <p:cNvSpPr/>
          <p:nvPr/>
        </p:nvSpPr>
        <p:spPr>
          <a:xfrm>
            <a:off x="1554480" y="320040"/>
            <a:ext cx="7132320" cy="640080"/>
          </a:xfrm>
          <a:prstGeom prst="rect">
            <a:avLst/>
          </a:prstGeom>
          <a:noFill/>
          <a:ln/>
        </p:spPr>
        <p:txBody>
          <a:bodyPr wrap="square" lIns="0" tIns="0" rIns="0" bIns="0" rtlCol="0" anchor="ctr"/>
          <a:lstStyle/>
          <a:p>
            <a:pPr marL="0" indent="0">
              <a:buNone/>
            </a:pPr>
            <a:r>
              <a:rPr lang="en-US" sz="2600" b="1" dirty="0">
                <a:solidFill>
                  <a:srgbClr val="2B2B2B"/>
                </a:solidFill>
                <a:latin typeface="Georgia" pitchFamily="34" charset="0"/>
                <a:ea typeface="Georgia" pitchFamily="34" charset="-122"/>
                <a:cs typeface="Georgia" pitchFamily="34" charset="-120"/>
              </a:rPr>
              <a:t>Il percorso sulla mappa</a:t>
            </a:r>
            <a:endParaRPr lang="en-US" sz="2600" dirty="0"/>
          </a:p>
        </p:txBody>
      </p:sp>
      <p:sp>
        <p:nvSpPr>
          <p:cNvPr id="4" name="Shape 2"/>
          <p:cNvSpPr/>
          <p:nvPr/>
        </p:nvSpPr>
        <p:spPr>
          <a:xfrm>
            <a:off x="160935" y="1132449"/>
            <a:ext cx="6697065" cy="0"/>
          </a:xfrm>
          <a:prstGeom prst="line">
            <a:avLst/>
          </a:prstGeom>
          <a:noFill/>
          <a:ln w="25400">
            <a:solidFill>
              <a:srgbClr val="B85042"/>
            </a:solidFill>
            <a:prstDash val="solid"/>
          </a:ln>
        </p:spPr>
      </p:sp>
      <p:sp>
        <p:nvSpPr>
          <p:cNvPr id="8" name="Text 6"/>
          <p:cNvSpPr/>
          <p:nvPr/>
        </p:nvSpPr>
        <p:spPr>
          <a:xfrm>
            <a:off x="6858000" y="1554480"/>
            <a:ext cx="2011680" cy="274320"/>
          </a:xfrm>
          <a:prstGeom prst="rect">
            <a:avLst/>
          </a:prstGeom>
          <a:noFill/>
          <a:ln/>
        </p:spPr>
        <p:txBody>
          <a:bodyPr wrap="square" lIns="0" tIns="0" rIns="0" bIns="0" rtlCol="0" anchor="ctr"/>
          <a:lstStyle/>
          <a:p>
            <a:pPr marL="0" indent="0">
              <a:buNone/>
            </a:pPr>
            <a:r>
              <a:rPr lang="en-US" sz="1400" b="1" dirty="0">
                <a:solidFill>
                  <a:srgbClr val="B85042"/>
                </a:solidFill>
                <a:latin typeface="Georgia" pitchFamily="34" charset="0"/>
                <a:ea typeface="Georgia" pitchFamily="34" charset="-122"/>
                <a:cs typeface="Georgia" pitchFamily="34" charset="-120"/>
              </a:rPr>
              <a:t>Legenda</a:t>
            </a:r>
            <a:endParaRPr lang="en-US" sz="1400" dirty="0"/>
          </a:p>
        </p:txBody>
      </p:sp>
      <p:sp>
        <p:nvSpPr>
          <p:cNvPr id="9" name="Text 7"/>
          <p:cNvSpPr/>
          <p:nvPr/>
        </p:nvSpPr>
        <p:spPr>
          <a:xfrm>
            <a:off x="6858000" y="1554480"/>
            <a:ext cx="2194560" cy="1371600"/>
          </a:xfrm>
          <a:prstGeom prst="rect">
            <a:avLst/>
          </a:prstGeom>
          <a:noFill/>
          <a:ln/>
        </p:spPr>
        <p:txBody>
          <a:bodyPr wrap="square" lIns="0" tIns="0" rIns="0" bIns="0" rtlCol="0" anchor="ctr"/>
          <a:lstStyle/>
          <a:p>
            <a:pPr>
              <a:spcAft>
                <a:spcPts val="400"/>
              </a:spcAft>
            </a:pPr>
            <a:endParaRPr lang="it-IT" sz="1100" dirty="0" smtClean="0"/>
          </a:p>
          <a:p>
            <a:pPr>
              <a:spcAft>
                <a:spcPts val="400"/>
              </a:spcAft>
            </a:pPr>
            <a:r>
              <a:rPr lang="it-IT" sz="1100" dirty="0" smtClean="0">
                <a:latin typeface="Emoji"/>
                <a:ea typeface="Segoe UI Emoji" pitchFamily="34" charset="0"/>
              </a:rPr>
              <a:t>☀</a:t>
            </a:r>
            <a:r>
              <a:rPr lang="it-IT" sz="1100" dirty="0" smtClean="0">
                <a:latin typeface="Segoe UI Emoji" pitchFamily="34" charset="0"/>
                <a:ea typeface="Segoe UI Emoji" pitchFamily="34" charset="0"/>
              </a:rPr>
              <a:t>🌤🌞 Tappa️</a:t>
            </a:r>
            <a:endParaRPr lang="en-US" sz="1100" dirty="0">
              <a:latin typeface="Segoe UI Emoji" pitchFamily="34" charset="0"/>
              <a:ea typeface="Segoe UI Emoji" pitchFamily="34" charset="0"/>
            </a:endParaRPr>
          </a:p>
          <a:p>
            <a:pPr>
              <a:spcAft>
                <a:spcPts val="400"/>
              </a:spcAft>
            </a:pPr>
            <a:r>
              <a:rPr lang="en-US" sz="1100" b="1" dirty="0">
                <a:solidFill>
                  <a:srgbClr val="C00000"/>
                </a:solidFill>
                <a:latin typeface="Calibri" pitchFamily="34" charset="0"/>
                <a:ea typeface="Calibri" pitchFamily="34" charset="-122"/>
                <a:cs typeface="Calibri" pitchFamily="34" charset="-120"/>
              </a:rPr>
              <a:t>— </a:t>
            </a:r>
            <a:r>
              <a:rPr lang="en-US" sz="1100" b="1" dirty="0" smtClean="0">
                <a:solidFill>
                  <a:srgbClr val="C00000"/>
                </a:solidFill>
                <a:latin typeface="Calibri" pitchFamily="34" charset="0"/>
                <a:ea typeface="Calibri" pitchFamily="34" charset="-122"/>
                <a:cs typeface="Calibri" pitchFamily="34" charset="-120"/>
              </a:rPr>
              <a:t>— — </a:t>
            </a:r>
            <a:r>
              <a:rPr lang="en-US" sz="1100" dirty="0" smtClean="0">
                <a:solidFill>
                  <a:srgbClr val="2B2B2B"/>
                </a:solidFill>
                <a:latin typeface="Calibri" pitchFamily="34" charset="0"/>
                <a:ea typeface="Calibri" pitchFamily="34" charset="-122"/>
                <a:cs typeface="Calibri" pitchFamily="34" charset="-120"/>
              </a:rPr>
              <a:t>Polyline </a:t>
            </a:r>
            <a:r>
              <a:rPr lang="en-US" sz="1100" dirty="0">
                <a:solidFill>
                  <a:srgbClr val="2B2B2B"/>
                </a:solidFill>
                <a:latin typeface="Calibri" pitchFamily="34" charset="0"/>
                <a:ea typeface="Calibri" pitchFamily="34" charset="-122"/>
                <a:cs typeface="Calibri" pitchFamily="34" charset="-120"/>
              </a:rPr>
              <a:t>del </a:t>
            </a:r>
            <a:r>
              <a:rPr lang="en-US" sz="1100" dirty="0" smtClean="0">
                <a:solidFill>
                  <a:srgbClr val="2B2B2B"/>
                </a:solidFill>
                <a:latin typeface="Calibri" pitchFamily="34" charset="0"/>
                <a:ea typeface="Calibri" pitchFamily="34" charset="-122"/>
                <a:cs typeface="Calibri" pitchFamily="34" charset="-120"/>
              </a:rPr>
              <a:t>percorso</a:t>
            </a:r>
            <a:endParaRPr lang="en-US" sz="1100" dirty="0"/>
          </a:p>
          <a:p>
            <a:pPr>
              <a:spcAft>
                <a:spcPts val="400"/>
              </a:spcAft>
            </a:pPr>
            <a:r>
              <a:rPr lang="en-US" sz="1100" smtClean="0">
                <a:solidFill>
                  <a:srgbClr val="2B2B2B"/>
                </a:solidFill>
                <a:latin typeface="Calibri" pitchFamily="34" charset="0"/>
                <a:ea typeface="Calibri" pitchFamily="34" charset="-122"/>
                <a:cs typeface="Calibri" pitchFamily="34" charset="-120"/>
              </a:rPr>
              <a:t>Partenza</a:t>
            </a:r>
            <a:r>
              <a:rPr lang="en-US" sz="1100" dirty="0" smtClean="0">
                <a:solidFill>
                  <a:srgbClr val="2B2B2B"/>
                </a:solidFill>
                <a:latin typeface="Calibri" pitchFamily="34" charset="0"/>
                <a:ea typeface="Calibri" pitchFamily="34" charset="-122"/>
                <a:cs typeface="Calibri" pitchFamily="34" charset="-120"/>
              </a:rPr>
              <a:t>: Galleria Doria Pamphilj</a:t>
            </a:r>
            <a:r>
              <a:rPr lang="it-IT" sz="1100" dirty="0" smtClean="0">
                <a:latin typeface="Emoji"/>
                <a:ea typeface="Segoe UI Emoji" pitchFamily="34" charset="0"/>
              </a:rPr>
              <a:t> ☀</a:t>
            </a:r>
            <a:endParaRPr lang="en-US" sz="1100" dirty="0"/>
          </a:p>
          <a:p>
            <a:pPr>
              <a:spcAft>
                <a:spcPts val="400"/>
              </a:spcAft>
            </a:pPr>
            <a:r>
              <a:rPr lang="en-US" sz="1100" dirty="0" smtClean="0">
                <a:solidFill>
                  <a:srgbClr val="2B2B2B"/>
                </a:solidFill>
                <a:latin typeface="Calibri" pitchFamily="34" charset="0"/>
                <a:ea typeface="Calibri" pitchFamily="34" charset="-122"/>
                <a:cs typeface="Calibri" pitchFamily="34" charset="-120"/>
              </a:rPr>
              <a:t>Arrivo: Basili</a:t>
            </a:r>
            <a:r>
              <a:rPr lang="en-US" sz="1100" dirty="0" smtClean="0">
                <a:solidFill>
                  <a:srgbClr val="2B2B2B"/>
                </a:solidFill>
                <a:latin typeface="Calibri" pitchFamily="34" charset="0"/>
                <a:ea typeface="Calibri" pitchFamily="34" charset="-122"/>
                <a:cs typeface="Calibri" pitchFamily="34" charset="-120"/>
              </a:rPr>
              <a:t>ca di San Pietro </a:t>
            </a:r>
            <a:r>
              <a:rPr lang="it-IT" sz="1100" dirty="0" smtClean="0">
                <a:latin typeface="Segoe UI Emoji" pitchFamily="34" charset="0"/>
                <a:ea typeface="Segoe UI Emoji" pitchFamily="34" charset="0"/>
              </a:rPr>
              <a:t>🌤</a:t>
            </a:r>
            <a:endParaRPr lang="en-US" sz="1100" dirty="0"/>
          </a:p>
        </p:txBody>
      </p:sp>
      <p:sp>
        <p:nvSpPr>
          <p:cNvPr id="10" name="Text 8"/>
          <p:cNvSpPr/>
          <p:nvPr/>
        </p:nvSpPr>
        <p:spPr>
          <a:xfrm>
            <a:off x="7040880" y="2926080"/>
            <a:ext cx="2011680" cy="1371600"/>
          </a:xfrm>
          <a:prstGeom prst="rect">
            <a:avLst/>
          </a:prstGeom>
          <a:noFill/>
          <a:ln/>
        </p:spPr>
        <p:txBody>
          <a:bodyPr wrap="square" lIns="0" tIns="0" rIns="0" bIns="0" rtlCol="0" anchor="ctr"/>
          <a:lstStyle/>
          <a:p>
            <a:pPr marL="0" indent="0">
              <a:spcAft>
                <a:spcPts val="300"/>
              </a:spcAft>
              <a:buNone/>
            </a:pPr>
            <a:r>
              <a:rPr lang="en-US" sz="900" i="1" dirty="0">
                <a:ea typeface="Calibri" pitchFamily="34" charset="-122"/>
                <a:cs typeface="Calibri" pitchFamily="34" charset="-120"/>
              </a:rPr>
              <a:t>Tile-layer usato: </a:t>
            </a:r>
            <a:r>
              <a:rPr lang="en-US" sz="900" i="1" dirty="0" smtClean="0">
                <a:ea typeface="Calibri" pitchFamily="34" charset="-122"/>
                <a:cs typeface="Calibri" pitchFamily="34" charset="-120"/>
              </a:rPr>
              <a:t>OpenStreetMap </a:t>
            </a:r>
            <a:endParaRPr lang="en-US" sz="900" dirty="0"/>
          </a:p>
          <a:p>
            <a:pPr>
              <a:spcAft>
                <a:spcPts val="300"/>
              </a:spcAft>
            </a:pPr>
            <a:r>
              <a:rPr lang="en-US" sz="900" i="1" dirty="0">
                <a:ea typeface="Calibri" pitchFamily="34" charset="-122"/>
                <a:cs typeface="Calibri" pitchFamily="34" charset="-120"/>
              </a:rPr>
              <a:t>Centro iniziale: </a:t>
            </a:r>
            <a:r>
              <a:rPr lang="it-IT" sz="900" dirty="0" smtClean="0"/>
              <a:t> [41.8986, 12.4768]</a:t>
            </a:r>
            <a:endParaRPr lang="en-US" sz="900" dirty="0"/>
          </a:p>
          <a:p>
            <a:pPr>
              <a:spcAft>
                <a:spcPts val="300"/>
              </a:spcAft>
            </a:pPr>
            <a:r>
              <a:rPr lang="en-US" sz="900" i="1" dirty="0">
                <a:ea typeface="Calibri" pitchFamily="34" charset="-122"/>
                <a:cs typeface="Calibri" pitchFamily="34" charset="-120"/>
              </a:rPr>
              <a:t>Zoom iniziale</a:t>
            </a:r>
            <a:r>
              <a:rPr lang="en-US" sz="900" i="1" dirty="0" smtClean="0">
                <a:ea typeface="Calibri" pitchFamily="34" charset="-122"/>
                <a:cs typeface="Calibri" pitchFamily="34" charset="-120"/>
              </a:rPr>
              <a:t>: </a:t>
            </a:r>
            <a:r>
              <a:rPr lang="it-IT" sz="900" dirty="0" smtClean="0"/>
              <a:t>14</a:t>
            </a:r>
            <a:endParaRPr lang="en-US" sz="900" dirty="0"/>
          </a:p>
        </p:txBody>
      </p:sp>
      <p:sp>
        <p:nvSpPr>
          <p:cNvPr id="11" name="Shape 9"/>
          <p:cNvSpPr/>
          <p:nvPr/>
        </p:nvSpPr>
        <p:spPr>
          <a:xfrm>
            <a:off x="457200" y="4800600"/>
            <a:ext cx="8229600" cy="0"/>
          </a:xfrm>
          <a:prstGeom prst="line">
            <a:avLst/>
          </a:prstGeom>
          <a:noFill/>
          <a:ln w="6350">
            <a:solidFill>
              <a:srgbClr val="C5A572"/>
            </a:solidFill>
            <a:prstDash val="solid"/>
          </a:ln>
        </p:spPr>
      </p:sp>
      <p:sp>
        <p:nvSpPr>
          <p:cNvPr id="12" name="Text 10"/>
          <p:cNvSpPr/>
          <p:nvPr/>
        </p:nvSpPr>
        <p:spPr>
          <a:xfrm>
            <a:off x="457200" y="4864608"/>
            <a:ext cx="6400800" cy="228600"/>
          </a:xfrm>
          <a:prstGeom prst="rect">
            <a:avLst/>
          </a:prstGeom>
          <a:noFill/>
          <a:ln/>
        </p:spPr>
        <p:txBody>
          <a:bodyPr wrap="square" rtlCol="0" anchor="ctr"/>
          <a:lstStyle/>
          <a:p>
            <a:pPr marL="0" indent="0">
              <a:buNone/>
            </a:pPr>
            <a:r>
              <a:rPr lang="en-US" sz="900" b="1" dirty="0">
                <a:solidFill>
                  <a:srgbClr val="B85042"/>
                </a:solidFill>
                <a:latin typeface="Calibri" pitchFamily="34" charset="0"/>
                <a:ea typeface="Calibri" pitchFamily="34" charset="-122"/>
                <a:cs typeface="Calibri" pitchFamily="34" charset="-120"/>
              </a:rPr>
              <a:t>Passeggiate Romane</a:t>
            </a:r>
            <a:r>
              <a:rPr lang="en-US" sz="900" dirty="0">
                <a:solidFill>
                  <a:srgbClr val="8A8A8A"/>
                </a:solidFill>
                <a:latin typeface="Calibri" pitchFamily="34" charset="0"/>
                <a:ea typeface="Calibri" pitchFamily="34" charset="-122"/>
                <a:cs typeface="Calibri" pitchFamily="34" charset="-120"/>
              </a:rPr>
              <a:t>  ·  </a:t>
            </a:r>
            <a:r>
              <a:rPr lang="en-US" sz="900" dirty="0" smtClean="0">
                <a:solidFill>
                  <a:srgbClr val="8A8A8A"/>
                </a:solidFill>
                <a:latin typeface="Calibri" pitchFamily="34" charset="0"/>
                <a:ea typeface="Calibri" pitchFamily="34" charset="-122"/>
                <a:cs typeface="Calibri" pitchFamily="34" charset="-120"/>
              </a:rPr>
              <a:t>Lorenzo Fagiani </a:t>
            </a:r>
            <a:r>
              <a:rPr lang="en-US" sz="900" dirty="0">
                <a:solidFill>
                  <a:srgbClr val="8A8A8A"/>
                </a:solidFill>
                <a:latin typeface="Calibri" pitchFamily="34" charset="0"/>
                <a:ea typeface="Calibri" pitchFamily="34" charset="-122"/>
                <a:cs typeface="Calibri" pitchFamily="34" charset="-120"/>
              </a:rPr>
              <a:t>· A.A. </a:t>
            </a:r>
            <a:r>
              <a:rPr lang="en-US" sz="900" dirty="0" smtClean="0">
                <a:solidFill>
                  <a:srgbClr val="8A8A8A"/>
                </a:solidFill>
                <a:latin typeface="Calibri" pitchFamily="34" charset="0"/>
                <a:ea typeface="Calibri" pitchFamily="34" charset="-122"/>
                <a:cs typeface="Calibri" pitchFamily="34" charset="-120"/>
              </a:rPr>
              <a:t>2025/2026</a:t>
            </a:r>
            <a:endParaRPr lang="en-US" sz="900" dirty="0"/>
          </a:p>
        </p:txBody>
      </p:sp>
      <p:sp>
        <p:nvSpPr>
          <p:cNvPr id="13" name="Text 11"/>
          <p:cNvSpPr/>
          <p:nvPr/>
        </p:nvSpPr>
        <p:spPr>
          <a:xfrm>
            <a:off x="8046720" y="4864608"/>
            <a:ext cx="640080" cy="22860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6 / 14</a:t>
            </a:r>
            <a:endParaRPr lang="en-US" sz="900" dirty="0"/>
          </a:p>
        </p:txBody>
      </p:sp>
      <p:pic>
        <p:nvPicPr>
          <p:cNvPr id="15" name="Immagine 14" descr="Screenshot slide 6 ppt turismo.png"/>
          <p:cNvPicPr>
            <a:picLocks noChangeAspect="1"/>
          </p:cNvPicPr>
          <p:nvPr/>
        </p:nvPicPr>
        <p:blipFill>
          <a:blip r:embed="rId3"/>
          <a:stretch>
            <a:fillRect/>
          </a:stretch>
        </p:blipFill>
        <p:spPr>
          <a:xfrm>
            <a:off x="160935" y="1554480"/>
            <a:ext cx="6596931" cy="243019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2"/>
        </a:solidFill>
        <a:effectLst/>
      </p:bgPr>
    </p:bg>
    <p:spTree>
      <p:nvGrpSpPr>
        <p:cNvPr id="1" name=""/>
        <p:cNvGrpSpPr/>
        <p:nvPr/>
      </p:nvGrpSpPr>
      <p:grpSpPr>
        <a:xfrm>
          <a:off x="0" y="0"/>
          <a:ext cx="0" cy="0"/>
          <a:chOff x="0" y="0"/>
          <a:chExt cx="0" cy="0"/>
        </a:xfrm>
      </p:grpSpPr>
      <p:sp>
        <p:nvSpPr>
          <p:cNvPr id="2" name="Text 0"/>
          <p:cNvSpPr/>
          <p:nvPr/>
        </p:nvSpPr>
        <p:spPr>
          <a:xfrm>
            <a:off x="457200" y="320040"/>
            <a:ext cx="1097280" cy="640080"/>
          </a:xfrm>
          <a:prstGeom prst="rect">
            <a:avLst/>
          </a:prstGeom>
          <a:noFill/>
          <a:ln/>
        </p:spPr>
        <p:txBody>
          <a:bodyPr wrap="square" lIns="0" tIns="0" rIns="0" bIns="0" rtlCol="0" anchor="ctr"/>
          <a:lstStyle/>
          <a:p>
            <a:pPr marL="0" indent="0">
              <a:buNone/>
            </a:pPr>
            <a:r>
              <a:rPr lang="en-US" sz="3200" b="1" dirty="0">
                <a:solidFill>
                  <a:srgbClr val="C5A572"/>
                </a:solidFill>
                <a:latin typeface="Georgia" pitchFamily="34" charset="0"/>
                <a:ea typeface="Georgia" pitchFamily="34" charset="-122"/>
                <a:cs typeface="Georgia" pitchFamily="34" charset="-120"/>
              </a:rPr>
              <a:t>05</a:t>
            </a:r>
            <a:endParaRPr lang="en-US" sz="3200" dirty="0"/>
          </a:p>
        </p:txBody>
      </p:sp>
      <p:sp>
        <p:nvSpPr>
          <p:cNvPr id="3" name="Text 1"/>
          <p:cNvSpPr/>
          <p:nvPr/>
        </p:nvSpPr>
        <p:spPr>
          <a:xfrm>
            <a:off x="1554480" y="320040"/>
            <a:ext cx="7132320" cy="640080"/>
          </a:xfrm>
          <a:prstGeom prst="rect">
            <a:avLst/>
          </a:prstGeom>
          <a:noFill/>
          <a:ln/>
        </p:spPr>
        <p:txBody>
          <a:bodyPr wrap="square" lIns="0" tIns="0" rIns="0" bIns="0" rtlCol="0" anchor="ctr"/>
          <a:lstStyle/>
          <a:p>
            <a:pPr marL="0" indent="0">
              <a:buNone/>
            </a:pPr>
            <a:r>
              <a:rPr lang="en-US" sz="2600" b="1" dirty="0">
                <a:solidFill>
                  <a:srgbClr val="2B2B2B"/>
                </a:solidFill>
                <a:latin typeface="Georgia" pitchFamily="34" charset="0"/>
                <a:ea typeface="Georgia" pitchFamily="34" charset="-122"/>
                <a:cs typeface="Georgia" pitchFamily="34" charset="-120"/>
              </a:rPr>
              <a:t>Le tappe (panoramica)</a:t>
            </a:r>
            <a:endParaRPr lang="en-US" sz="2600" dirty="0"/>
          </a:p>
        </p:txBody>
      </p:sp>
      <p:sp>
        <p:nvSpPr>
          <p:cNvPr id="4" name="Shape 2"/>
          <p:cNvSpPr/>
          <p:nvPr/>
        </p:nvSpPr>
        <p:spPr>
          <a:xfrm>
            <a:off x="457200" y="1005840"/>
            <a:ext cx="1828800" cy="0"/>
          </a:xfrm>
          <a:prstGeom prst="line">
            <a:avLst/>
          </a:prstGeom>
          <a:noFill/>
          <a:ln w="25400">
            <a:solidFill>
              <a:srgbClr val="B85042"/>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xmlns="" val="1579011935"/>
              </p:ext>
            </p:extLst>
          </p:nvPr>
        </p:nvGraphicFramePr>
        <p:xfrm>
          <a:off x="457200" y="1441939"/>
          <a:ext cx="8229600" cy="2159391"/>
        </p:xfrm>
        <a:graphic>
          <a:graphicData uri="http://schemas.openxmlformats.org/drawingml/2006/table">
            <a:tbl>
              <a:tblPr/>
              <a:tblGrid>
                <a:gridCol w="365760">
                  <a:extLst>
                    <a:ext uri="{9D8B030D-6E8A-4147-A177-3AD203B41FA5}">
                      <a16:colId xmlns:a16="http://schemas.microsoft.com/office/drawing/2014/main" xmlns="" val="20000"/>
                    </a:ext>
                  </a:extLst>
                </a:gridCol>
                <a:gridCol w="1554480">
                  <a:extLst>
                    <a:ext uri="{9D8B030D-6E8A-4147-A177-3AD203B41FA5}">
                      <a16:colId xmlns:a16="http://schemas.microsoft.com/office/drawing/2014/main" xmlns="" val="20001"/>
                    </a:ext>
                  </a:extLst>
                </a:gridCol>
                <a:gridCol w="822960">
                  <a:extLst>
                    <a:ext uri="{9D8B030D-6E8A-4147-A177-3AD203B41FA5}">
                      <a16:colId xmlns:a16="http://schemas.microsoft.com/office/drawing/2014/main" xmlns="" val="20002"/>
                    </a:ext>
                  </a:extLst>
                </a:gridCol>
                <a:gridCol w="1554480">
                  <a:extLst>
                    <a:ext uri="{9D8B030D-6E8A-4147-A177-3AD203B41FA5}">
                      <a16:colId xmlns:a16="http://schemas.microsoft.com/office/drawing/2014/main" xmlns="" val="20003"/>
                    </a:ext>
                  </a:extLst>
                </a:gridCol>
                <a:gridCol w="1463040">
                  <a:extLst>
                    <a:ext uri="{9D8B030D-6E8A-4147-A177-3AD203B41FA5}">
                      <a16:colId xmlns:a16="http://schemas.microsoft.com/office/drawing/2014/main" xmlns="" val="20004"/>
                    </a:ext>
                  </a:extLst>
                </a:gridCol>
                <a:gridCol w="2468880">
                  <a:extLst>
                    <a:ext uri="{9D8B030D-6E8A-4147-A177-3AD203B41FA5}">
                      <a16:colId xmlns:a16="http://schemas.microsoft.com/office/drawing/2014/main" xmlns="" val="20005"/>
                    </a:ext>
                  </a:extLst>
                </a:gridCol>
              </a:tblGrid>
              <a:tr h="574431">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solidFill>
                      <a:srgbClr val="B85042"/>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Tappa</a:t>
                      </a:r>
                      <a:endParaRPr lang="en-US" sz="1000" dirty="0">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solidFill>
                      <a:srgbClr val="B85042"/>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Orario</a:t>
                      </a:r>
                      <a:endParaRPr lang="en-US" sz="1000" dirty="0">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solidFill>
                      <a:srgbClr val="B85042"/>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Momento</a:t>
                      </a:r>
                      <a:endParaRPr lang="en-US" sz="1000" dirty="0">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solidFill>
                      <a:srgbClr val="B85042"/>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Emozione target</a:t>
                      </a:r>
                      <a:endParaRPr lang="en-US" sz="1000" dirty="0">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solidFill>
                      <a:srgbClr val="B85042"/>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Collegamento al personaggio</a:t>
                      </a:r>
                      <a:endParaRPr lang="en-US" sz="1000" dirty="0">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solidFill>
                      <a:srgbClr val="B85042"/>
                    </a:solidFill>
                  </a:tcPr>
                </a:tc>
                <a:extLst>
                  <a:ext uri="{0D108BD9-81ED-4DB2-BD59-A6C34878D82A}">
                    <a16:rowId xmlns:a16="http://schemas.microsoft.com/office/drawing/2014/main" xmlns="" val="10000"/>
                  </a:ext>
                </a:extLst>
              </a:tr>
              <a:tr h="384048">
                <a:tc>
                  <a:txBody>
                    <a:bodyPr/>
                    <a:lstStyle/>
                    <a:p>
                      <a:pPr marL="0" indent="0" algn="ctr">
                        <a:buNone/>
                      </a:pPr>
                      <a:r>
                        <a:rPr lang="en-US" sz="1000" b="1" dirty="0">
                          <a:solidFill>
                            <a:srgbClr val="C5A572"/>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buNone/>
                      </a:pPr>
                      <a:r>
                        <a:rPr lang="en-US" sz="1000" dirty="0" smtClean="0">
                          <a:solidFill>
                            <a:schemeClr val="tx1"/>
                          </a:solidFill>
                          <a:latin typeface="Calibri" pitchFamily="34" charset="0"/>
                          <a:ea typeface="Calibri" pitchFamily="34" charset="-122"/>
                          <a:cs typeface="Calibri" pitchFamily="34" charset="-120"/>
                        </a:rPr>
                        <a:t>Galleria</a:t>
                      </a:r>
                      <a:r>
                        <a:rPr lang="en-US" sz="1000" baseline="0" dirty="0" smtClean="0">
                          <a:solidFill>
                            <a:schemeClr val="tx1"/>
                          </a:solidFill>
                          <a:latin typeface="Calibri" pitchFamily="34" charset="0"/>
                          <a:ea typeface="Calibri" pitchFamily="34" charset="-122"/>
                          <a:cs typeface="Calibri" pitchFamily="34" charset="-120"/>
                        </a:rPr>
                        <a:t> Doria Pamphilj</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lgn="ctr">
                        <a:buNone/>
                      </a:pPr>
                      <a:r>
                        <a:rPr lang="en-US" sz="1000" dirty="0" smtClean="0">
                          <a:solidFill>
                            <a:schemeClr val="tx1"/>
                          </a:solidFill>
                          <a:latin typeface="Calibri" pitchFamily="34" charset="0"/>
                          <a:ea typeface="Calibri" pitchFamily="34" charset="-122"/>
                          <a:cs typeface="Calibri" pitchFamily="34" charset="-120"/>
                        </a:rPr>
                        <a:t>10:00</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lgn="ctr">
                        <a:buNone/>
                      </a:pPr>
                      <a:r>
                        <a:rPr lang="en-US" sz="1000" dirty="0" smtClean="0">
                          <a:solidFill>
                            <a:schemeClr val="tx1"/>
                          </a:solidFill>
                          <a:latin typeface="Calibri" pitchFamily="34" charset="0"/>
                          <a:ea typeface="Calibri" pitchFamily="34" charset="-122"/>
                          <a:cs typeface="Calibri" pitchFamily="34" charset="-120"/>
                        </a:rPr>
                        <a:t>Mattino</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buNone/>
                      </a:pPr>
                      <a:r>
                        <a:rPr lang="en-US" sz="1000" dirty="0" smtClean="0">
                          <a:solidFill>
                            <a:schemeClr val="tx1"/>
                          </a:solidFill>
                          <a:latin typeface="Calibri" pitchFamily="34" charset="0"/>
                          <a:ea typeface="Calibri" pitchFamily="34" charset="-122"/>
                          <a:cs typeface="Calibri" pitchFamily="34" charset="-120"/>
                        </a:rPr>
                        <a:t>Scoperta</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buNone/>
                      </a:pPr>
                      <a:r>
                        <a:rPr lang="it-IT" sz="1000" b="0" i="0" kern="1200" dirty="0" smtClean="0">
                          <a:solidFill>
                            <a:schemeClr val="tx1"/>
                          </a:solidFill>
                          <a:latin typeface="+mn-lt"/>
                          <a:ea typeface="+mn-ea"/>
                          <a:cs typeface="+mn-cs"/>
                        </a:rPr>
                        <a:t>Superamento dei canoni rinascimentali nel cortile.</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extLst>
                  <a:ext uri="{0D108BD9-81ED-4DB2-BD59-A6C34878D82A}">
                    <a16:rowId xmlns:a16="http://schemas.microsoft.com/office/drawing/2014/main" xmlns="" val="10001"/>
                  </a:ext>
                </a:extLst>
              </a:tr>
              <a:tr h="384048">
                <a:tc>
                  <a:txBody>
                    <a:bodyPr/>
                    <a:lstStyle/>
                    <a:p>
                      <a:pPr marL="0" indent="0" algn="ctr">
                        <a:buNone/>
                      </a:pPr>
                      <a:r>
                        <a:rPr lang="en-US" sz="1000" b="1" dirty="0">
                          <a:solidFill>
                            <a:srgbClr val="C5A572"/>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buNone/>
                      </a:pPr>
                      <a:r>
                        <a:rPr lang="en-US" sz="1000" dirty="0" smtClean="0">
                          <a:solidFill>
                            <a:schemeClr val="tx1"/>
                          </a:solidFill>
                          <a:latin typeface="Calibri" pitchFamily="34" charset="0"/>
                          <a:ea typeface="Calibri" pitchFamily="34" charset="-122"/>
                          <a:cs typeface="Calibri" pitchFamily="34" charset="-120"/>
                        </a:rPr>
                        <a:t>Basilica</a:t>
                      </a:r>
                      <a:r>
                        <a:rPr lang="en-US" sz="1000" baseline="0" dirty="0" smtClean="0">
                          <a:solidFill>
                            <a:schemeClr val="tx1"/>
                          </a:solidFill>
                          <a:latin typeface="Calibri" pitchFamily="34" charset="0"/>
                          <a:ea typeface="Calibri" pitchFamily="34" charset="-122"/>
                          <a:cs typeface="Calibri" pitchFamily="34" charset="-120"/>
                        </a:rPr>
                        <a:t> di Sant’Andrea della Valle</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lgn="ctr">
                        <a:buNone/>
                      </a:pPr>
                      <a:r>
                        <a:rPr lang="en-US" sz="1000" dirty="0" smtClean="0">
                          <a:solidFill>
                            <a:schemeClr val="tx1"/>
                          </a:solidFill>
                          <a:latin typeface="Calibri" pitchFamily="34" charset="0"/>
                          <a:ea typeface="Calibri" pitchFamily="34" charset="-122"/>
                          <a:cs typeface="Calibri" pitchFamily="34" charset="-120"/>
                        </a:rPr>
                        <a:t>11:30</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lgn="ctr">
                        <a:buNone/>
                      </a:pPr>
                      <a:r>
                        <a:rPr lang="en-US" sz="1000" dirty="0" smtClean="0">
                          <a:solidFill>
                            <a:schemeClr val="tx1"/>
                          </a:solidFill>
                          <a:latin typeface="Calibri" pitchFamily="34" charset="0"/>
                          <a:ea typeface="Calibri" pitchFamily="34" charset="-122"/>
                          <a:cs typeface="Calibri" pitchFamily="34" charset="-120"/>
                        </a:rPr>
                        <a:t>Mezzogiorno</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buNone/>
                      </a:pPr>
                      <a:r>
                        <a:rPr lang="it-IT" sz="1000" b="0" i="0" kern="1200" dirty="0" smtClean="0">
                          <a:solidFill>
                            <a:schemeClr val="tx1"/>
                          </a:solidFill>
                          <a:latin typeface="+mn-lt"/>
                          <a:ea typeface="+mn-ea"/>
                          <a:cs typeface="+mn-cs"/>
                        </a:rPr>
                        <a:t>Vertigine</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buNone/>
                      </a:pPr>
                      <a:r>
                        <a:rPr lang="it-IT" sz="1000" b="0" i="0" kern="1200" dirty="0" smtClean="0">
                          <a:solidFill>
                            <a:schemeClr val="tx1"/>
                          </a:solidFill>
                          <a:latin typeface="+mn-lt"/>
                          <a:ea typeface="+mn-ea"/>
                          <a:cs typeface="+mn-cs"/>
                        </a:rPr>
                        <a:t>La sfida strutturale della cupola che crea un fortissimo senso di verticalità.</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extLst>
                  <a:ext uri="{0D108BD9-81ED-4DB2-BD59-A6C34878D82A}">
                    <a16:rowId xmlns:a16="http://schemas.microsoft.com/office/drawing/2014/main" xmlns="" val="10002"/>
                  </a:ext>
                </a:extLst>
              </a:tr>
              <a:tr h="384048">
                <a:tc>
                  <a:txBody>
                    <a:bodyPr/>
                    <a:lstStyle/>
                    <a:p>
                      <a:pPr marL="0" indent="0" algn="ctr">
                        <a:buNone/>
                      </a:pPr>
                      <a:r>
                        <a:rPr lang="en-US" sz="1000" b="1" dirty="0">
                          <a:solidFill>
                            <a:srgbClr val="C5A572"/>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buNone/>
                      </a:pPr>
                      <a:r>
                        <a:rPr lang="en-US" sz="1000" dirty="0" smtClean="0">
                          <a:solidFill>
                            <a:schemeClr val="tx1"/>
                          </a:solidFill>
                          <a:latin typeface="Calibri" pitchFamily="34" charset="0"/>
                          <a:ea typeface="Calibri" pitchFamily="34" charset="-122"/>
                          <a:cs typeface="Calibri" pitchFamily="34" charset="-120"/>
                        </a:rPr>
                        <a:t>Chiesa</a:t>
                      </a:r>
                      <a:r>
                        <a:rPr lang="en-US" sz="1000" baseline="0" dirty="0" smtClean="0">
                          <a:solidFill>
                            <a:schemeClr val="tx1"/>
                          </a:solidFill>
                          <a:latin typeface="Calibri" pitchFamily="34" charset="0"/>
                          <a:ea typeface="Calibri" pitchFamily="34" charset="-122"/>
                          <a:cs typeface="Calibri" pitchFamily="34" charset="-120"/>
                        </a:rPr>
                        <a:t> di Sant’Ignazio di Loyola</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lgn="ctr">
                        <a:buNone/>
                      </a:pPr>
                      <a:r>
                        <a:rPr lang="en-US" sz="1000" dirty="0" smtClean="0">
                          <a:solidFill>
                            <a:schemeClr val="tx1"/>
                          </a:solidFill>
                          <a:latin typeface="Calibri" pitchFamily="34" charset="0"/>
                          <a:ea typeface="Calibri" pitchFamily="34" charset="-122"/>
                          <a:cs typeface="Calibri" pitchFamily="34" charset="-120"/>
                        </a:rPr>
                        <a:t>15:00</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lgn="ctr">
                        <a:buNone/>
                      </a:pPr>
                      <a:r>
                        <a:rPr lang="en-US" sz="1000" dirty="0" smtClean="0">
                          <a:solidFill>
                            <a:schemeClr val="tx1"/>
                          </a:solidFill>
                          <a:latin typeface="Calibri" charset="0"/>
                          <a:ea typeface="Calibri" charset="0"/>
                          <a:cs typeface="Calibri" charset="0"/>
                        </a:rPr>
                        <a:t>Pomeriggio</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buNone/>
                      </a:pPr>
                      <a:r>
                        <a:rPr lang="it-IT" sz="1000" b="0" i="0" kern="1200" dirty="0" smtClean="0">
                          <a:solidFill>
                            <a:schemeClr val="tx1"/>
                          </a:solidFill>
                          <a:latin typeface="+mn-lt"/>
                          <a:ea typeface="+mn-ea"/>
                          <a:cs typeface="+mn-cs"/>
                        </a:rPr>
                        <a:t>Illusione</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buNone/>
                      </a:pPr>
                      <a:r>
                        <a:rPr lang="it-IT" sz="1000" b="0" i="0" kern="1200" dirty="0" smtClean="0">
                          <a:solidFill>
                            <a:schemeClr val="tx1"/>
                          </a:solidFill>
                          <a:latin typeface="+mn-lt"/>
                          <a:ea typeface="+mn-ea"/>
                          <a:cs typeface="+mn-cs"/>
                        </a:rPr>
                        <a:t>La gestione dei volumi che prepara alle prospettive barocche.</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extLst>
                  <a:ext uri="{0D108BD9-81ED-4DB2-BD59-A6C34878D82A}">
                    <a16:rowId xmlns:a16="http://schemas.microsoft.com/office/drawing/2014/main" xmlns="" val="10003"/>
                  </a:ext>
                </a:extLst>
              </a:tr>
              <a:tr h="384048">
                <a:tc>
                  <a:txBody>
                    <a:bodyPr/>
                    <a:lstStyle/>
                    <a:p>
                      <a:pPr marL="0" indent="0" algn="ctr">
                        <a:buNone/>
                      </a:pPr>
                      <a:r>
                        <a:rPr lang="en-US" sz="1000" b="1" dirty="0">
                          <a:solidFill>
                            <a:srgbClr val="C5A572"/>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buNone/>
                      </a:pPr>
                      <a:r>
                        <a:rPr lang="en-US" sz="1000" dirty="0" smtClean="0">
                          <a:solidFill>
                            <a:schemeClr val="tx1"/>
                          </a:solidFill>
                          <a:latin typeface="Calibri" pitchFamily="34" charset="0"/>
                          <a:ea typeface="Calibri" pitchFamily="34" charset="-122"/>
                          <a:cs typeface="Calibri" pitchFamily="34" charset="-120"/>
                        </a:rPr>
                        <a:t>Basilica</a:t>
                      </a:r>
                      <a:r>
                        <a:rPr lang="en-US" sz="1000" baseline="0" dirty="0" smtClean="0">
                          <a:solidFill>
                            <a:schemeClr val="tx1"/>
                          </a:solidFill>
                          <a:latin typeface="Calibri" pitchFamily="34" charset="0"/>
                          <a:ea typeface="Calibri" pitchFamily="34" charset="-122"/>
                          <a:cs typeface="Calibri" pitchFamily="34" charset="-120"/>
                        </a:rPr>
                        <a:t> di San Pietro</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lgn="ctr">
                        <a:buNone/>
                      </a:pPr>
                      <a:r>
                        <a:rPr lang="en-US" sz="1000" dirty="0" smtClean="0">
                          <a:solidFill>
                            <a:schemeClr val="tx1"/>
                          </a:solidFill>
                          <a:latin typeface="Calibri" pitchFamily="34" charset="0"/>
                          <a:ea typeface="Calibri" pitchFamily="34" charset="-122"/>
                          <a:cs typeface="Calibri" pitchFamily="34" charset="-120"/>
                        </a:rPr>
                        <a:t>16:30</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lgn="ctr">
                        <a:buNone/>
                      </a:pPr>
                      <a:r>
                        <a:rPr lang="en-US" sz="1000" dirty="0" smtClean="0">
                          <a:solidFill>
                            <a:schemeClr val="tx1"/>
                          </a:solidFill>
                          <a:latin typeface="Calibri" pitchFamily="34" charset="0"/>
                          <a:ea typeface="Calibri" pitchFamily="34" charset="-122"/>
                          <a:cs typeface="Calibri" pitchFamily="34" charset="-120"/>
                        </a:rPr>
                        <a:t>Tramonto</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buNone/>
                      </a:pPr>
                      <a:r>
                        <a:rPr lang="en-US" sz="1000" dirty="0" smtClean="0">
                          <a:solidFill>
                            <a:schemeClr val="tx1"/>
                          </a:solidFill>
                          <a:latin typeface="+mn-lt"/>
                          <a:ea typeface="Calibri" pitchFamily="34" charset="-122"/>
                          <a:cs typeface="Calibri" pitchFamily="34" charset="-120"/>
                        </a:rPr>
                        <a:t>Trascendenza</a:t>
                      </a:r>
                      <a:endParaRPr lang="en-US" sz="1000" dirty="0">
                        <a:solidFill>
                          <a:schemeClr val="tx1"/>
                        </a:solidFill>
                        <a:latin typeface="+mn-lt"/>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tc>
                  <a:txBody>
                    <a:bodyPr/>
                    <a:lstStyle/>
                    <a:p>
                      <a:pPr marL="0" indent="0">
                        <a:buNone/>
                      </a:pPr>
                      <a:r>
                        <a:rPr lang="it-IT" sz="1000" b="0" i="0" kern="1200" dirty="0" smtClean="0">
                          <a:solidFill>
                            <a:schemeClr val="tx1"/>
                          </a:solidFill>
                          <a:latin typeface="+mn-lt"/>
                          <a:ea typeface="+mn-ea"/>
                          <a:cs typeface="+mn-cs"/>
                        </a:rPr>
                        <a:t>Il culmine del lavoro di Maderno: la facciata monumentale.</a:t>
                      </a:r>
                      <a:endParaRPr lang="en-US" sz="1000" dirty="0">
                        <a:solidFill>
                          <a:schemeClr val="tx1"/>
                        </a:solidFill>
                        <a:latin typeface="Calibri" charset="0"/>
                        <a:ea typeface="Calibri" charset="0"/>
                        <a:cs typeface="Calibri" charset="0"/>
                      </a:endParaRPr>
                    </a:p>
                  </a:txBody>
                  <a:tcPr anchor="ctr">
                    <a:lnL w="6350" cap="flat" cmpd="sng" algn="ctr">
                      <a:solidFill>
                        <a:srgbClr val="E7E8D1"/>
                      </a:solidFill>
                      <a:prstDash val="solid"/>
                      <a:round/>
                      <a:headEnd type="none" w="med" len="med"/>
                      <a:tailEnd type="none" w="med" len="med"/>
                    </a:lnL>
                    <a:lnR w="6350" cap="flat" cmpd="sng" algn="ctr">
                      <a:solidFill>
                        <a:srgbClr val="E7E8D1"/>
                      </a:solidFill>
                      <a:prstDash val="solid"/>
                      <a:round/>
                      <a:headEnd type="none" w="med" len="med"/>
                      <a:tailEnd type="none" w="med" len="med"/>
                    </a:lnR>
                    <a:lnT w="6350" cap="flat" cmpd="sng" algn="ctr">
                      <a:solidFill>
                        <a:srgbClr val="E7E8D1"/>
                      </a:solidFill>
                      <a:prstDash val="solid"/>
                      <a:round/>
                      <a:headEnd type="none" w="med" len="med"/>
                      <a:tailEnd type="none" w="med" len="med"/>
                    </a:lnT>
                    <a:lnB w="6350" cap="flat" cmpd="sng" algn="ctr">
                      <a:solidFill>
                        <a:srgbClr val="E7E8D1"/>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sp>
        <p:nvSpPr>
          <p:cNvPr id="7" name="Shape 4"/>
          <p:cNvSpPr/>
          <p:nvPr/>
        </p:nvSpPr>
        <p:spPr>
          <a:xfrm>
            <a:off x="457200" y="4800600"/>
            <a:ext cx="8229600" cy="0"/>
          </a:xfrm>
          <a:prstGeom prst="line">
            <a:avLst/>
          </a:prstGeom>
          <a:noFill/>
          <a:ln w="6350">
            <a:solidFill>
              <a:srgbClr val="C5A572"/>
            </a:solidFill>
            <a:prstDash val="solid"/>
          </a:ln>
        </p:spPr>
      </p:sp>
      <p:sp>
        <p:nvSpPr>
          <p:cNvPr id="5" name="Text 5"/>
          <p:cNvSpPr/>
          <p:nvPr/>
        </p:nvSpPr>
        <p:spPr>
          <a:xfrm>
            <a:off x="457200" y="4864608"/>
            <a:ext cx="6400800" cy="228600"/>
          </a:xfrm>
          <a:prstGeom prst="rect">
            <a:avLst/>
          </a:prstGeom>
          <a:noFill/>
          <a:ln/>
        </p:spPr>
        <p:txBody>
          <a:bodyPr wrap="square" rtlCol="0" anchor="ctr"/>
          <a:lstStyle/>
          <a:p>
            <a:pPr marL="0" indent="0">
              <a:buNone/>
            </a:pPr>
            <a:r>
              <a:rPr lang="en-US" sz="900" b="1" dirty="0">
                <a:solidFill>
                  <a:srgbClr val="B85042"/>
                </a:solidFill>
                <a:latin typeface="Calibri" pitchFamily="34" charset="0"/>
                <a:ea typeface="Calibri" pitchFamily="34" charset="-122"/>
                <a:cs typeface="Calibri" pitchFamily="34" charset="-120"/>
              </a:rPr>
              <a:t>Passeggiate Romane</a:t>
            </a:r>
            <a:r>
              <a:rPr lang="en-US" sz="900" dirty="0">
                <a:solidFill>
                  <a:srgbClr val="8A8A8A"/>
                </a:solidFill>
                <a:latin typeface="Calibri" pitchFamily="34" charset="0"/>
                <a:ea typeface="Calibri" pitchFamily="34" charset="-122"/>
                <a:cs typeface="Calibri" pitchFamily="34" charset="-120"/>
              </a:rPr>
              <a:t>  ·  </a:t>
            </a:r>
            <a:r>
              <a:rPr lang="en-US" sz="900" dirty="0" smtClean="0">
                <a:solidFill>
                  <a:srgbClr val="8A8A8A"/>
                </a:solidFill>
                <a:latin typeface="Calibri" pitchFamily="34" charset="0"/>
                <a:ea typeface="Calibri" pitchFamily="34" charset="-122"/>
                <a:cs typeface="Calibri" pitchFamily="34" charset="-120"/>
              </a:rPr>
              <a:t>Lorenzo Fagiani · </a:t>
            </a:r>
            <a:r>
              <a:rPr lang="en-US" sz="900" dirty="0">
                <a:solidFill>
                  <a:srgbClr val="8A8A8A"/>
                </a:solidFill>
                <a:latin typeface="Calibri" pitchFamily="34" charset="0"/>
                <a:ea typeface="Calibri" pitchFamily="34" charset="-122"/>
                <a:cs typeface="Calibri" pitchFamily="34" charset="-120"/>
              </a:rPr>
              <a:t>A.A. </a:t>
            </a:r>
            <a:r>
              <a:rPr lang="en-US" sz="900" dirty="0" smtClean="0">
                <a:solidFill>
                  <a:srgbClr val="8A8A8A"/>
                </a:solidFill>
                <a:latin typeface="Calibri" pitchFamily="34" charset="0"/>
                <a:ea typeface="Calibri" pitchFamily="34" charset="-122"/>
                <a:cs typeface="Calibri" pitchFamily="34" charset="-120"/>
              </a:rPr>
              <a:t>2025/2026</a:t>
            </a:r>
            <a:endParaRPr lang="en-US" sz="900" dirty="0"/>
          </a:p>
        </p:txBody>
      </p:sp>
      <p:sp>
        <p:nvSpPr>
          <p:cNvPr id="9" name="Text 6"/>
          <p:cNvSpPr/>
          <p:nvPr/>
        </p:nvSpPr>
        <p:spPr>
          <a:xfrm>
            <a:off x="8046720" y="4864608"/>
            <a:ext cx="640080" cy="22860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2"/>
        </a:solidFill>
        <a:effectLst/>
      </p:bgPr>
    </p:bg>
    <p:spTree>
      <p:nvGrpSpPr>
        <p:cNvPr id="1" name=""/>
        <p:cNvGrpSpPr/>
        <p:nvPr/>
      </p:nvGrpSpPr>
      <p:grpSpPr>
        <a:xfrm>
          <a:off x="0" y="0"/>
          <a:ext cx="0" cy="0"/>
          <a:chOff x="0" y="0"/>
          <a:chExt cx="0" cy="0"/>
        </a:xfrm>
      </p:grpSpPr>
      <p:sp>
        <p:nvSpPr>
          <p:cNvPr id="2" name="Text 0"/>
          <p:cNvSpPr/>
          <p:nvPr/>
        </p:nvSpPr>
        <p:spPr>
          <a:xfrm>
            <a:off x="457200" y="320040"/>
            <a:ext cx="1097280" cy="640080"/>
          </a:xfrm>
          <a:prstGeom prst="rect">
            <a:avLst/>
          </a:prstGeom>
          <a:noFill/>
          <a:ln/>
        </p:spPr>
        <p:txBody>
          <a:bodyPr wrap="square" lIns="0" tIns="0" rIns="0" bIns="0" rtlCol="0" anchor="ctr"/>
          <a:lstStyle/>
          <a:p>
            <a:pPr marL="0" indent="0">
              <a:buNone/>
            </a:pPr>
            <a:r>
              <a:rPr lang="en-US" sz="3200" b="1" dirty="0">
                <a:solidFill>
                  <a:srgbClr val="C5A572"/>
                </a:solidFill>
                <a:latin typeface="Georgia" pitchFamily="34" charset="0"/>
                <a:ea typeface="Georgia" pitchFamily="34" charset="-122"/>
                <a:cs typeface="Georgia" pitchFamily="34" charset="-120"/>
              </a:rPr>
              <a:t>06</a:t>
            </a:r>
            <a:endParaRPr lang="en-US" sz="3200" dirty="0"/>
          </a:p>
        </p:txBody>
      </p:sp>
      <p:sp>
        <p:nvSpPr>
          <p:cNvPr id="3" name="Text 1"/>
          <p:cNvSpPr/>
          <p:nvPr/>
        </p:nvSpPr>
        <p:spPr>
          <a:xfrm>
            <a:off x="1554480" y="320040"/>
            <a:ext cx="7132320" cy="640080"/>
          </a:xfrm>
          <a:prstGeom prst="rect">
            <a:avLst/>
          </a:prstGeom>
          <a:noFill/>
          <a:ln/>
        </p:spPr>
        <p:txBody>
          <a:bodyPr wrap="square" lIns="0" tIns="0" rIns="0" bIns="0" rtlCol="0" anchor="ctr"/>
          <a:lstStyle/>
          <a:p>
            <a:pPr marL="0" indent="0">
              <a:buNone/>
            </a:pPr>
            <a:r>
              <a:rPr lang="en-US" sz="2600" b="1" dirty="0">
                <a:solidFill>
                  <a:srgbClr val="2B2B2B"/>
                </a:solidFill>
                <a:latin typeface="Georgia" pitchFamily="34" charset="0"/>
                <a:ea typeface="Georgia" pitchFamily="34" charset="-122"/>
                <a:cs typeface="Georgia" pitchFamily="34" charset="-120"/>
              </a:rPr>
              <a:t>Approfondimento di una tappa</a:t>
            </a:r>
            <a:endParaRPr lang="en-US" sz="2600" dirty="0"/>
          </a:p>
        </p:txBody>
      </p:sp>
      <p:sp>
        <p:nvSpPr>
          <p:cNvPr id="4" name="Shape 2"/>
          <p:cNvSpPr/>
          <p:nvPr/>
        </p:nvSpPr>
        <p:spPr>
          <a:xfrm>
            <a:off x="457199" y="1005840"/>
            <a:ext cx="2848709" cy="0"/>
          </a:xfrm>
          <a:prstGeom prst="line">
            <a:avLst/>
          </a:prstGeom>
          <a:noFill/>
          <a:ln w="25400">
            <a:solidFill>
              <a:srgbClr val="B85042"/>
            </a:solidFill>
            <a:prstDash val="solid"/>
          </a:ln>
        </p:spPr>
      </p:sp>
      <p:sp>
        <p:nvSpPr>
          <p:cNvPr id="5" name="Text 3"/>
          <p:cNvSpPr/>
          <p:nvPr/>
        </p:nvSpPr>
        <p:spPr>
          <a:xfrm>
            <a:off x="457200" y="1097280"/>
            <a:ext cx="8229600" cy="365760"/>
          </a:xfrm>
          <a:prstGeom prst="rect">
            <a:avLst/>
          </a:prstGeom>
          <a:noFill/>
          <a:ln/>
        </p:spPr>
        <p:txBody>
          <a:bodyPr wrap="square" lIns="0" tIns="0" rIns="0" bIns="0" rtlCol="0" anchor="ctr"/>
          <a:lstStyle/>
          <a:p>
            <a:pPr marL="0" indent="0">
              <a:buNone/>
            </a:pPr>
            <a:r>
              <a:rPr lang="en-US" sz="1800" i="1" dirty="0" smtClean="0">
                <a:solidFill>
                  <a:srgbClr val="B85042"/>
                </a:solidFill>
                <a:latin typeface="Georgia" pitchFamily="34" charset="0"/>
                <a:ea typeface="Georgia" pitchFamily="34" charset="-122"/>
                <a:cs typeface="Georgia" pitchFamily="34" charset="-120"/>
              </a:rPr>
              <a:t>BASILICA DI SAN PIETRO</a:t>
            </a:r>
            <a:endParaRPr lang="en-US" sz="1800" dirty="0"/>
          </a:p>
        </p:txBody>
      </p:sp>
      <p:sp>
        <p:nvSpPr>
          <p:cNvPr id="6" name="Shape 4"/>
          <p:cNvSpPr/>
          <p:nvPr/>
        </p:nvSpPr>
        <p:spPr>
          <a:xfrm>
            <a:off x="457200" y="1600200"/>
            <a:ext cx="3931920" cy="1325880"/>
          </a:xfrm>
          <a:prstGeom prst="rect">
            <a:avLst/>
          </a:prstGeom>
          <a:solidFill>
            <a:srgbClr val="FFFFFF"/>
          </a:solidFill>
          <a:ln w="12700">
            <a:solidFill>
              <a:srgbClr val="E7E8D1"/>
            </a:solidFill>
            <a:prstDash val="solid"/>
          </a:ln>
        </p:spPr>
      </p:sp>
      <p:sp>
        <p:nvSpPr>
          <p:cNvPr id="7" name="Text 5"/>
          <p:cNvSpPr/>
          <p:nvPr/>
        </p:nvSpPr>
        <p:spPr>
          <a:xfrm>
            <a:off x="594360" y="1635369"/>
            <a:ext cx="457200" cy="457200"/>
          </a:xfrm>
          <a:prstGeom prst="rect">
            <a:avLst/>
          </a:prstGeom>
          <a:noFill/>
          <a:ln/>
        </p:spPr>
        <p:txBody>
          <a:bodyPr wrap="square" lIns="0" tIns="0" rIns="0" bIns="0" rtlCol="0" anchor="t"/>
          <a:lstStyle/>
          <a:p>
            <a:pPr marL="0" indent="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143000" y="1635369"/>
            <a:ext cx="3108960" cy="320040"/>
          </a:xfrm>
          <a:prstGeom prst="rect">
            <a:avLst/>
          </a:prstGeom>
          <a:noFill/>
          <a:ln/>
        </p:spPr>
        <p:txBody>
          <a:bodyPr wrap="square" lIns="0" tIns="0" rIns="0" bIns="0"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Musica</a:t>
            </a:r>
            <a:endParaRPr lang="en-US" sz="1400" dirty="0"/>
          </a:p>
        </p:txBody>
      </p:sp>
      <p:sp>
        <p:nvSpPr>
          <p:cNvPr id="9" name="Text 7"/>
          <p:cNvSpPr/>
          <p:nvPr/>
        </p:nvSpPr>
        <p:spPr>
          <a:xfrm>
            <a:off x="682283" y="2057400"/>
            <a:ext cx="3569677" cy="274320"/>
          </a:xfrm>
          <a:prstGeom prst="rect">
            <a:avLst/>
          </a:prstGeom>
          <a:noFill/>
          <a:ln/>
        </p:spPr>
        <p:txBody>
          <a:bodyPr wrap="square" lIns="0" tIns="0" rIns="0" bIns="0" rtlCol="0" anchor="ctr"/>
          <a:lstStyle/>
          <a:p>
            <a:pPr marL="0" indent="0">
              <a:buNone/>
            </a:pPr>
            <a:r>
              <a:rPr lang="en-US" sz="1000" i="1" dirty="0" smtClean="0">
                <a:solidFill>
                  <a:srgbClr val="B85042"/>
                </a:solidFill>
                <a:latin typeface="Calibri" pitchFamily="34" charset="0"/>
                <a:ea typeface="Calibri" pitchFamily="34" charset="-122"/>
                <a:cs typeface="Calibri" pitchFamily="34" charset="-120"/>
              </a:rPr>
              <a:t>Vespro Della Beata Vergine – Deus in Auditorium — Claudio Monteverdi</a:t>
            </a:r>
            <a:endParaRPr lang="en-US" sz="1000" dirty="0"/>
          </a:p>
        </p:txBody>
      </p:sp>
      <p:sp>
        <p:nvSpPr>
          <p:cNvPr id="10" name="Text 8"/>
          <p:cNvSpPr/>
          <p:nvPr/>
        </p:nvSpPr>
        <p:spPr>
          <a:xfrm>
            <a:off x="682283" y="2377440"/>
            <a:ext cx="3657600" cy="502920"/>
          </a:xfrm>
          <a:prstGeom prst="rect">
            <a:avLst/>
          </a:prstGeom>
          <a:noFill/>
          <a:ln/>
        </p:spPr>
        <p:txBody>
          <a:bodyPr wrap="square" lIns="0" tIns="0" rIns="0" bIns="0" rtlCol="0" anchor="ctr"/>
          <a:lstStyle/>
          <a:p>
            <a:r>
              <a:rPr lang="it-IT" sz="1000" i="1" dirty="0" smtClean="0"/>
              <a:t>L'apertura splendente dei Vespri del 1610 annuncia la grandezza divina, riflettendo perfettamente la potenza visiva della facciata di Maderno al primo impatto.</a:t>
            </a:r>
            <a:endParaRPr lang="en-US" sz="1000" i="1" dirty="0"/>
          </a:p>
        </p:txBody>
      </p:sp>
      <p:sp>
        <p:nvSpPr>
          <p:cNvPr id="11" name="Shape 9"/>
          <p:cNvSpPr/>
          <p:nvPr/>
        </p:nvSpPr>
        <p:spPr>
          <a:xfrm>
            <a:off x="4663440" y="1600200"/>
            <a:ext cx="3931920" cy="1325880"/>
          </a:xfrm>
          <a:prstGeom prst="rect">
            <a:avLst/>
          </a:prstGeom>
          <a:solidFill>
            <a:srgbClr val="FFFFFF"/>
          </a:solidFill>
          <a:ln w="12700">
            <a:solidFill>
              <a:srgbClr val="E7E8D1"/>
            </a:solidFill>
            <a:prstDash val="solid"/>
          </a:ln>
        </p:spPr>
      </p:sp>
      <p:sp>
        <p:nvSpPr>
          <p:cNvPr id="12" name="Text 10"/>
          <p:cNvSpPr/>
          <p:nvPr/>
        </p:nvSpPr>
        <p:spPr>
          <a:xfrm>
            <a:off x="4800600" y="1600200"/>
            <a:ext cx="457200" cy="457200"/>
          </a:xfrm>
          <a:prstGeom prst="rect">
            <a:avLst/>
          </a:prstGeom>
          <a:noFill/>
          <a:ln/>
        </p:spPr>
        <p:txBody>
          <a:bodyPr wrap="square" lIns="0" tIns="0" rIns="0" bIns="0" rtlCol="0" anchor="t"/>
          <a:lstStyle/>
          <a:p>
            <a:pPr marL="0" indent="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3" name="Text 11"/>
          <p:cNvSpPr/>
          <p:nvPr/>
        </p:nvSpPr>
        <p:spPr>
          <a:xfrm>
            <a:off x="5349240" y="1635369"/>
            <a:ext cx="3108960" cy="320040"/>
          </a:xfrm>
          <a:prstGeom prst="rect">
            <a:avLst/>
          </a:prstGeom>
          <a:noFill/>
          <a:ln/>
        </p:spPr>
        <p:txBody>
          <a:bodyPr wrap="square" lIns="0" tIns="0" rIns="0" bIns="0"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Letteratura</a:t>
            </a:r>
            <a:endParaRPr lang="en-US" sz="1400" dirty="0"/>
          </a:p>
        </p:txBody>
      </p:sp>
      <p:sp>
        <p:nvSpPr>
          <p:cNvPr id="14" name="Text 12"/>
          <p:cNvSpPr/>
          <p:nvPr/>
        </p:nvSpPr>
        <p:spPr>
          <a:xfrm>
            <a:off x="4800600" y="1955409"/>
            <a:ext cx="3657600" cy="548639"/>
          </a:xfrm>
          <a:prstGeom prst="rect">
            <a:avLst/>
          </a:prstGeom>
          <a:noFill/>
          <a:ln/>
        </p:spPr>
        <p:txBody>
          <a:bodyPr wrap="square" lIns="0" tIns="0" rIns="0" bIns="0" rtlCol="0" anchor="ctr"/>
          <a:lstStyle/>
          <a:p>
            <a:r>
              <a:rPr lang="en-US" sz="1000" i="1" dirty="0" smtClean="0">
                <a:solidFill>
                  <a:srgbClr val="B85042"/>
                </a:solidFill>
                <a:latin typeface="Calibri" pitchFamily="34" charset="0"/>
                <a:ea typeface="Calibri" pitchFamily="34" charset="-122"/>
                <a:cs typeface="Calibri" pitchFamily="34" charset="-120"/>
              </a:rPr>
              <a:t>“Senza aver veduto la Chiesa di San Pietro, non si può fare un’idea di ciò che possa l’uomo” — Johann Wolfgang von Goethe, Viaggio in Italia(1817)</a:t>
            </a:r>
            <a:endParaRPr lang="en-US" sz="1000" dirty="0"/>
          </a:p>
        </p:txBody>
      </p:sp>
      <p:sp>
        <p:nvSpPr>
          <p:cNvPr id="15" name="Text 13"/>
          <p:cNvSpPr/>
          <p:nvPr/>
        </p:nvSpPr>
        <p:spPr>
          <a:xfrm>
            <a:off x="4800600" y="2423160"/>
            <a:ext cx="3657600" cy="502920"/>
          </a:xfrm>
          <a:prstGeom prst="rect">
            <a:avLst/>
          </a:prstGeom>
          <a:noFill/>
          <a:ln/>
        </p:spPr>
        <p:txBody>
          <a:bodyPr wrap="square" lIns="0" tIns="0" rIns="0" bIns="0" rtlCol="0" anchor="ctr"/>
          <a:lstStyle/>
          <a:p>
            <a:r>
              <a:rPr lang="it-IT" sz="1000" i="1" dirty="0" smtClean="0"/>
              <a:t>Il grande scrittore tedesco descrive lo smarrimento e il senso di onnipotenza che si prova davanti alla vastità del progetto di Maderno.</a:t>
            </a:r>
            <a:endParaRPr lang="en-US" sz="1000" i="1" dirty="0"/>
          </a:p>
        </p:txBody>
      </p:sp>
      <p:sp>
        <p:nvSpPr>
          <p:cNvPr id="16" name="Shape 14"/>
          <p:cNvSpPr/>
          <p:nvPr/>
        </p:nvSpPr>
        <p:spPr>
          <a:xfrm>
            <a:off x="457200" y="3063240"/>
            <a:ext cx="3931920" cy="1325880"/>
          </a:xfrm>
          <a:prstGeom prst="rect">
            <a:avLst/>
          </a:prstGeom>
          <a:solidFill>
            <a:srgbClr val="FFFFFF"/>
          </a:solidFill>
          <a:ln w="12700">
            <a:solidFill>
              <a:srgbClr val="E7E8D1"/>
            </a:solidFill>
            <a:prstDash val="solid"/>
          </a:ln>
        </p:spPr>
      </p:sp>
      <p:sp>
        <p:nvSpPr>
          <p:cNvPr id="17" name="Text 15"/>
          <p:cNvSpPr/>
          <p:nvPr/>
        </p:nvSpPr>
        <p:spPr>
          <a:xfrm>
            <a:off x="594360" y="3108960"/>
            <a:ext cx="457200" cy="320040"/>
          </a:xfrm>
          <a:prstGeom prst="rect">
            <a:avLst/>
          </a:prstGeom>
          <a:noFill/>
          <a:ln/>
        </p:spPr>
        <p:txBody>
          <a:bodyPr wrap="square" lIns="0" tIns="0" rIns="0" bIns="0" rtlCol="0" anchor="t"/>
          <a:lstStyle/>
          <a:p>
            <a:pPr marL="0" indent="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8" name="Text 16"/>
          <p:cNvSpPr/>
          <p:nvPr/>
        </p:nvSpPr>
        <p:spPr>
          <a:xfrm>
            <a:off x="1143000" y="3108960"/>
            <a:ext cx="3108960" cy="320040"/>
          </a:xfrm>
          <a:prstGeom prst="rect">
            <a:avLst/>
          </a:prstGeom>
          <a:noFill/>
          <a:ln/>
        </p:spPr>
        <p:txBody>
          <a:bodyPr wrap="square" lIns="0" tIns="0" rIns="0" bIns="0"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Atmosfera</a:t>
            </a:r>
            <a:endParaRPr lang="en-US" sz="1400" dirty="0"/>
          </a:p>
        </p:txBody>
      </p:sp>
      <p:sp>
        <p:nvSpPr>
          <p:cNvPr id="19" name="Text 17"/>
          <p:cNvSpPr/>
          <p:nvPr/>
        </p:nvSpPr>
        <p:spPr>
          <a:xfrm>
            <a:off x="467751" y="3406140"/>
            <a:ext cx="3921369" cy="320040"/>
          </a:xfrm>
          <a:prstGeom prst="rect">
            <a:avLst/>
          </a:prstGeom>
          <a:noFill/>
          <a:ln/>
        </p:spPr>
        <p:txBody>
          <a:bodyPr wrap="square" lIns="0" tIns="0" rIns="0" bIns="0" rtlCol="0" anchor="ctr"/>
          <a:lstStyle/>
          <a:p>
            <a:pPr marL="0" indent="0">
              <a:buNone/>
            </a:pPr>
            <a:r>
              <a:rPr lang="en-US" sz="1000" i="1" dirty="0" smtClean="0">
                <a:solidFill>
                  <a:srgbClr val="B85042"/>
                </a:solidFill>
                <a:latin typeface="Calibri" pitchFamily="34" charset="0"/>
                <a:ea typeface="Calibri" pitchFamily="34" charset="-122"/>
                <a:cs typeface="Calibri" pitchFamily="34" charset="-120"/>
              </a:rPr>
              <a:t>  </a:t>
            </a:r>
            <a:r>
              <a:rPr lang="en-US" sz="950" i="1" dirty="0" smtClean="0">
                <a:solidFill>
                  <a:srgbClr val="B85042"/>
                </a:solidFill>
                <a:latin typeface="Calibri" pitchFamily="34" charset="0"/>
                <a:ea typeface="Calibri" pitchFamily="34" charset="-122"/>
                <a:cs typeface="Calibri" pitchFamily="34" charset="-120"/>
              </a:rPr>
              <a:t>    Luce calda e radente · Scroscio delle fontane e campane </a:t>
            </a:r>
            <a:r>
              <a:rPr lang="en-US" sz="950" i="1" dirty="0">
                <a:solidFill>
                  <a:srgbClr val="B85042"/>
                </a:solidFill>
                <a:latin typeface="Calibri" pitchFamily="34" charset="0"/>
                <a:ea typeface="Calibri" pitchFamily="34" charset="-122"/>
                <a:cs typeface="Calibri" pitchFamily="34" charset="-120"/>
              </a:rPr>
              <a:t>· </a:t>
            </a:r>
            <a:r>
              <a:rPr lang="en-US" sz="950" i="1" dirty="0" smtClean="0">
                <a:solidFill>
                  <a:srgbClr val="B85042"/>
                </a:solidFill>
                <a:latin typeface="Calibri" pitchFamily="34" charset="0"/>
                <a:ea typeface="Calibri" pitchFamily="34" charset="-122"/>
                <a:cs typeface="Calibri" pitchFamily="34" charset="-120"/>
              </a:rPr>
              <a:t>Sublime e trionfo</a:t>
            </a:r>
            <a:endParaRPr lang="en-US" sz="950" dirty="0"/>
          </a:p>
        </p:txBody>
      </p:sp>
      <p:sp>
        <p:nvSpPr>
          <p:cNvPr id="20" name="Text 18"/>
          <p:cNvSpPr/>
          <p:nvPr/>
        </p:nvSpPr>
        <p:spPr>
          <a:xfrm>
            <a:off x="594360" y="3749040"/>
            <a:ext cx="3794760" cy="548640"/>
          </a:xfrm>
          <a:prstGeom prst="rect">
            <a:avLst/>
          </a:prstGeom>
          <a:noFill/>
          <a:ln/>
        </p:spPr>
        <p:txBody>
          <a:bodyPr wrap="square" lIns="0" tIns="0" rIns="0" bIns="0" rtlCol="0" anchor="ctr"/>
          <a:lstStyle/>
          <a:p>
            <a:r>
              <a:rPr lang="it-IT" sz="950" i="1" dirty="0" smtClean="0"/>
              <a:t>La visita è pensata per il tramonto, quando la luce incendia il travertino creando ombre profonde tra le colonne giganti della facciata. L'ambiente è dominato dai rumori della piazza e dal mormorio in preghiera, scatenando un'emozione assoluta.</a:t>
            </a:r>
            <a:endParaRPr lang="en-US" sz="950" i="1" dirty="0"/>
          </a:p>
        </p:txBody>
      </p:sp>
      <p:sp>
        <p:nvSpPr>
          <p:cNvPr id="21" name="Shape 19"/>
          <p:cNvSpPr/>
          <p:nvPr/>
        </p:nvSpPr>
        <p:spPr>
          <a:xfrm>
            <a:off x="4663440" y="3063240"/>
            <a:ext cx="3931920" cy="1325880"/>
          </a:xfrm>
          <a:prstGeom prst="rect">
            <a:avLst/>
          </a:prstGeom>
          <a:solidFill>
            <a:srgbClr val="FFFFFF"/>
          </a:solidFill>
          <a:ln w="12700">
            <a:solidFill>
              <a:srgbClr val="E7E8D1"/>
            </a:solidFill>
            <a:prstDash val="solid"/>
          </a:ln>
        </p:spPr>
      </p:sp>
      <p:sp>
        <p:nvSpPr>
          <p:cNvPr id="22" name="Text 20"/>
          <p:cNvSpPr/>
          <p:nvPr/>
        </p:nvSpPr>
        <p:spPr>
          <a:xfrm>
            <a:off x="4800600" y="3108960"/>
            <a:ext cx="457200" cy="457200"/>
          </a:xfrm>
          <a:prstGeom prst="rect">
            <a:avLst/>
          </a:prstGeom>
          <a:noFill/>
          <a:ln/>
        </p:spPr>
        <p:txBody>
          <a:bodyPr wrap="square" lIns="0" tIns="0" rIns="0" bIns="0" rtlCol="0" anchor="t"/>
          <a:lstStyle/>
          <a:p>
            <a:pPr marL="0" indent="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3" name="Text 21"/>
          <p:cNvSpPr/>
          <p:nvPr/>
        </p:nvSpPr>
        <p:spPr>
          <a:xfrm>
            <a:off x="5349240" y="3108960"/>
            <a:ext cx="3108960" cy="320040"/>
          </a:xfrm>
          <a:prstGeom prst="rect">
            <a:avLst/>
          </a:prstGeom>
          <a:noFill/>
          <a:ln/>
        </p:spPr>
        <p:txBody>
          <a:bodyPr wrap="square" lIns="0" tIns="0" rIns="0" bIns="0"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Arte / Architettura</a:t>
            </a:r>
            <a:endParaRPr lang="en-US" sz="1400" dirty="0"/>
          </a:p>
        </p:txBody>
      </p:sp>
      <p:sp>
        <p:nvSpPr>
          <p:cNvPr id="24" name="Text 22"/>
          <p:cNvSpPr/>
          <p:nvPr/>
        </p:nvSpPr>
        <p:spPr>
          <a:xfrm>
            <a:off x="4800600" y="3474720"/>
            <a:ext cx="3246120" cy="274320"/>
          </a:xfrm>
          <a:prstGeom prst="rect">
            <a:avLst/>
          </a:prstGeom>
          <a:noFill/>
          <a:ln/>
        </p:spPr>
        <p:txBody>
          <a:bodyPr wrap="square" lIns="0" tIns="0" rIns="0" bIns="0" rtlCol="0" anchor="ctr"/>
          <a:lstStyle/>
          <a:p>
            <a:pPr marL="0" indent="0">
              <a:buNone/>
            </a:pPr>
            <a:r>
              <a:rPr lang="en-US" sz="1000" i="1" dirty="0" smtClean="0">
                <a:solidFill>
                  <a:srgbClr val="B85042"/>
                </a:solidFill>
                <a:latin typeface="Calibri" pitchFamily="34" charset="0"/>
                <a:ea typeface="Calibri" pitchFamily="34" charset="-122"/>
                <a:cs typeface="Calibri" pitchFamily="34" charset="-120"/>
              </a:rPr>
              <a:t>Barocco Monumentale </a:t>
            </a:r>
            <a:r>
              <a:rPr lang="en-US" sz="1000" i="1" dirty="0">
                <a:solidFill>
                  <a:srgbClr val="B85042"/>
                </a:solidFill>
                <a:latin typeface="Calibri" pitchFamily="34" charset="0"/>
                <a:ea typeface="Calibri" pitchFamily="34" charset="-122"/>
                <a:cs typeface="Calibri" pitchFamily="34" charset="-120"/>
              </a:rPr>
              <a:t>· </a:t>
            </a:r>
            <a:r>
              <a:rPr lang="en-US" sz="1000" i="1" dirty="0" smtClean="0">
                <a:solidFill>
                  <a:srgbClr val="B85042"/>
                </a:solidFill>
                <a:latin typeface="Calibri" pitchFamily="34" charset="0"/>
                <a:ea typeface="Calibri" pitchFamily="34" charset="-122"/>
                <a:cs typeface="Calibri" pitchFamily="34" charset="-120"/>
              </a:rPr>
              <a:t>Carlo Maderno </a:t>
            </a:r>
            <a:r>
              <a:rPr lang="en-US" sz="1000" i="1" dirty="0">
                <a:solidFill>
                  <a:srgbClr val="B85042"/>
                </a:solidFill>
                <a:latin typeface="Calibri" pitchFamily="34" charset="0"/>
                <a:ea typeface="Calibri" pitchFamily="34" charset="-122"/>
                <a:cs typeface="Calibri" pitchFamily="34" charset="-120"/>
              </a:rPr>
              <a:t>· </a:t>
            </a:r>
            <a:r>
              <a:rPr lang="en-US" sz="1000" i="1" dirty="0" smtClean="0">
                <a:solidFill>
                  <a:srgbClr val="B85042"/>
                </a:solidFill>
                <a:latin typeface="Calibri" pitchFamily="34" charset="0"/>
                <a:ea typeface="Calibri" pitchFamily="34" charset="-122"/>
                <a:cs typeface="Calibri" pitchFamily="34" charset="-120"/>
              </a:rPr>
              <a:t>1607-1614</a:t>
            </a:r>
            <a:endParaRPr lang="en-US" sz="1000" dirty="0"/>
          </a:p>
        </p:txBody>
      </p:sp>
      <p:sp>
        <p:nvSpPr>
          <p:cNvPr id="25" name="Text 23"/>
          <p:cNvSpPr/>
          <p:nvPr/>
        </p:nvSpPr>
        <p:spPr>
          <a:xfrm>
            <a:off x="4800600" y="3794760"/>
            <a:ext cx="3657600" cy="502920"/>
          </a:xfrm>
          <a:prstGeom prst="rect">
            <a:avLst/>
          </a:prstGeom>
          <a:noFill/>
          <a:ln/>
        </p:spPr>
        <p:txBody>
          <a:bodyPr wrap="square" lIns="0" tIns="0" rIns="0" bIns="0" rtlCol="0" anchor="ctr"/>
          <a:lstStyle/>
          <a:p>
            <a:r>
              <a:rPr lang="it-IT" sz="1000" i="1" dirty="0" smtClean="0"/>
              <a:t>Maderno compie l'impresa titanica di allungare la navata di Michelangelo e innalzare la facciata, trasformando la Basilica da una struttura a pianta centrale a una monumentale croce latina.</a:t>
            </a:r>
            <a:endParaRPr lang="en-US" sz="1000" i="1" dirty="0"/>
          </a:p>
        </p:txBody>
      </p:sp>
      <p:sp>
        <p:nvSpPr>
          <p:cNvPr id="26" name="Shape 24"/>
          <p:cNvSpPr/>
          <p:nvPr/>
        </p:nvSpPr>
        <p:spPr>
          <a:xfrm>
            <a:off x="457200" y="4800600"/>
            <a:ext cx="8229600" cy="0"/>
          </a:xfrm>
          <a:prstGeom prst="line">
            <a:avLst/>
          </a:prstGeom>
          <a:noFill/>
          <a:ln w="6350">
            <a:solidFill>
              <a:srgbClr val="C5A572"/>
            </a:solidFill>
            <a:prstDash val="solid"/>
          </a:ln>
        </p:spPr>
      </p:sp>
      <p:sp>
        <p:nvSpPr>
          <p:cNvPr id="27" name="Text 25"/>
          <p:cNvSpPr/>
          <p:nvPr/>
        </p:nvSpPr>
        <p:spPr>
          <a:xfrm>
            <a:off x="457200" y="4864608"/>
            <a:ext cx="6400800" cy="228600"/>
          </a:xfrm>
          <a:prstGeom prst="rect">
            <a:avLst/>
          </a:prstGeom>
          <a:noFill/>
          <a:ln/>
        </p:spPr>
        <p:txBody>
          <a:bodyPr wrap="square" rtlCol="0" anchor="ctr"/>
          <a:lstStyle/>
          <a:p>
            <a:pPr marL="0" indent="0">
              <a:buNone/>
            </a:pPr>
            <a:r>
              <a:rPr lang="en-US" sz="900" b="1" dirty="0">
                <a:solidFill>
                  <a:srgbClr val="B85042"/>
                </a:solidFill>
                <a:latin typeface="Calibri" pitchFamily="34" charset="0"/>
                <a:ea typeface="Calibri" pitchFamily="34" charset="-122"/>
                <a:cs typeface="Calibri" pitchFamily="34" charset="-120"/>
              </a:rPr>
              <a:t>Passeggiate Romane</a:t>
            </a:r>
            <a:r>
              <a:rPr lang="en-US" sz="900" dirty="0">
                <a:solidFill>
                  <a:srgbClr val="8A8A8A"/>
                </a:solidFill>
                <a:latin typeface="Calibri" pitchFamily="34" charset="0"/>
                <a:ea typeface="Calibri" pitchFamily="34" charset="-122"/>
                <a:cs typeface="Calibri" pitchFamily="34" charset="-120"/>
              </a:rPr>
              <a:t>  ·  </a:t>
            </a:r>
            <a:r>
              <a:rPr lang="en-US" sz="900" dirty="0" smtClean="0">
                <a:solidFill>
                  <a:srgbClr val="8A8A8A"/>
                </a:solidFill>
                <a:latin typeface="Calibri" pitchFamily="34" charset="0"/>
                <a:ea typeface="Calibri" pitchFamily="34" charset="-122"/>
                <a:cs typeface="Calibri" pitchFamily="34" charset="-120"/>
              </a:rPr>
              <a:t>Lorenzo Fagiani </a:t>
            </a:r>
            <a:r>
              <a:rPr lang="en-US" sz="900" dirty="0">
                <a:solidFill>
                  <a:srgbClr val="8A8A8A"/>
                </a:solidFill>
                <a:latin typeface="Calibri" pitchFamily="34" charset="0"/>
                <a:ea typeface="Calibri" pitchFamily="34" charset="-122"/>
                <a:cs typeface="Calibri" pitchFamily="34" charset="-120"/>
              </a:rPr>
              <a:t>· A.A. </a:t>
            </a:r>
            <a:r>
              <a:rPr lang="en-US" sz="900" dirty="0" smtClean="0">
                <a:solidFill>
                  <a:srgbClr val="8A8A8A"/>
                </a:solidFill>
                <a:latin typeface="Calibri" pitchFamily="34" charset="0"/>
                <a:ea typeface="Calibri" pitchFamily="34" charset="-122"/>
                <a:cs typeface="Calibri" pitchFamily="34" charset="-120"/>
              </a:rPr>
              <a:t>2025/2026</a:t>
            </a:r>
            <a:endParaRPr lang="en-US" sz="900" dirty="0"/>
          </a:p>
        </p:txBody>
      </p:sp>
      <p:sp>
        <p:nvSpPr>
          <p:cNvPr id="28" name="Text 26"/>
          <p:cNvSpPr/>
          <p:nvPr/>
        </p:nvSpPr>
        <p:spPr>
          <a:xfrm>
            <a:off x="8046720" y="4864608"/>
            <a:ext cx="640080" cy="22860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2"/>
        </a:solidFill>
        <a:effectLst/>
      </p:bgPr>
    </p:bg>
    <p:spTree>
      <p:nvGrpSpPr>
        <p:cNvPr id="1" name=""/>
        <p:cNvGrpSpPr/>
        <p:nvPr/>
      </p:nvGrpSpPr>
      <p:grpSpPr>
        <a:xfrm>
          <a:off x="0" y="0"/>
          <a:ext cx="0" cy="0"/>
          <a:chOff x="0" y="0"/>
          <a:chExt cx="0" cy="0"/>
        </a:xfrm>
      </p:grpSpPr>
      <p:sp>
        <p:nvSpPr>
          <p:cNvPr id="2" name="Text 0"/>
          <p:cNvSpPr/>
          <p:nvPr/>
        </p:nvSpPr>
        <p:spPr>
          <a:xfrm>
            <a:off x="457200" y="320040"/>
            <a:ext cx="1097280" cy="640080"/>
          </a:xfrm>
          <a:prstGeom prst="rect">
            <a:avLst/>
          </a:prstGeom>
          <a:noFill/>
          <a:ln/>
        </p:spPr>
        <p:txBody>
          <a:bodyPr wrap="square" lIns="0" tIns="0" rIns="0" bIns="0" rtlCol="0" anchor="ctr"/>
          <a:lstStyle/>
          <a:p>
            <a:pPr marL="0" indent="0">
              <a:buNone/>
            </a:pPr>
            <a:r>
              <a:rPr lang="en-US" sz="3200" b="1" dirty="0">
                <a:solidFill>
                  <a:srgbClr val="C5A572"/>
                </a:solidFill>
                <a:latin typeface="Georgia" pitchFamily="34" charset="0"/>
                <a:ea typeface="Georgia" pitchFamily="34" charset="-122"/>
                <a:cs typeface="Georgia" pitchFamily="34" charset="-120"/>
              </a:rPr>
              <a:t>07</a:t>
            </a:r>
            <a:endParaRPr lang="en-US" sz="3200" dirty="0"/>
          </a:p>
        </p:txBody>
      </p:sp>
      <p:sp>
        <p:nvSpPr>
          <p:cNvPr id="3" name="Text 1"/>
          <p:cNvSpPr/>
          <p:nvPr/>
        </p:nvSpPr>
        <p:spPr>
          <a:xfrm>
            <a:off x="1554480" y="320040"/>
            <a:ext cx="7132320" cy="640080"/>
          </a:xfrm>
          <a:prstGeom prst="rect">
            <a:avLst/>
          </a:prstGeom>
          <a:noFill/>
          <a:ln/>
        </p:spPr>
        <p:txBody>
          <a:bodyPr wrap="square" lIns="0" tIns="0" rIns="0" bIns="0" rtlCol="0" anchor="ctr"/>
          <a:lstStyle/>
          <a:p>
            <a:pPr marL="0" indent="0">
              <a:buNone/>
            </a:pPr>
            <a:r>
              <a:rPr lang="en-US" sz="2600" b="1" dirty="0">
                <a:solidFill>
                  <a:srgbClr val="2B2B2B"/>
                </a:solidFill>
                <a:latin typeface="Georgia" pitchFamily="34" charset="0"/>
                <a:ea typeface="Georgia" pitchFamily="34" charset="-122"/>
                <a:cs typeface="Georgia" pitchFamily="34" charset="-120"/>
              </a:rPr>
              <a:t>Architettura software</a:t>
            </a:r>
            <a:endParaRPr lang="en-US" sz="2600" dirty="0"/>
          </a:p>
        </p:txBody>
      </p:sp>
      <p:sp>
        <p:nvSpPr>
          <p:cNvPr id="4" name="Shape 2"/>
          <p:cNvSpPr/>
          <p:nvPr/>
        </p:nvSpPr>
        <p:spPr>
          <a:xfrm>
            <a:off x="457200" y="1005840"/>
            <a:ext cx="1828800" cy="0"/>
          </a:xfrm>
          <a:prstGeom prst="line">
            <a:avLst/>
          </a:prstGeom>
          <a:noFill/>
          <a:ln w="25400">
            <a:solidFill>
              <a:srgbClr val="B85042"/>
            </a:solidFill>
            <a:prstDash val="solid"/>
          </a:ln>
        </p:spPr>
      </p:sp>
      <p:sp>
        <p:nvSpPr>
          <p:cNvPr id="5" name="Text 3"/>
          <p:cNvSpPr/>
          <p:nvPr/>
        </p:nvSpPr>
        <p:spPr>
          <a:xfrm>
            <a:off x="457200" y="1234440"/>
            <a:ext cx="3931920" cy="320040"/>
          </a:xfrm>
          <a:prstGeom prst="rect">
            <a:avLst/>
          </a:prstGeom>
          <a:noFill/>
          <a:ln/>
        </p:spPr>
        <p:txBody>
          <a:bodyPr wrap="square" lIns="0" tIns="0" rIns="0" bIns="0" rtlCol="0" anchor="ctr"/>
          <a:lstStyle/>
          <a:p>
            <a:pPr marL="0" indent="0">
              <a:buNone/>
            </a:pPr>
            <a:r>
              <a:rPr lang="en-US" sz="1400" b="1" dirty="0">
                <a:solidFill>
                  <a:srgbClr val="B85042"/>
                </a:solidFill>
                <a:latin typeface="Georgia" pitchFamily="34" charset="0"/>
                <a:ea typeface="Georgia" pitchFamily="34" charset="-122"/>
                <a:cs typeface="Georgia" pitchFamily="34" charset="-120"/>
              </a:rPr>
              <a:t>Stack tecnologico</a:t>
            </a:r>
            <a:endParaRPr lang="en-US" sz="1400" dirty="0"/>
          </a:p>
        </p:txBody>
      </p:sp>
      <p:sp>
        <p:nvSpPr>
          <p:cNvPr id="6" name="Text 4"/>
          <p:cNvSpPr/>
          <p:nvPr/>
        </p:nvSpPr>
        <p:spPr>
          <a:xfrm>
            <a:off x="457200" y="1645920"/>
            <a:ext cx="3931920" cy="2560320"/>
          </a:xfrm>
          <a:prstGeom prst="rect">
            <a:avLst/>
          </a:prstGeom>
          <a:noFill/>
          <a:ln/>
        </p:spPr>
        <p:txBody>
          <a:bodyPr wrap="square" lIns="0" tIns="0" rIns="0" bIns="0" rtlCol="0" anchor="t"/>
          <a:lstStyle/>
          <a:p>
            <a:pPr marL="0" indent="0">
              <a:spcAft>
                <a:spcPts val="400"/>
              </a:spcAft>
              <a:buNone/>
            </a:pPr>
            <a:r>
              <a:rPr lang="en-US" sz="1100" b="1" dirty="0">
                <a:solidFill>
                  <a:srgbClr val="2B2B2B"/>
                </a:solidFill>
                <a:latin typeface="Calibri" pitchFamily="34" charset="0"/>
                <a:ea typeface="Calibri" pitchFamily="34" charset="-122"/>
                <a:cs typeface="Calibri" pitchFamily="34" charset="-120"/>
              </a:rPr>
              <a:t>Mappa: </a:t>
            </a:r>
            <a:r>
              <a:rPr lang="en-US" sz="1100" dirty="0" smtClean="0">
                <a:solidFill>
                  <a:srgbClr val="2B2B2B"/>
                </a:solidFill>
                <a:latin typeface="Calibri" pitchFamily="34" charset="0"/>
                <a:ea typeface="Calibri" pitchFamily="34" charset="-122"/>
                <a:cs typeface="Calibri" pitchFamily="34" charset="-120"/>
              </a:rPr>
              <a:t>Leaflet </a:t>
            </a:r>
            <a:r>
              <a:rPr lang="en-US" sz="1100" dirty="0">
                <a:solidFill>
                  <a:srgbClr val="2B2B2B"/>
                </a:solidFill>
                <a:latin typeface="Calibri" pitchFamily="34" charset="0"/>
                <a:ea typeface="Calibri" pitchFamily="34" charset="-122"/>
                <a:cs typeface="Calibri" pitchFamily="34" charset="-120"/>
              </a:rPr>
              <a:t>1.9.4 </a:t>
            </a:r>
            <a:endParaRPr lang="en-US" sz="1100" dirty="0"/>
          </a:p>
          <a:p>
            <a:pPr marL="0" indent="0">
              <a:spcAft>
                <a:spcPts val="400"/>
              </a:spcAft>
              <a:buNone/>
            </a:pPr>
            <a:r>
              <a:rPr lang="en-US" sz="1100" b="1" dirty="0">
                <a:solidFill>
                  <a:srgbClr val="2B2B2B"/>
                </a:solidFill>
                <a:latin typeface="Calibri" pitchFamily="34" charset="0"/>
                <a:ea typeface="Calibri" pitchFamily="34" charset="-122"/>
                <a:cs typeface="Calibri" pitchFamily="34" charset="-120"/>
              </a:rPr>
              <a:t>Tile layer: </a:t>
            </a:r>
            <a:r>
              <a:rPr lang="en-US" sz="1100" dirty="0" smtClean="0">
                <a:solidFill>
                  <a:srgbClr val="2B2B2B"/>
                </a:solidFill>
                <a:latin typeface="Calibri" pitchFamily="34" charset="0"/>
                <a:ea typeface="Calibri" pitchFamily="34" charset="-122"/>
                <a:cs typeface="Calibri" pitchFamily="34" charset="-120"/>
              </a:rPr>
              <a:t>OpenStreetMap </a:t>
            </a:r>
            <a:endParaRPr lang="en-US" sz="1100" dirty="0"/>
          </a:p>
          <a:p>
            <a:pPr marL="0" indent="0">
              <a:spcAft>
                <a:spcPts val="400"/>
              </a:spcAft>
              <a:buNone/>
            </a:pPr>
            <a:r>
              <a:rPr lang="en-US" sz="1100" b="1" dirty="0">
                <a:solidFill>
                  <a:srgbClr val="2B2B2B"/>
                </a:solidFill>
                <a:latin typeface="Calibri" pitchFamily="34" charset="0"/>
                <a:ea typeface="Calibri" pitchFamily="34" charset="-122"/>
                <a:cs typeface="Calibri" pitchFamily="34" charset="-120"/>
              </a:rPr>
              <a:t>Formato dati: </a:t>
            </a:r>
            <a:r>
              <a:rPr lang="en-US" sz="1100" dirty="0">
                <a:solidFill>
                  <a:srgbClr val="2B2B2B"/>
                </a:solidFill>
                <a:latin typeface="Calibri" pitchFamily="34" charset="0"/>
                <a:ea typeface="Calibri" pitchFamily="34" charset="-122"/>
                <a:cs typeface="Calibri" pitchFamily="34" charset="-120"/>
              </a:rPr>
              <a:t>JSON (data.json)</a:t>
            </a:r>
            <a:endParaRPr lang="en-US" sz="1100" dirty="0"/>
          </a:p>
          <a:p>
            <a:pPr marL="0" indent="0">
              <a:spcAft>
                <a:spcPts val="400"/>
              </a:spcAft>
              <a:buNone/>
            </a:pPr>
            <a:r>
              <a:rPr lang="en-US" sz="1100" b="1" dirty="0">
                <a:solidFill>
                  <a:srgbClr val="2B2B2B"/>
                </a:solidFill>
                <a:latin typeface="Calibri" pitchFamily="34" charset="0"/>
                <a:ea typeface="Calibri" pitchFamily="34" charset="-122"/>
                <a:cs typeface="Calibri" pitchFamily="34" charset="-120"/>
              </a:rPr>
              <a:t>Font: </a:t>
            </a:r>
            <a:r>
              <a:rPr lang="en-US" sz="1100" dirty="0" smtClean="0">
                <a:solidFill>
                  <a:srgbClr val="2B2B2B"/>
                </a:solidFill>
                <a:latin typeface="Calibri" pitchFamily="34" charset="0"/>
                <a:ea typeface="Calibri" pitchFamily="34" charset="-122"/>
                <a:cs typeface="Calibri" pitchFamily="34" charset="-120"/>
              </a:rPr>
              <a:t>Georgia </a:t>
            </a:r>
            <a:endParaRPr lang="en-US" sz="1100" dirty="0"/>
          </a:p>
          <a:p>
            <a:pPr marL="0" indent="0">
              <a:spcAft>
                <a:spcPts val="400"/>
              </a:spcAft>
              <a:buNone/>
            </a:pPr>
            <a:r>
              <a:rPr lang="en-US" sz="1100" b="1" dirty="0">
                <a:solidFill>
                  <a:srgbClr val="2B2B2B"/>
                </a:solidFill>
                <a:latin typeface="Calibri" pitchFamily="34" charset="0"/>
                <a:ea typeface="Calibri" pitchFamily="34" charset="-122"/>
                <a:cs typeface="Calibri" pitchFamily="34" charset="-120"/>
              </a:rPr>
              <a:t>Icone: </a:t>
            </a:r>
            <a:r>
              <a:rPr lang="en-US" sz="1100" dirty="0" smtClean="0">
                <a:solidFill>
                  <a:srgbClr val="2B2B2B"/>
                </a:solidFill>
                <a:latin typeface="Calibri" pitchFamily="34" charset="0"/>
                <a:ea typeface="Calibri" pitchFamily="34" charset="-122"/>
                <a:cs typeface="Calibri" pitchFamily="34" charset="-120"/>
              </a:rPr>
              <a:t>Emoji </a:t>
            </a:r>
            <a:endParaRPr lang="en-US" sz="1100" dirty="0"/>
          </a:p>
          <a:p>
            <a:pPr marL="0" indent="0">
              <a:spcAft>
                <a:spcPts val="400"/>
              </a:spcAft>
              <a:buNone/>
            </a:pPr>
            <a:r>
              <a:rPr lang="en-US" sz="1100" b="1" dirty="0">
                <a:solidFill>
                  <a:srgbClr val="2B2B2B"/>
                </a:solidFill>
                <a:latin typeface="Calibri" pitchFamily="34" charset="0"/>
                <a:ea typeface="Calibri" pitchFamily="34" charset="-122"/>
                <a:cs typeface="Calibri" pitchFamily="34" charset="-120"/>
              </a:rPr>
              <a:t>Librerie extra: </a:t>
            </a:r>
            <a:r>
              <a:rPr lang="en-US" sz="1100" dirty="0" smtClean="0">
                <a:solidFill>
                  <a:srgbClr val="2B2B2B"/>
                </a:solidFill>
                <a:latin typeface="Calibri" pitchFamily="34" charset="0"/>
                <a:ea typeface="Calibri" pitchFamily="34" charset="-122"/>
                <a:cs typeface="Calibri" pitchFamily="34" charset="-120"/>
              </a:rPr>
              <a:t>Nessuna</a:t>
            </a:r>
            <a:endParaRPr lang="en-US" sz="1100" dirty="0"/>
          </a:p>
        </p:txBody>
      </p:sp>
      <p:sp>
        <p:nvSpPr>
          <p:cNvPr id="7" name="Text 5"/>
          <p:cNvSpPr/>
          <p:nvPr/>
        </p:nvSpPr>
        <p:spPr>
          <a:xfrm>
            <a:off x="4846320" y="1234440"/>
            <a:ext cx="3840480" cy="320040"/>
          </a:xfrm>
          <a:prstGeom prst="rect">
            <a:avLst/>
          </a:prstGeom>
          <a:noFill/>
          <a:ln/>
        </p:spPr>
        <p:txBody>
          <a:bodyPr wrap="square" lIns="0" tIns="0" rIns="0" bIns="0" rtlCol="0" anchor="ctr"/>
          <a:lstStyle/>
          <a:p>
            <a:pPr marL="0" indent="0">
              <a:buNone/>
            </a:pPr>
            <a:r>
              <a:rPr lang="en-US" sz="1400" b="1" dirty="0">
                <a:solidFill>
                  <a:srgbClr val="B85042"/>
                </a:solidFill>
                <a:latin typeface="Georgia" pitchFamily="34" charset="0"/>
                <a:ea typeface="Georgia" pitchFamily="34" charset="-122"/>
                <a:cs typeface="Georgia" pitchFamily="34" charset="-120"/>
              </a:rPr>
              <a:t>Flusso di caricamento</a:t>
            </a:r>
            <a:endParaRPr lang="en-US" sz="1400" dirty="0"/>
          </a:p>
        </p:txBody>
      </p:sp>
      <p:sp>
        <p:nvSpPr>
          <p:cNvPr id="8" name="Shape 6"/>
          <p:cNvSpPr/>
          <p:nvPr/>
        </p:nvSpPr>
        <p:spPr>
          <a:xfrm>
            <a:off x="4846320" y="1645920"/>
            <a:ext cx="3840480" cy="384048"/>
          </a:xfrm>
          <a:prstGeom prst="rect">
            <a:avLst/>
          </a:prstGeom>
          <a:solidFill>
            <a:srgbClr val="FFFFFF"/>
          </a:solidFill>
          <a:ln w="12700">
            <a:solidFill>
              <a:srgbClr val="C5A572"/>
            </a:solidFill>
            <a:prstDash val="solid"/>
          </a:ln>
        </p:spPr>
      </p:sp>
      <p:sp>
        <p:nvSpPr>
          <p:cNvPr id="9" name="Text 7"/>
          <p:cNvSpPr/>
          <p:nvPr/>
        </p:nvSpPr>
        <p:spPr>
          <a:xfrm>
            <a:off x="4846320" y="1645920"/>
            <a:ext cx="3840480" cy="384048"/>
          </a:xfrm>
          <a:prstGeom prst="rect">
            <a:avLst/>
          </a:prstGeom>
          <a:noFill/>
          <a:ln/>
        </p:spPr>
        <p:txBody>
          <a:bodyPr wrap="square" lIns="0" tIns="0" rIns="0" bIns="0" rtlCol="0" anchor="ctr"/>
          <a:lstStyle/>
          <a:p>
            <a:pPr marL="0" indent="0" algn="ctr">
              <a:buNone/>
            </a:pPr>
            <a:r>
              <a:rPr lang="en-US" sz="1100" dirty="0">
                <a:solidFill>
                  <a:srgbClr val="2B2B2B"/>
                </a:solidFill>
                <a:latin typeface="Calibri" pitchFamily="34" charset="0"/>
                <a:ea typeface="Calibri" pitchFamily="34" charset="-122"/>
                <a:cs typeface="Calibri" pitchFamily="34" charset="-120"/>
              </a:rPr>
              <a:t>index.html</a:t>
            </a:r>
            <a:endParaRPr lang="en-US" sz="1100" dirty="0"/>
          </a:p>
        </p:txBody>
      </p:sp>
      <p:sp>
        <p:nvSpPr>
          <p:cNvPr id="10" name="Text 8"/>
          <p:cNvSpPr/>
          <p:nvPr/>
        </p:nvSpPr>
        <p:spPr>
          <a:xfrm>
            <a:off x="6675120" y="2029968"/>
            <a:ext cx="182880" cy="146304"/>
          </a:xfrm>
          <a:prstGeom prst="rect">
            <a:avLst/>
          </a:prstGeom>
          <a:noFill/>
          <a:ln/>
        </p:spPr>
        <p:txBody>
          <a:bodyPr wrap="square" lIns="0" tIns="0" rIns="0" bIns="0" rtlCol="0" anchor="ctr"/>
          <a:lstStyle/>
          <a:p>
            <a:pPr marL="0" indent="0" algn="ctr">
              <a:buNone/>
            </a:pPr>
            <a:r>
              <a:rPr lang="en-US" sz="1000" dirty="0">
                <a:solidFill>
                  <a:srgbClr val="C5A572"/>
                </a:solidFill>
                <a:latin typeface="Calibri" pitchFamily="34" charset="0"/>
                <a:ea typeface="Calibri" pitchFamily="34" charset="-122"/>
                <a:cs typeface="Calibri" pitchFamily="34" charset="-120"/>
              </a:rPr>
              <a:t>▼</a:t>
            </a:r>
            <a:endParaRPr lang="en-US" sz="1000" dirty="0"/>
          </a:p>
        </p:txBody>
      </p:sp>
      <p:sp>
        <p:nvSpPr>
          <p:cNvPr id="11" name="Shape 9"/>
          <p:cNvSpPr/>
          <p:nvPr/>
        </p:nvSpPr>
        <p:spPr>
          <a:xfrm>
            <a:off x="4846320" y="2176272"/>
            <a:ext cx="3840480" cy="384048"/>
          </a:xfrm>
          <a:prstGeom prst="rect">
            <a:avLst/>
          </a:prstGeom>
          <a:solidFill>
            <a:srgbClr val="FFFFFF"/>
          </a:solidFill>
          <a:ln w="12700">
            <a:solidFill>
              <a:srgbClr val="C5A572"/>
            </a:solidFill>
            <a:prstDash val="solid"/>
          </a:ln>
        </p:spPr>
      </p:sp>
      <p:sp>
        <p:nvSpPr>
          <p:cNvPr id="12" name="Text 10"/>
          <p:cNvSpPr/>
          <p:nvPr/>
        </p:nvSpPr>
        <p:spPr>
          <a:xfrm>
            <a:off x="4846320" y="2176272"/>
            <a:ext cx="3840480" cy="384048"/>
          </a:xfrm>
          <a:prstGeom prst="rect">
            <a:avLst/>
          </a:prstGeom>
          <a:noFill/>
          <a:ln/>
        </p:spPr>
        <p:txBody>
          <a:bodyPr wrap="square" lIns="0" tIns="0" rIns="0" bIns="0" rtlCol="0" anchor="ctr"/>
          <a:lstStyle/>
          <a:p>
            <a:pPr marL="0" indent="0" algn="ctr">
              <a:buNone/>
            </a:pPr>
            <a:r>
              <a:rPr lang="en-US" sz="1100" dirty="0">
                <a:solidFill>
                  <a:srgbClr val="2B2B2B"/>
                </a:solidFill>
                <a:latin typeface="Calibri" pitchFamily="34" charset="0"/>
                <a:ea typeface="Calibri" pitchFamily="34" charset="-122"/>
                <a:cs typeface="Calibri" pitchFamily="34" charset="-120"/>
              </a:rPr>
              <a:t>fetch('data.json')</a:t>
            </a:r>
            <a:endParaRPr lang="en-US" sz="1100" dirty="0"/>
          </a:p>
        </p:txBody>
      </p:sp>
      <p:sp>
        <p:nvSpPr>
          <p:cNvPr id="13" name="Text 11"/>
          <p:cNvSpPr/>
          <p:nvPr/>
        </p:nvSpPr>
        <p:spPr>
          <a:xfrm>
            <a:off x="6675120" y="2560320"/>
            <a:ext cx="182880" cy="146304"/>
          </a:xfrm>
          <a:prstGeom prst="rect">
            <a:avLst/>
          </a:prstGeom>
          <a:noFill/>
          <a:ln/>
        </p:spPr>
        <p:txBody>
          <a:bodyPr wrap="square" lIns="0" tIns="0" rIns="0" bIns="0" rtlCol="0" anchor="ctr"/>
          <a:lstStyle/>
          <a:p>
            <a:pPr marL="0" indent="0" algn="ctr">
              <a:buNone/>
            </a:pPr>
            <a:r>
              <a:rPr lang="en-US" sz="1000" dirty="0">
                <a:solidFill>
                  <a:srgbClr val="C5A572"/>
                </a:solidFill>
                <a:latin typeface="Calibri" pitchFamily="34" charset="0"/>
                <a:ea typeface="Calibri" pitchFamily="34" charset="-122"/>
                <a:cs typeface="Calibri" pitchFamily="34" charset="-120"/>
              </a:rPr>
              <a:t>▼</a:t>
            </a:r>
            <a:endParaRPr lang="en-US" sz="1000" dirty="0"/>
          </a:p>
        </p:txBody>
      </p:sp>
      <p:sp>
        <p:nvSpPr>
          <p:cNvPr id="14" name="Shape 12"/>
          <p:cNvSpPr/>
          <p:nvPr/>
        </p:nvSpPr>
        <p:spPr>
          <a:xfrm>
            <a:off x="4846320" y="2706624"/>
            <a:ext cx="3840480" cy="384048"/>
          </a:xfrm>
          <a:prstGeom prst="rect">
            <a:avLst/>
          </a:prstGeom>
          <a:solidFill>
            <a:srgbClr val="FFFFFF"/>
          </a:solidFill>
          <a:ln w="12700">
            <a:solidFill>
              <a:srgbClr val="C5A572"/>
            </a:solidFill>
            <a:prstDash val="solid"/>
          </a:ln>
        </p:spPr>
      </p:sp>
      <p:sp>
        <p:nvSpPr>
          <p:cNvPr id="15" name="Text 13"/>
          <p:cNvSpPr/>
          <p:nvPr/>
        </p:nvSpPr>
        <p:spPr>
          <a:xfrm>
            <a:off x="4846320" y="2706624"/>
            <a:ext cx="3840480" cy="384048"/>
          </a:xfrm>
          <a:prstGeom prst="rect">
            <a:avLst/>
          </a:prstGeom>
          <a:noFill/>
          <a:ln/>
        </p:spPr>
        <p:txBody>
          <a:bodyPr wrap="square" lIns="0" tIns="0" rIns="0" bIns="0" rtlCol="0" anchor="ctr"/>
          <a:lstStyle/>
          <a:p>
            <a:pPr marL="0" indent="0" algn="ctr">
              <a:buNone/>
            </a:pPr>
            <a:r>
              <a:rPr lang="en-US" sz="1100" dirty="0">
                <a:solidFill>
                  <a:srgbClr val="2B2B2B"/>
                </a:solidFill>
                <a:latin typeface="Calibri" pitchFamily="34" charset="0"/>
                <a:ea typeface="Calibri" pitchFamily="34" charset="-122"/>
                <a:cs typeface="Calibri" pitchFamily="34" charset="-120"/>
              </a:rPr>
              <a:t>parse itinerario</a:t>
            </a:r>
            <a:endParaRPr lang="en-US" sz="1100" dirty="0"/>
          </a:p>
        </p:txBody>
      </p:sp>
      <p:sp>
        <p:nvSpPr>
          <p:cNvPr id="16" name="Text 14"/>
          <p:cNvSpPr/>
          <p:nvPr/>
        </p:nvSpPr>
        <p:spPr>
          <a:xfrm>
            <a:off x="6675120" y="3090672"/>
            <a:ext cx="182880" cy="146304"/>
          </a:xfrm>
          <a:prstGeom prst="rect">
            <a:avLst/>
          </a:prstGeom>
          <a:noFill/>
          <a:ln/>
        </p:spPr>
        <p:txBody>
          <a:bodyPr wrap="square" lIns="0" tIns="0" rIns="0" bIns="0" rtlCol="0" anchor="ctr"/>
          <a:lstStyle/>
          <a:p>
            <a:pPr marL="0" indent="0" algn="ctr">
              <a:buNone/>
            </a:pPr>
            <a:r>
              <a:rPr lang="en-US" sz="1000" dirty="0">
                <a:solidFill>
                  <a:srgbClr val="C5A572"/>
                </a:solidFill>
                <a:latin typeface="Calibri" pitchFamily="34" charset="0"/>
                <a:ea typeface="Calibri" pitchFamily="34" charset="-122"/>
                <a:cs typeface="Calibri" pitchFamily="34" charset="-120"/>
              </a:rPr>
              <a:t>▼</a:t>
            </a:r>
            <a:endParaRPr lang="en-US" sz="1000" dirty="0"/>
          </a:p>
        </p:txBody>
      </p:sp>
      <p:sp>
        <p:nvSpPr>
          <p:cNvPr id="17" name="Shape 15"/>
          <p:cNvSpPr/>
          <p:nvPr/>
        </p:nvSpPr>
        <p:spPr>
          <a:xfrm>
            <a:off x="4846320" y="3236976"/>
            <a:ext cx="3840480" cy="384048"/>
          </a:xfrm>
          <a:prstGeom prst="rect">
            <a:avLst/>
          </a:prstGeom>
          <a:solidFill>
            <a:srgbClr val="FFFFFF"/>
          </a:solidFill>
          <a:ln w="12700">
            <a:solidFill>
              <a:srgbClr val="C5A572"/>
            </a:solidFill>
            <a:prstDash val="solid"/>
          </a:ln>
        </p:spPr>
      </p:sp>
      <p:sp>
        <p:nvSpPr>
          <p:cNvPr id="18" name="Text 16"/>
          <p:cNvSpPr/>
          <p:nvPr/>
        </p:nvSpPr>
        <p:spPr>
          <a:xfrm>
            <a:off x="4846320" y="3236976"/>
            <a:ext cx="3840480" cy="384048"/>
          </a:xfrm>
          <a:prstGeom prst="rect">
            <a:avLst/>
          </a:prstGeom>
          <a:noFill/>
          <a:ln/>
        </p:spPr>
        <p:txBody>
          <a:bodyPr wrap="square" lIns="0" tIns="0" rIns="0" bIns="0" rtlCol="0" anchor="ctr"/>
          <a:lstStyle/>
          <a:p>
            <a:pPr marL="0" indent="0" algn="ctr">
              <a:buNone/>
            </a:pPr>
            <a:r>
              <a:rPr lang="en-US" sz="1100" dirty="0">
                <a:solidFill>
                  <a:srgbClr val="2B2B2B"/>
                </a:solidFill>
                <a:latin typeface="Calibri" pitchFamily="34" charset="0"/>
                <a:ea typeface="Calibri" pitchFamily="34" charset="-122"/>
                <a:cs typeface="Calibri" pitchFamily="34" charset="-120"/>
              </a:rPr>
              <a:t>render mappa + tappe</a:t>
            </a:r>
            <a:endParaRPr lang="en-US" sz="1100" dirty="0"/>
          </a:p>
        </p:txBody>
      </p:sp>
      <p:sp>
        <p:nvSpPr>
          <p:cNvPr id="19" name="Text 17"/>
          <p:cNvSpPr/>
          <p:nvPr/>
        </p:nvSpPr>
        <p:spPr>
          <a:xfrm>
            <a:off x="6675120" y="3621024"/>
            <a:ext cx="182880" cy="146304"/>
          </a:xfrm>
          <a:prstGeom prst="rect">
            <a:avLst/>
          </a:prstGeom>
          <a:noFill/>
          <a:ln/>
        </p:spPr>
        <p:txBody>
          <a:bodyPr wrap="square" lIns="0" tIns="0" rIns="0" bIns="0" rtlCol="0" anchor="ctr"/>
          <a:lstStyle/>
          <a:p>
            <a:pPr marL="0" indent="0" algn="ctr">
              <a:buNone/>
            </a:pPr>
            <a:r>
              <a:rPr lang="en-US" sz="1000" dirty="0">
                <a:solidFill>
                  <a:srgbClr val="C5A572"/>
                </a:solidFill>
                <a:latin typeface="Calibri" pitchFamily="34" charset="0"/>
                <a:ea typeface="Calibri" pitchFamily="34" charset="-122"/>
                <a:cs typeface="Calibri" pitchFamily="34" charset="-120"/>
              </a:rPr>
              <a:t>▼</a:t>
            </a:r>
            <a:endParaRPr lang="en-US" sz="1000" dirty="0"/>
          </a:p>
        </p:txBody>
      </p:sp>
      <p:sp>
        <p:nvSpPr>
          <p:cNvPr id="20" name="Shape 18"/>
          <p:cNvSpPr/>
          <p:nvPr/>
        </p:nvSpPr>
        <p:spPr>
          <a:xfrm>
            <a:off x="4846320" y="3767328"/>
            <a:ext cx="3840480" cy="384048"/>
          </a:xfrm>
          <a:prstGeom prst="rect">
            <a:avLst/>
          </a:prstGeom>
          <a:solidFill>
            <a:srgbClr val="FFFFFF"/>
          </a:solidFill>
          <a:ln w="12700">
            <a:solidFill>
              <a:srgbClr val="C5A572"/>
            </a:solidFill>
            <a:prstDash val="solid"/>
          </a:ln>
        </p:spPr>
      </p:sp>
      <p:sp>
        <p:nvSpPr>
          <p:cNvPr id="21" name="Text 19"/>
          <p:cNvSpPr/>
          <p:nvPr/>
        </p:nvSpPr>
        <p:spPr>
          <a:xfrm>
            <a:off x="4846320" y="3767328"/>
            <a:ext cx="3840480" cy="384048"/>
          </a:xfrm>
          <a:prstGeom prst="rect">
            <a:avLst/>
          </a:prstGeom>
          <a:noFill/>
          <a:ln/>
        </p:spPr>
        <p:txBody>
          <a:bodyPr wrap="square" lIns="0" tIns="0" rIns="0" bIns="0" rtlCol="0" anchor="ctr"/>
          <a:lstStyle/>
          <a:p>
            <a:pPr marL="0" indent="0" algn="ctr">
              <a:buNone/>
            </a:pPr>
            <a:r>
              <a:rPr lang="en-US" sz="1100" dirty="0">
                <a:solidFill>
                  <a:srgbClr val="2B2B2B"/>
                </a:solidFill>
                <a:latin typeface="Calibri" pitchFamily="34" charset="0"/>
                <a:ea typeface="Calibri" pitchFamily="34" charset="-122"/>
                <a:cs typeface="Calibri" pitchFamily="34" charset="-120"/>
              </a:rPr>
              <a:t>interazione utente</a:t>
            </a:r>
            <a:endParaRPr lang="en-US" sz="1100" dirty="0"/>
          </a:p>
        </p:txBody>
      </p:sp>
      <p:sp>
        <p:nvSpPr>
          <p:cNvPr id="22" name="Shape 20"/>
          <p:cNvSpPr/>
          <p:nvPr/>
        </p:nvSpPr>
        <p:spPr>
          <a:xfrm>
            <a:off x="457200" y="4800600"/>
            <a:ext cx="8229600" cy="0"/>
          </a:xfrm>
          <a:prstGeom prst="line">
            <a:avLst/>
          </a:prstGeom>
          <a:noFill/>
          <a:ln w="6350">
            <a:solidFill>
              <a:srgbClr val="C5A572"/>
            </a:solidFill>
            <a:prstDash val="solid"/>
          </a:ln>
        </p:spPr>
      </p:sp>
      <p:sp>
        <p:nvSpPr>
          <p:cNvPr id="23" name="Text 21"/>
          <p:cNvSpPr/>
          <p:nvPr/>
        </p:nvSpPr>
        <p:spPr>
          <a:xfrm>
            <a:off x="457200" y="4864608"/>
            <a:ext cx="6400800" cy="228600"/>
          </a:xfrm>
          <a:prstGeom prst="rect">
            <a:avLst/>
          </a:prstGeom>
          <a:noFill/>
          <a:ln/>
        </p:spPr>
        <p:txBody>
          <a:bodyPr wrap="square" rtlCol="0" anchor="ctr"/>
          <a:lstStyle/>
          <a:p>
            <a:pPr marL="0" indent="0">
              <a:buNone/>
            </a:pPr>
            <a:r>
              <a:rPr lang="en-US" sz="900" b="1" dirty="0">
                <a:solidFill>
                  <a:srgbClr val="B85042"/>
                </a:solidFill>
                <a:latin typeface="Calibri" pitchFamily="34" charset="0"/>
                <a:ea typeface="Calibri" pitchFamily="34" charset="-122"/>
                <a:cs typeface="Calibri" pitchFamily="34" charset="-120"/>
              </a:rPr>
              <a:t>Passeggiate Romane</a:t>
            </a:r>
            <a:r>
              <a:rPr lang="en-US" sz="900" dirty="0">
                <a:solidFill>
                  <a:srgbClr val="8A8A8A"/>
                </a:solidFill>
                <a:latin typeface="Calibri" pitchFamily="34" charset="0"/>
                <a:ea typeface="Calibri" pitchFamily="34" charset="-122"/>
                <a:cs typeface="Calibri" pitchFamily="34" charset="-120"/>
              </a:rPr>
              <a:t>  ·  </a:t>
            </a:r>
            <a:r>
              <a:rPr lang="en-US" sz="900" dirty="0" smtClean="0">
                <a:solidFill>
                  <a:srgbClr val="8A8A8A"/>
                </a:solidFill>
                <a:latin typeface="Calibri" pitchFamily="34" charset="0"/>
                <a:ea typeface="Calibri" pitchFamily="34" charset="-122"/>
                <a:cs typeface="Calibri" pitchFamily="34" charset="-120"/>
              </a:rPr>
              <a:t>Lorenzo Fagiani </a:t>
            </a:r>
            <a:r>
              <a:rPr lang="en-US" sz="900" dirty="0">
                <a:solidFill>
                  <a:srgbClr val="8A8A8A"/>
                </a:solidFill>
                <a:latin typeface="Calibri" pitchFamily="34" charset="0"/>
                <a:ea typeface="Calibri" pitchFamily="34" charset="-122"/>
                <a:cs typeface="Calibri" pitchFamily="34" charset="-120"/>
              </a:rPr>
              <a:t>· A.A. </a:t>
            </a:r>
            <a:r>
              <a:rPr lang="en-US" sz="900" dirty="0" smtClean="0">
                <a:solidFill>
                  <a:srgbClr val="8A8A8A"/>
                </a:solidFill>
                <a:latin typeface="Calibri" pitchFamily="34" charset="0"/>
                <a:ea typeface="Calibri" pitchFamily="34" charset="-122"/>
                <a:cs typeface="Calibri" pitchFamily="34" charset="-120"/>
              </a:rPr>
              <a:t>2025/2026</a:t>
            </a:r>
            <a:endParaRPr lang="en-US" sz="900" dirty="0"/>
          </a:p>
        </p:txBody>
      </p:sp>
      <p:sp>
        <p:nvSpPr>
          <p:cNvPr id="24" name="Text 22"/>
          <p:cNvSpPr/>
          <p:nvPr/>
        </p:nvSpPr>
        <p:spPr>
          <a:xfrm>
            <a:off x="8046720" y="4864608"/>
            <a:ext cx="640080" cy="22860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2"/>
        </a:solidFill>
        <a:effectLst/>
      </p:bgPr>
    </p:bg>
    <p:spTree>
      <p:nvGrpSpPr>
        <p:cNvPr id="1" name=""/>
        <p:cNvGrpSpPr/>
        <p:nvPr/>
      </p:nvGrpSpPr>
      <p:grpSpPr>
        <a:xfrm>
          <a:off x="0" y="0"/>
          <a:ext cx="0" cy="0"/>
          <a:chOff x="0" y="0"/>
          <a:chExt cx="0" cy="0"/>
        </a:xfrm>
      </p:grpSpPr>
      <p:sp>
        <p:nvSpPr>
          <p:cNvPr id="2" name="Text 0"/>
          <p:cNvSpPr/>
          <p:nvPr/>
        </p:nvSpPr>
        <p:spPr>
          <a:xfrm>
            <a:off x="457200" y="320040"/>
            <a:ext cx="1097280" cy="640080"/>
          </a:xfrm>
          <a:prstGeom prst="rect">
            <a:avLst/>
          </a:prstGeom>
          <a:noFill/>
          <a:ln/>
        </p:spPr>
        <p:txBody>
          <a:bodyPr wrap="square" lIns="0" tIns="0" rIns="0" bIns="0" rtlCol="0" anchor="ctr"/>
          <a:lstStyle/>
          <a:p>
            <a:pPr marL="0" indent="0">
              <a:buNone/>
            </a:pPr>
            <a:r>
              <a:rPr lang="en-US" sz="3200" b="1" dirty="0">
                <a:solidFill>
                  <a:srgbClr val="C5A572"/>
                </a:solidFill>
                <a:latin typeface="Georgia" pitchFamily="34" charset="0"/>
                <a:ea typeface="Georgia" pitchFamily="34" charset="-122"/>
                <a:cs typeface="Georgia" pitchFamily="34" charset="-120"/>
              </a:rPr>
              <a:t>08</a:t>
            </a:r>
            <a:endParaRPr lang="en-US" sz="3200" dirty="0"/>
          </a:p>
        </p:txBody>
      </p:sp>
      <p:sp>
        <p:nvSpPr>
          <p:cNvPr id="3" name="Text 1"/>
          <p:cNvSpPr/>
          <p:nvPr/>
        </p:nvSpPr>
        <p:spPr>
          <a:xfrm>
            <a:off x="1554480" y="320040"/>
            <a:ext cx="7132320" cy="640080"/>
          </a:xfrm>
          <a:prstGeom prst="rect">
            <a:avLst/>
          </a:prstGeom>
          <a:noFill/>
          <a:ln/>
        </p:spPr>
        <p:txBody>
          <a:bodyPr wrap="square" lIns="0" tIns="0" rIns="0" bIns="0" rtlCol="0" anchor="ctr"/>
          <a:lstStyle/>
          <a:p>
            <a:pPr marL="0" indent="0">
              <a:buNone/>
            </a:pPr>
            <a:r>
              <a:rPr lang="en-US" sz="2600" b="1" dirty="0">
                <a:solidFill>
                  <a:srgbClr val="2B2B2B"/>
                </a:solidFill>
                <a:latin typeface="Georgia" pitchFamily="34" charset="0"/>
                <a:ea typeface="Georgia" pitchFamily="34" charset="-122"/>
                <a:cs typeface="Georgia" pitchFamily="34" charset="-120"/>
              </a:rPr>
              <a:t>Schema dati (data.json)</a:t>
            </a:r>
            <a:endParaRPr lang="en-US" sz="2600" dirty="0"/>
          </a:p>
        </p:txBody>
      </p:sp>
      <p:sp>
        <p:nvSpPr>
          <p:cNvPr id="4" name="Shape 2"/>
          <p:cNvSpPr/>
          <p:nvPr/>
        </p:nvSpPr>
        <p:spPr>
          <a:xfrm>
            <a:off x="457200" y="1005840"/>
            <a:ext cx="1828800" cy="0"/>
          </a:xfrm>
          <a:prstGeom prst="line">
            <a:avLst/>
          </a:prstGeom>
          <a:noFill/>
          <a:ln w="25400">
            <a:solidFill>
              <a:srgbClr val="B85042"/>
            </a:solidFill>
            <a:prstDash val="solid"/>
          </a:ln>
        </p:spPr>
      </p:sp>
      <p:sp>
        <p:nvSpPr>
          <p:cNvPr id="5" name="Shape 3"/>
          <p:cNvSpPr/>
          <p:nvPr/>
        </p:nvSpPr>
        <p:spPr>
          <a:xfrm>
            <a:off x="457200" y="1118382"/>
            <a:ext cx="8229600" cy="3225018"/>
          </a:xfrm>
          <a:prstGeom prst="rect">
            <a:avLst/>
          </a:prstGeom>
          <a:solidFill>
            <a:srgbClr val="F4F1E8"/>
          </a:solidFill>
          <a:ln w="12700">
            <a:solidFill>
              <a:srgbClr val="C5A572"/>
            </a:solidFill>
            <a:prstDash val="solid"/>
          </a:ln>
        </p:spPr>
      </p:sp>
      <p:sp>
        <p:nvSpPr>
          <p:cNvPr id="6" name="Text 4"/>
          <p:cNvSpPr/>
          <p:nvPr/>
        </p:nvSpPr>
        <p:spPr>
          <a:xfrm>
            <a:off x="640080" y="1234440"/>
            <a:ext cx="7863840" cy="3017520"/>
          </a:xfrm>
          <a:prstGeom prst="rect">
            <a:avLst/>
          </a:prstGeom>
          <a:noFill/>
          <a:ln/>
        </p:spPr>
        <p:txBody>
          <a:bodyPr wrap="square" lIns="0" tIns="0" rIns="0" bIns="0" rtlCol="0" anchor="t"/>
          <a:lstStyle/>
          <a:p>
            <a:r>
              <a:rPr lang="it-IT" sz="1000" dirty="0" smtClean="0">
                <a:solidFill>
                  <a:srgbClr val="2B2B2B"/>
                </a:solidFill>
                <a:latin typeface="Consolas" pitchFamily="34" charset="0"/>
                <a:ea typeface="Consolas" pitchFamily="34" charset="-122"/>
                <a:cs typeface="Consolas" pitchFamily="34" charset="-120"/>
              </a:rPr>
              <a:t>itinerari: [</a:t>
            </a:r>
          </a:p>
          <a:p>
            <a:r>
              <a:rPr lang="it-IT" sz="1000" dirty="0" smtClean="0">
                <a:solidFill>
                  <a:srgbClr val="2B2B2B"/>
                </a:solidFill>
                <a:latin typeface="Consolas" pitchFamily="34" charset="0"/>
                <a:ea typeface="Consolas" pitchFamily="34" charset="-122"/>
                <a:cs typeface="Consolas" pitchFamily="34" charset="-120"/>
              </a:rPr>
              <a:t>  {</a:t>
            </a:r>
          </a:p>
          <a:p>
            <a:r>
              <a:rPr lang="it-IT" sz="1000" dirty="0" smtClean="0">
                <a:solidFill>
                  <a:srgbClr val="2B2B2B"/>
                </a:solidFill>
                <a:latin typeface="Consolas" pitchFamily="34" charset="0"/>
                <a:ea typeface="Consolas" pitchFamily="34" charset="-122"/>
                <a:cs typeface="Consolas" pitchFamily="34" charset="-120"/>
              </a:rPr>
              <a:t>    id, nome, sottotitolo, descrizione,</a:t>
            </a:r>
          </a:p>
          <a:p>
            <a:r>
              <a:rPr lang="it-IT" sz="1000" dirty="0" smtClean="0">
                <a:solidFill>
                  <a:srgbClr val="2B2B2B"/>
                </a:solidFill>
                <a:latin typeface="Consolas" pitchFamily="34" charset="0"/>
                <a:ea typeface="Consolas" pitchFamily="34" charset="-122"/>
                <a:cs typeface="Consolas" pitchFamily="34" charset="-120"/>
              </a:rPr>
              <a:t>    personaggio: { nome, anni, professione, biografia_breve, opere_correlate },</a:t>
            </a:r>
          </a:p>
          <a:p>
            <a:r>
              <a:rPr lang="it-IT" sz="1000" dirty="0" smtClean="0">
                <a:solidFill>
                  <a:srgbClr val="2B2B2B"/>
                </a:solidFill>
                <a:latin typeface="Consolas" pitchFamily="34" charset="0"/>
                <a:ea typeface="Consolas" pitchFamily="34" charset="-122"/>
                <a:cs typeface="Consolas" pitchFamily="34" charset="-120"/>
              </a:rPr>
              <a:t>    tema, categoria, durata_totale_ore, distanza_totale_km, difficolta,</a:t>
            </a:r>
          </a:p>
          <a:p>
            <a:r>
              <a:rPr lang="it-IT" sz="1000" dirty="0" smtClean="0">
                <a:solidFill>
                  <a:srgbClr val="2B2B2B"/>
                </a:solidFill>
                <a:latin typeface="Consolas" pitchFamily="34" charset="0"/>
                <a:ea typeface="Consolas" pitchFamily="34" charset="-122"/>
                <a:cs typeface="Consolas" pitchFamily="34" charset="-120"/>
              </a:rPr>
              <a:t>    info_logistiche: periodo_consigliato, accessibilita, costo_stimato,</a:t>
            </a:r>
          </a:p>
          <a:p>
            <a:r>
              <a:rPr lang="it-IT" sz="1000" dirty="0" smtClean="0">
                <a:solidFill>
                  <a:srgbClr val="2B2B2B"/>
                </a:solidFill>
                <a:latin typeface="Consolas" pitchFamily="34" charset="0"/>
                <a:ea typeface="Consolas" pitchFamily="34" charset="-122"/>
                <a:cs typeface="Consolas" pitchFamily="34" charset="-120"/>
              </a:rPr>
              <a:t>    consigli_pratici, sconsigliato, cosa_portare,</a:t>
            </a:r>
          </a:p>
          <a:p>
            <a:r>
              <a:rPr lang="it-IT" sz="1000" dirty="0" smtClean="0">
                <a:solidFill>
                  <a:srgbClr val="2B2B2B"/>
                </a:solidFill>
                <a:latin typeface="Consolas" pitchFamily="34" charset="0"/>
                <a:ea typeface="Consolas" pitchFamily="34" charset="-122"/>
                <a:cs typeface="Consolas" pitchFamily="34" charset="-120"/>
              </a:rPr>
              <a:t>    tappe: [</a:t>
            </a:r>
          </a:p>
          <a:p>
            <a:r>
              <a:rPr lang="it-IT" sz="1000" dirty="0" smtClean="0">
                <a:solidFill>
                  <a:srgbClr val="2B2B2B"/>
                </a:solidFill>
                <a:latin typeface="Consolas" pitchFamily="34" charset="0"/>
                <a:ea typeface="Consolas" pitchFamily="34" charset="-122"/>
                <a:cs typeface="Consolas" pitchFamily="34" charset="-120"/>
              </a:rPr>
              <a:t>      {</a:t>
            </a:r>
          </a:p>
          <a:p>
            <a:r>
              <a:rPr lang="it-IT" sz="1000" dirty="0" smtClean="0">
                <a:solidFill>
                  <a:srgbClr val="2B2B2B"/>
                </a:solidFill>
                <a:latin typeface="Consolas" pitchFamily="34" charset="0"/>
                <a:ea typeface="Consolas" pitchFamily="34" charset="-122"/>
                <a:cs typeface="Consolas" pitchFamily="34" charset="-120"/>
              </a:rPr>
              <a:t>        numero, poi_id, nome, coordinate: [lat, lon],</a:t>
            </a:r>
          </a:p>
          <a:p>
            <a:r>
              <a:rPr lang="it-IT" sz="1000" dirty="0" smtClean="0">
                <a:solidFill>
                  <a:srgbClr val="2B2B2B"/>
                </a:solidFill>
                <a:latin typeface="Consolas" pitchFamily="34" charset="0"/>
                <a:ea typeface="Consolas" pitchFamily="34" charset="-122"/>
                <a:cs typeface="Consolas" pitchFamily="34" charset="-120"/>
              </a:rPr>
              <a:t>        orario_consigliato, momento_giornata, durata_visita_min,</a:t>
            </a:r>
          </a:p>
          <a:p>
            <a:r>
              <a:rPr lang="it-IT" sz="1000" dirty="0" smtClean="0">
                <a:solidFill>
                  <a:srgbClr val="2B2B2B"/>
                </a:solidFill>
                <a:latin typeface="Consolas" pitchFamily="34" charset="0"/>
                <a:ea typeface="Consolas" pitchFamily="34" charset="-122"/>
                <a:cs typeface="Consolas" pitchFamily="34" charset="-120"/>
              </a:rPr>
              <a:t>        descrizione_breve, indicazioni_arrivo, tempo_spostamento,</a:t>
            </a:r>
          </a:p>
          <a:p>
            <a:r>
              <a:rPr lang="it-IT" sz="1000" dirty="0" smtClean="0">
                <a:solidFill>
                  <a:srgbClr val="2B2B2B"/>
                </a:solidFill>
                <a:latin typeface="Consolas" pitchFamily="34" charset="0"/>
                <a:ea typeface="Consolas" pitchFamily="34" charset="-122"/>
                <a:cs typeface="Consolas" pitchFamily="34" charset="-120"/>
              </a:rPr>
              <a:t>        esperienza_culturale: {</a:t>
            </a:r>
          </a:p>
          <a:p>
            <a:r>
              <a:rPr lang="it-IT" sz="1000" dirty="0" smtClean="0">
                <a:solidFill>
                  <a:srgbClr val="2B2B2B"/>
                </a:solidFill>
                <a:latin typeface="Consolas" pitchFamily="34" charset="0"/>
                <a:ea typeface="Consolas" pitchFamily="34" charset="-122"/>
                <a:cs typeface="Consolas" pitchFamily="34" charset="-120"/>
              </a:rPr>
              <a:t>          musica, letteratura, atmosfera, arte_visiva, cinema</a:t>
            </a:r>
          </a:p>
          <a:p>
            <a:r>
              <a:rPr lang="it-IT" sz="1000" dirty="0" smtClean="0">
                <a:solidFill>
                  <a:srgbClr val="2B2B2B"/>
                </a:solidFill>
                <a:latin typeface="Consolas" pitchFamily="34" charset="0"/>
                <a:ea typeface="Consolas" pitchFamily="34" charset="-122"/>
                <a:cs typeface="Consolas" pitchFamily="34" charset="-120"/>
              </a:rPr>
              <a:t>        },</a:t>
            </a:r>
          </a:p>
          <a:p>
            <a:r>
              <a:rPr lang="it-IT" sz="1000" dirty="0" smtClean="0">
                <a:solidFill>
                  <a:srgbClr val="2B2B2B"/>
                </a:solidFill>
                <a:latin typeface="Consolas" pitchFamily="34" charset="0"/>
                <a:ea typeface="Consolas" pitchFamily="34" charset="-122"/>
                <a:cs typeface="Consolas" pitchFamily="34" charset="-120"/>
              </a:rPr>
              <a:t>        storia, curiosita, leggende, metadata, connessione_maderno</a:t>
            </a:r>
          </a:p>
          <a:p>
            <a:r>
              <a:rPr lang="it-IT" sz="1000" dirty="0" smtClean="0">
                <a:solidFill>
                  <a:srgbClr val="2B2B2B"/>
                </a:solidFill>
                <a:latin typeface="Consolas" pitchFamily="34" charset="0"/>
                <a:ea typeface="Consolas" pitchFamily="34" charset="-122"/>
                <a:cs typeface="Consolas" pitchFamily="34" charset="-120"/>
              </a:rPr>
              <a:t>      }</a:t>
            </a:r>
          </a:p>
          <a:p>
            <a:r>
              <a:rPr lang="it-IT" sz="1000" dirty="0" smtClean="0">
                <a:solidFill>
                  <a:srgbClr val="2B2B2B"/>
                </a:solidFill>
                <a:latin typeface="Consolas" pitchFamily="34" charset="0"/>
                <a:ea typeface="Consolas" pitchFamily="34" charset="-122"/>
                <a:cs typeface="Consolas" pitchFamily="34" charset="-120"/>
              </a:rPr>
              <a:t>    ]</a:t>
            </a:r>
          </a:p>
          <a:p>
            <a:r>
              <a:rPr lang="it-IT" sz="1000" dirty="0" smtClean="0">
                <a:solidFill>
                  <a:srgbClr val="2B2B2B"/>
                </a:solidFill>
                <a:latin typeface="Consolas" pitchFamily="34" charset="0"/>
                <a:ea typeface="Consolas" pitchFamily="34" charset="-122"/>
                <a:cs typeface="Consolas" pitchFamily="34" charset="-120"/>
              </a:rPr>
              <a:t>  }</a:t>
            </a:r>
          </a:p>
          <a:p>
            <a:r>
              <a:rPr lang="it-IT" sz="1000" dirty="0" smtClean="0">
                <a:solidFill>
                  <a:srgbClr val="2B2B2B"/>
                </a:solidFill>
                <a:latin typeface="Consolas" pitchFamily="34" charset="0"/>
                <a:ea typeface="Consolas" pitchFamily="34" charset="-122"/>
                <a:cs typeface="Consolas" pitchFamily="34" charset="-120"/>
              </a:rPr>
              <a:t>]</a:t>
            </a:r>
            <a:endParaRPr lang="en-US" sz="1000" dirty="0"/>
          </a:p>
        </p:txBody>
      </p:sp>
      <p:sp>
        <p:nvSpPr>
          <p:cNvPr id="7" name="Text 5"/>
          <p:cNvSpPr/>
          <p:nvPr/>
        </p:nvSpPr>
        <p:spPr>
          <a:xfrm>
            <a:off x="457200" y="4343400"/>
            <a:ext cx="8229600" cy="521208"/>
          </a:xfrm>
          <a:prstGeom prst="rect">
            <a:avLst/>
          </a:prstGeom>
          <a:noFill/>
          <a:ln/>
        </p:spPr>
        <p:txBody>
          <a:bodyPr wrap="square" rtlCol="0" anchor="t"/>
          <a:lstStyle/>
          <a:p>
            <a:r>
              <a:rPr lang="it-IT" sz="1000" i="1" dirty="0" smtClean="0"/>
              <a:t>Rispetto al template di base, lo schema JSON è stato fortemente ampliato. Sono stati aggiunti array logistici avanzati ('consigli_pratici', 'cosa_portare', 'sconsigliato', 'tempo_spostamento') per rendere l'itinerario realmente fruibile. Inoltre, è stato introdotto il nodo complesso 'esperienza_culturale' (con i sotto-campi musica, letteratura, atmosfera) fondamentale per alimentare la timeline interattiva e supportare il forte storytelling emozionale del progetto.</a:t>
            </a:r>
            <a:endParaRPr lang="en-US" sz="1000" i="1" dirty="0"/>
          </a:p>
        </p:txBody>
      </p:sp>
      <p:sp>
        <p:nvSpPr>
          <p:cNvPr id="8" name="Shape 6"/>
          <p:cNvSpPr/>
          <p:nvPr/>
        </p:nvSpPr>
        <p:spPr>
          <a:xfrm>
            <a:off x="457200" y="4864608"/>
            <a:ext cx="8229600" cy="0"/>
          </a:xfrm>
          <a:prstGeom prst="line">
            <a:avLst/>
          </a:prstGeom>
          <a:noFill/>
          <a:ln w="6350">
            <a:solidFill>
              <a:srgbClr val="C5A572"/>
            </a:solidFill>
            <a:prstDash val="solid"/>
          </a:ln>
        </p:spPr>
      </p:sp>
      <p:sp>
        <p:nvSpPr>
          <p:cNvPr id="9" name="Text 7"/>
          <p:cNvSpPr/>
          <p:nvPr/>
        </p:nvSpPr>
        <p:spPr>
          <a:xfrm>
            <a:off x="457200" y="4864608"/>
            <a:ext cx="6400800" cy="228600"/>
          </a:xfrm>
          <a:prstGeom prst="rect">
            <a:avLst/>
          </a:prstGeom>
          <a:noFill/>
          <a:ln/>
        </p:spPr>
        <p:txBody>
          <a:bodyPr wrap="square" rtlCol="0" anchor="ctr"/>
          <a:lstStyle/>
          <a:p>
            <a:pPr marL="0" indent="0">
              <a:buNone/>
            </a:pPr>
            <a:r>
              <a:rPr lang="en-US" sz="900" b="1" dirty="0">
                <a:solidFill>
                  <a:srgbClr val="B85042"/>
                </a:solidFill>
                <a:latin typeface="Calibri" pitchFamily="34" charset="0"/>
                <a:ea typeface="Calibri" pitchFamily="34" charset="-122"/>
                <a:cs typeface="Calibri" pitchFamily="34" charset="-120"/>
              </a:rPr>
              <a:t>Passeggiate Romane</a:t>
            </a:r>
            <a:r>
              <a:rPr lang="en-US" sz="900" dirty="0">
                <a:solidFill>
                  <a:srgbClr val="8A8A8A"/>
                </a:solidFill>
                <a:latin typeface="Calibri" pitchFamily="34" charset="0"/>
                <a:ea typeface="Calibri" pitchFamily="34" charset="-122"/>
                <a:cs typeface="Calibri" pitchFamily="34" charset="-120"/>
              </a:rPr>
              <a:t>  ·  </a:t>
            </a:r>
            <a:r>
              <a:rPr lang="en-US" sz="900" dirty="0" smtClean="0">
                <a:solidFill>
                  <a:srgbClr val="8A8A8A"/>
                </a:solidFill>
                <a:latin typeface="Calibri" pitchFamily="34" charset="0"/>
                <a:ea typeface="Calibri" pitchFamily="34" charset="-122"/>
                <a:cs typeface="Calibri" pitchFamily="34" charset="-120"/>
              </a:rPr>
              <a:t>Lorenzo </a:t>
            </a:r>
            <a:r>
              <a:rPr lang="en-US" sz="900" dirty="0" smtClean="0">
                <a:solidFill>
                  <a:srgbClr val="8A8A8A"/>
                </a:solidFill>
                <a:latin typeface="Calibri" pitchFamily="34" charset="0"/>
                <a:ea typeface="Calibri" pitchFamily="34" charset="-122"/>
                <a:cs typeface="Calibri" pitchFamily="34" charset="-120"/>
              </a:rPr>
              <a:t>Fagiani </a:t>
            </a:r>
            <a:r>
              <a:rPr lang="en-US" sz="900" dirty="0">
                <a:solidFill>
                  <a:srgbClr val="8A8A8A"/>
                </a:solidFill>
                <a:latin typeface="Calibri" pitchFamily="34" charset="0"/>
                <a:ea typeface="Calibri" pitchFamily="34" charset="-122"/>
                <a:cs typeface="Calibri" pitchFamily="34" charset="-120"/>
              </a:rPr>
              <a:t>· A.A. </a:t>
            </a:r>
            <a:r>
              <a:rPr lang="en-US" sz="900" dirty="0" smtClean="0">
                <a:solidFill>
                  <a:srgbClr val="8A8A8A"/>
                </a:solidFill>
                <a:latin typeface="Calibri" pitchFamily="34" charset="0"/>
                <a:ea typeface="Calibri" pitchFamily="34" charset="-122"/>
                <a:cs typeface="Calibri" pitchFamily="34" charset="-120"/>
              </a:rPr>
              <a:t>2025/2026</a:t>
            </a:r>
            <a:endParaRPr lang="en-US" sz="900" dirty="0"/>
          </a:p>
        </p:txBody>
      </p:sp>
      <p:sp>
        <p:nvSpPr>
          <p:cNvPr id="10" name="Text 8"/>
          <p:cNvSpPr/>
          <p:nvPr/>
        </p:nvSpPr>
        <p:spPr>
          <a:xfrm>
            <a:off x="8046720" y="4864608"/>
            <a:ext cx="640080" cy="22860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2"/>
        </a:solidFill>
        <a:effectLst/>
      </p:bgPr>
    </p:bg>
    <p:spTree>
      <p:nvGrpSpPr>
        <p:cNvPr id="1" name=""/>
        <p:cNvGrpSpPr/>
        <p:nvPr/>
      </p:nvGrpSpPr>
      <p:grpSpPr>
        <a:xfrm>
          <a:off x="0" y="0"/>
          <a:ext cx="0" cy="0"/>
          <a:chOff x="0" y="0"/>
          <a:chExt cx="0" cy="0"/>
        </a:xfrm>
      </p:grpSpPr>
      <p:sp>
        <p:nvSpPr>
          <p:cNvPr id="2" name="Text 0"/>
          <p:cNvSpPr/>
          <p:nvPr/>
        </p:nvSpPr>
        <p:spPr>
          <a:xfrm>
            <a:off x="457200" y="0"/>
            <a:ext cx="1097280" cy="640080"/>
          </a:xfrm>
          <a:prstGeom prst="rect">
            <a:avLst/>
          </a:prstGeom>
          <a:noFill/>
          <a:ln/>
        </p:spPr>
        <p:txBody>
          <a:bodyPr wrap="square" lIns="0" tIns="0" rIns="0" bIns="0" rtlCol="0" anchor="ctr"/>
          <a:lstStyle/>
          <a:p>
            <a:pPr marL="0" indent="0">
              <a:buNone/>
            </a:pPr>
            <a:r>
              <a:rPr lang="en-US" sz="3200" b="1" dirty="0">
                <a:solidFill>
                  <a:srgbClr val="C5A572"/>
                </a:solidFill>
                <a:latin typeface="Georgia" pitchFamily="34" charset="0"/>
                <a:ea typeface="Georgia" pitchFamily="34" charset="-122"/>
                <a:cs typeface="Georgia" pitchFamily="34" charset="-120"/>
              </a:rPr>
              <a:t>09</a:t>
            </a:r>
            <a:endParaRPr lang="en-US" sz="3200" dirty="0"/>
          </a:p>
        </p:txBody>
      </p:sp>
      <p:sp>
        <p:nvSpPr>
          <p:cNvPr id="3" name="Text 1"/>
          <p:cNvSpPr/>
          <p:nvPr/>
        </p:nvSpPr>
        <p:spPr>
          <a:xfrm>
            <a:off x="1554480" y="0"/>
            <a:ext cx="7132320" cy="640080"/>
          </a:xfrm>
          <a:prstGeom prst="rect">
            <a:avLst/>
          </a:prstGeom>
          <a:noFill/>
          <a:ln/>
        </p:spPr>
        <p:txBody>
          <a:bodyPr wrap="square" lIns="0" tIns="0" rIns="0" bIns="0" rtlCol="0" anchor="ctr"/>
          <a:lstStyle/>
          <a:p>
            <a:pPr marL="0" indent="0">
              <a:buNone/>
            </a:pPr>
            <a:r>
              <a:rPr lang="en-US" sz="2600" b="1" dirty="0">
                <a:solidFill>
                  <a:srgbClr val="2B2B2B"/>
                </a:solidFill>
                <a:latin typeface="Georgia" pitchFamily="34" charset="0"/>
                <a:ea typeface="Georgia" pitchFamily="34" charset="-122"/>
                <a:cs typeface="Georgia" pitchFamily="34" charset="-120"/>
              </a:rPr>
              <a:t>Interfaccia utente</a:t>
            </a:r>
            <a:endParaRPr lang="en-US" sz="2600" dirty="0"/>
          </a:p>
        </p:txBody>
      </p:sp>
      <p:sp>
        <p:nvSpPr>
          <p:cNvPr id="4" name="Shape 2"/>
          <p:cNvSpPr/>
          <p:nvPr/>
        </p:nvSpPr>
        <p:spPr>
          <a:xfrm>
            <a:off x="147753" y="640080"/>
            <a:ext cx="8539047" cy="0"/>
          </a:xfrm>
          <a:prstGeom prst="line">
            <a:avLst/>
          </a:prstGeom>
          <a:noFill/>
          <a:ln w="25400">
            <a:solidFill>
              <a:srgbClr val="B85042"/>
            </a:solidFill>
            <a:prstDash val="solid"/>
          </a:ln>
        </p:spPr>
      </p:sp>
      <p:sp>
        <p:nvSpPr>
          <p:cNvPr id="14" name="Text 12"/>
          <p:cNvSpPr/>
          <p:nvPr/>
        </p:nvSpPr>
        <p:spPr>
          <a:xfrm>
            <a:off x="457200" y="3904488"/>
            <a:ext cx="8427877" cy="1188720"/>
          </a:xfrm>
          <a:prstGeom prst="rect">
            <a:avLst/>
          </a:prstGeom>
          <a:noFill/>
          <a:ln/>
        </p:spPr>
        <p:txBody>
          <a:bodyPr wrap="square" rtlCol="0" anchor="t"/>
          <a:lstStyle/>
          <a:p>
            <a:r>
              <a:rPr lang="it-IT" sz="1200" i="1" dirty="0" smtClean="0"/>
              <a:t>La scelta è ricaduta sul </a:t>
            </a:r>
            <a:r>
              <a:rPr lang="it-IT" sz="1200" i="1" dirty="0" smtClean="0"/>
              <a:t>contrasto tra nero e oro perché sono i colori che dominano l’interno delle grandi chiese barocche e rendono il sito elegante. Il font Georgia è stato usato per dare un tono storico ai testi, ricordando le antiche stampe. La divisione dello schermo, con la mappa a destra e le informazioni a sinistra, serve a permettere all'utente di leggere la storia dei monumenti senza mai perdere l'orientamento durante il percorso.</a:t>
            </a:r>
            <a:endParaRPr lang="en-US" sz="1200" i="1" dirty="0"/>
          </a:p>
        </p:txBody>
      </p:sp>
      <p:sp>
        <p:nvSpPr>
          <p:cNvPr id="15" name="Shape 13"/>
          <p:cNvSpPr/>
          <p:nvPr/>
        </p:nvSpPr>
        <p:spPr>
          <a:xfrm>
            <a:off x="457200" y="4800600"/>
            <a:ext cx="8229600" cy="0"/>
          </a:xfrm>
          <a:prstGeom prst="line">
            <a:avLst/>
          </a:prstGeom>
          <a:noFill/>
          <a:ln w="6350">
            <a:solidFill>
              <a:srgbClr val="C5A572"/>
            </a:solidFill>
            <a:prstDash val="solid"/>
          </a:ln>
        </p:spPr>
      </p:sp>
      <p:sp>
        <p:nvSpPr>
          <p:cNvPr id="16" name="Text 14"/>
          <p:cNvSpPr/>
          <p:nvPr/>
        </p:nvSpPr>
        <p:spPr>
          <a:xfrm>
            <a:off x="457200" y="4864608"/>
            <a:ext cx="6400800" cy="228600"/>
          </a:xfrm>
          <a:prstGeom prst="rect">
            <a:avLst/>
          </a:prstGeom>
          <a:noFill/>
          <a:ln/>
        </p:spPr>
        <p:txBody>
          <a:bodyPr wrap="square" rtlCol="0" anchor="ctr"/>
          <a:lstStyle/>
          <a:p>
            <a:pPr marL="0" indent="0">
              <a:buNone/>
            </a:pPr>
            <a:r>
              <a:rPr lang="en-US" sz="900" b="1" dirty="0">
                <a:solidFill>
                  <a:srgbClr val="B85042"/>
                </a:solidFill>
                <a:latin typeface="Calibri" pitchFamily="34" charset="0"/>
                <a:ea typeface="Calibri" pitchFamily="34" charset="-122"/>
                <a:cs typeface="Calibri" pitchFamily="34" charset="-120"/>
              </a:rPr>
              <a:t>Passeggiate Romane</a:t>
            </a:r>
            <a:r>
              <a:rPr lang="en-US" sz="900" dirty="0">
                <a:solidFill>
                  <a:srgbClr val="8A8A8A"/>
                </a:solidFill>
                <a:latin typeface="Calibri" pitchFamily="34" charset="0"/>
                <a:ea typeface="Calibri" pitchFamily="34" charset="-122"/>
                <a:cs typeface="Calibri" pitchFamily="34" charset="-120"/>
              </a:rPr>
              <a:t>  ·  </a:t>
            </a:r>
            <a:r>
              <a:rPr lang="en-US" sz="900" dirty="0" smtClean="0">
                <a:solidFill>
                  <a:srgbClr val="8A8A8A"/>
                </a:solidFill>
                <a:latin typeface="Calibri" pitchFamily="34" charset="0"/>
                <a:ea typeface="Calibri" pitchFamily="34" charset="-122"/>
                <a:cs typeface="Calibri" pitchFamily="34" charset="-120"/>
              </a:rPr>
              <a:t>Lorenzo </a:t>
            </a:r>
            <a:r>
              <a:rPr lang="en-US" sz="900" dirty="0" smtClean="0">
                <a:solidFill>
                  <a:srgbClr val="8A8A8A"/>
                </a:solidFill>
                <a:latin typeface="Calibri" pitchFamily="34" charset="0"/>
                <a:ea typeface="Calibri" pitchFamily="34" charset="-122"/>
                <a:cs typeface="Calibri" pitchFamily="34" charset="-120"/>
              </a:rPr>
              <a:t>Fagiani </a:t>
            </a:r>
            <a:r>
              <a:rPr lang="en-US" sz="900" dirty="0">
                <a:solidFill>
                  <a:srgbClr val="8A8A8A"/>
                </a:solidFill>
                <a:latin typeface="Calibri" pitchFamily="34" charset="0"/>
                <a:ea typeface="Calibri" pitchFamily="34" charset="-122"/>
                <a:cs typeface="Calibri" pitchFamily="34" charset="-120"/>
              </a:rPr>
              <a:t>· A.A. </a:t>
            </a:r>
            <a:r>
              <a:rPr lang="en-US" sz="900" dirty="0" smtClean="0">
                <a:solidFill>
                  <a:srgbClr val="8A8A8A"/>
                </a:solidFill>
                <a:latin typeface="Calibri" pitchFamily="34" charset="0"/>
                <a:ea typeface="Calibri" pitchFamily="34" charset="-122"/>
                <a:cs typeface="Calibri" pitchFamily="34" charset="-120"/>
              </a:rPr>
              <a:t>2025/2026</a:t>
            </a:r>
            <a:endParaRPr lang="en-US" sz="900" dirty="0"/>
          </a:p>
        </p:txBody>
      </p:sp>
      <p:sp>
        <p:nvSpPr>
          <p:cNvPr id="17" name="Text 15"/>
          <p:cNvSpPr/>
          <p:nvPr/>
        </p:nvSpPr>
        <p:spPr>
          <a:xfrm>
            <a:off x="8046720" y="4864608"/>
            <a:ext cx="640080" cy="22860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11 / 14</a:t>
            </a:r>
            <a:endParaRPr lang="en-US" sz="900" dirty="0"/>
          </a:p>
        </p:txBody>
      </p:sp>
      <p:pic>
        <p:nvPicPr>
          <p:cNvPr id="18" name="Immagine 17" descr="Screenshot 2026-04-26 103512.png"/>
          <p:cNvPicPr>
            <a:picLocks noChangeAspect="1"/>
          </p:cNvPicPr>
          <p:nvPr/>
        </p:nvPicPr>
        <p:blipFill>
          <a:blip r:embed="rId3"/>
          <a:stretch>
            <a:fillRect/>
          </a:stretch>
        </p:blipFill>
        <p:spPr>
          <a:xfrm>
            <a:off x="147753" y="770854"/>
            <a:ext cx="2574346" cy="2960935"/>
          </a:xfrm>
          <a:prstGeom prst="rect">
            <a:avLst/>
          </a:prstGeom>
        </p:spPr>
      </p:pic>
      <p:pic>
        <p:nvPicPr>
          <p:cNvPr id="19" name="Immagine 18" descr="Screenshot 2026-04-26 151813.png"/>
          <p:cNvPicPr>
            <a:picLocks noChangeAspect="1"/>
          </p:cNvPicPr>
          <p:nvPr/>
        </p:nvPicPr>
        <p:blipFill>
          <a:blip r:embed="rId4"/>
          <a:stretch>
            <a:fillRect/>
          </a:stretch>
        </p:blipFill>
        <p:spPr>
          <a:xfrm>
            <a:off x="2835641" y="770854"/>
            <a:ext cx="1077862" cy="2960934"/>
          </a:xfrm>
          <a:prstGeom prst="rect">
            <a:avLst/>
          </a:prstGeom>
        </p:spPr>
      </p:pic>
      <p:pic>
        <p:nvPicPr>
          <p:cNvPr id="22" name="Immagine 21" descr="Screenshot 2026-04-26 152017.png"/>
          <p:cNvPicPr>
            <a:picLocks noChangeAspect="1"/>
          </p:cNvPicPr>
          <p:nvPr/>
        </p:nvPicPr>
        <p:blipFill>
          <a:blip r:embed="rId5"/>
          <a:stretch>
            <a:fillRect/>
          </a:stretch>
        </p:blipFill>
        <p:spPr>
          <a:xfrm>
            <a:off x="3913503" y="770853"/>
            <a:ext cx="2085692" cy="2960935"/>
          </a:xfrm>
          <a:prstGeom prst="rect">
            <a:avLst/>
          </a:prstGeom>
        </p:spPr>
      </p:pic>
      <p:pic>
        <p:nvPicPr>
          <p:cNvPr id="1027" name="Picture 3"/>
          <p:cNvPicPr>
            <a:picLocks noChangeAspect="1" noChangeArrowheads="1"/>
          </p:cNvPicPr>
          <p:nvPr/>
        </p:nvPicPr>
        <p:blipFill>
          <a:blip r:embed="rId6"/>
          <a:srcRect/>
          <a:stretch>
            <a:fillRect/>
          </a:stretch>
        </p:blipFill>
        <p:spPr bwMode="auto">
          <a:xfrm>
            <a:off x="6035043" y="770854"/>
            <a:ext cx="2954210" cy="499789"/>
          </a:xfrm>
          <a:prstGeom prst="rect">
            <a:avLst/>
          </a:prstGeom>
          <a:noFill/>
          <a:ln w="9525">
            <a:noFill/>
            <a:miter lim="800000"/>
            <a:headEnd/>
            <a:tailEnd/>
          </a:ln>
          <a:effectLst/>
        </p:spPr>
      </p:pic>
      <p:pic>
        <p:nvPicPr>
          <p:cNvPr id="1029" name="Picture 5"/>
          <p:cNvPicPr>
            <a:picLocks noChangeAspect="1" noChangeArrowheads="1"/>
          </p:cNvPicPr>
          <p:nvPr/>
        </p:nvPicPr>
        <p:blipFill>
          <a:blip r:embed="rId7"/>
          <a:srcRect/>
          <a:stretch>
            <a:fillRect/>
          </a:stretch>
        </p:blipFill>
        <p:spPr bwMode="auto">
          <a:xfrm>
            <a:off x="6035044" y="1270643"/>
            <a:ext cx="2954210" cy="593326"/>
          </a:xfrm>
          <a:prstGeom prst="rect">
            <a:avLst/>
          </a:prstGeom>
          <a:noFill/>
          <a:ln w="9525">
            <a:noFill/>
            <a:miter lim="800000"/>
            <a:headEnd/>
            <a:tailEnd/>
          </a:ln>
          <a:effectLst/>
        </p:spPr>
      </p:pic>
      <p:pic>
        <p:nvPicPr>
          <p:cNvPr id="1030" name="Picture 6"/>
          <p:cNvPicPr>
            <a:picLocks noChangeAspect="1" noChangeArrowheads="1"/>
          </p:cNvPicPr>
          <p:nvPr/>
        </p:nvPicPr>
        <p:blipFill>
          <a:blip r:embed="rId8"/>
          <a:srcRect/>
          <a:stretch>
            <a:fillRect/>
          </a:stretch>
        </p:blipFill>
        <p:spPr bwMode="auto">
          <a:xfrm>
            <a:off x="6035040" y="1863970"/>
            <a:ext cx="2954214" cy="654148"/>
          </a:xfrm>
          <a:prstGeom prst="rect">
            <a:avLst/>
          </a:prstGeom>
          <a:noFill/>
          <a:ln w="9525">
            <a:noFill/>
            <a:miter lim="800000"/>
            <a:headEnd/>
            <a:tailEnd/>
          </a:ln>
          <a:effectLst/>
        </p:spPr>
      </p:pic>
      <p:pic>
        <p:nvPicPr>
          <p:cNvPr id="1032" name="Picture 8"/>
          <p:cNvPicPr>
            <a:picLocks noChangeAspect="1" noChangeArrowheads="1"/>
          </p:cNvPicPr>
          <p:nvPr/>
        </p:nvPicPr>
        <p:blipFill>
          <a:blip r:embed="rId9"/>
          <a:srcRect/>
          <a:stretch>
            <a:fillRect/>
          </a:stretch>
        </p:blipFill>
        <p:spPr bwMode="auto">
          <a:xfrm>
            <a:off x="6035044" y="2518118"/>
            <a:ext cx="2954209" cy="246183"/>
          </a:xfrm>
          <a:prstGeom prst="rect">
            <a:avLst/>
          </a:prstGeom>
          <a:noFill/>
          <a:ln w="9525">
            <a:noFill/>
            <a:miter lim="800000"/>
            <a:headEnd/>
            <a:tailEnd/>
          </a:ln>
          <a:effectLst/>
        </p:spPr>
      </p:pic>
      <p:pic>
        <p:nvPicPr>
          <p:cNvPr id="1033" name="Picture 9"/>
          <p:cNvPicPr>
            <a:picLocks noChangeAspect="1" noChangeArrowheads="1"/>
          </p:cNvPicPr>
          <p:nvPr/>
        </p:nvPicPr>
        <p:blipFill>
          <a:blip r:embed="rId10"/>
          <a:srcRect/>
          <a:stretch>
            <a:fillRect/>
          </a:stretch>
        </p:blipFill>
        <p:spPr bwMode="auto">
          <a:xfrm>
            <a:off x="6035046" y="2764301"/>
            <a:ext cx="2954208" cy="633040"/>
          </a:xfrm>
          <a:prstGeom prst="rect">
            <a:avLst/>
          </a:prstGeom>
          <a:noFill/>
          <a:ln w="9525">
            <a:noFill/>
            <a:miter lim="800000"/>
            <a:headEnd/>
            <a:tailEnd/>
          </a:ln>
          <a:effectLst/>
        </p:spPr>
      </p:pic>
      <p:pic>
        <p:nvPicPr>
          <p:cNvPr id="1035" name="Picture 11"/>
          <p:cNvPicPr>
            <a:picLocks noChangeAspect="1" noChangeArrowheads="1"/>
          </p:cNvPicPr>
          <p:nvPr/>
        </p:nvPicPr>
        <p:blipFill>
          <a:blip r:embed="rId11"/>
          <a:srcRect/>
          <a:stretch>
            <a:fillRect/>
          </a:stretch>
        </p:blipFill>
        <p:spPr bwMode="auto">
          <a:xfrm>
            <a:off x="6035043" y="3386463"/>
            <a:ext cx="2954211" cy="345326"/>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2"/>
        </a:solidFill>
        <a:effectLst/>
      </p:bgPr>
    </p:bg>
    <p:spTree>
      <p:nvGrpSpPr>
        <p:cNvPr id="1" name=""/>
        <p:cNvGrpSpPr/>
        <p:nvPr/>
      </p:nvGrpSpPr>
      <p:grpSpPr>
        <a:xfrm>
          <a:off x="0" y="0"/>
          <a:ext cx="0" cy="0"/>
          <a:chOff x="0" y="0"/>
          <a:chExt cx="0" cy="0"/>
        </a:xfrm>
      </p:grpSpPr>
      <p:sp>
        <p:nvSpPr>
          <p:cNvPr id="2" name="Text 0"/>
          <p:cNvSpPr/>
          <p:nvPr/>
        </p:nvSpPr>
        <p:spPr>
          <a:xfrm>
            <a:off x="457200" y="320040"/>
            <a:ext cx="1097280" cy="640080"/>
          </a:xfrm>
          <a:prstGeom prst="rect">
            <a:avLst/>
          </a:prstGeom>
          <a:noFill/>
          <a:ln/>
        </p:spPr>
        <p:txBody>
          <a:bodyPr wrap="square" lIns="0" tIns="0" rIns="0" bIns="0" rtlCol="0" anchor="ctr"/>
          <a:lstStyle/>
          <a:p>
            <a:pPr marL="0" indent="0">
              <a:buNone/>
            </a:pPr>
            <a:r>
              <a:rPr lang="en-US" sz="3200" b="1" dirty="0">
                <a:solidFill>
                  <a:srgbClr val="C5A572"/>
                </a:solidFill>
                <a:latin typeface="Georgia" pitchFamily="34" charset="0"/>
                <a:ea typeface="Georgia" pitchFamily="34" charset="-122"/>
                <a:cs typeface="Georgia" pitchFamily="34" charset="-120"/>
              </a:rPr>
              <a:t>10</a:t>
            </a:r>
            <a:endParaRPr lang="en-US" sz="3200" dirty="0"/>
          </a:p>
        </p:txBody>
      </p:sp>
      <p:sp>
        <p:nvSpPr>
          <p:cNvPr id="3" name="Text 1"/>
          <p:cNvSpPr/>
          <p:nvPr/>
        </p:nvSpPr>
        <p:spPr>
          <a:xfrm>
            <a:off x="1554480" y="320040"/>
            <a:ext cx="7132320" cy="640080"/>
          </a:xfrm>
          <a:prstGeom prst="rect">
            <a:avLst/>
          </a:prstGeom>
          <a:noFill/>
          <a:ln/>
        </p:spPr>
        <p:txBody>
          <a:bodyPr wrap="square" lIns="0" tIns="0" rIns="0" bIns="0" rtlCol="0" anchor="ctr"/>
          <a:lstStyle/>
          <a:p>
            <a:pPr marL="0" indent="0">
              <a:buNone/>
            </a:pPr>
            <a:r>
              <a:rPr lang="en-US" sz="2600" b="1" dirty="0">
                <a:solidFill>
                  <a:srgbClr val="2B2B2B"/>
                </a:solidFill>
                <a:latin typeface="Georgia" pitchFamily="34" charset="0"/>
                <a:ea typeface="Georgia" pitchFamily="34" charset="-122"/>
                <a:cs typeface="Georgia" pitchFamily="34" charset="-120"/>
              </a:rPr>
              <a:t>Elementi di originalità</a:t>
            </a:r>
            <a:endParaRPr lang="en-US" sz="2600" dirty="0"/>
          </a:p>
        </p:txBody>
      </p:sp>
      <p:sp>
        <p:nvSpPr>
          <p:cNvPr id="4" name="Shape 2"/>
          <p:cNvSpPr/>
          <p:nvPr/>
        </p:nvSpPr>
        <p:spPr>
          <a:xfrm>
            <a:off x="457200" y="1005840"/>
            <a:ext cx="1828800" cy="0"/>
          </a:xfrm>
          <a:prstGeom prst="line">
            <a:avLst/>
          </a:prstGeom>
          <a:noFill/>
          <a:ln w="25400">
            <a:solidFill>
              <a:srgbClr val="B85042"/>
            </a:solidFill>
            <a:prstDash val="solid"/>
          </a:ln>
        </p:spPr>
      </p:sp>
      <p:sp>
        <p:nvSpPr>
          <p:cNvPr id="5" name="Shape 3"/>
          <p:cNvSpPr/>
          <p:nvPr/>
        </p:nvSpPr>
        <p:spPr>
          <a:xfrm>
            <a:off x="457200" y="1280160"/>
            <a:ext cx="8229600" cy="914400"/>
          </a:xfrm>
          <a:prstGeom prst="rect">
            <a:avLst/>
          </a:prstGeom>
          <a:solidFill>
            <a:srgbClr val="FFFFFF"/>
          </a:solidFill>
          <a:ln w="12700">
            <a:solidFill>
              <a:srgbClr val="E7E8D1"/>
            </a:solidFill>
            <a:prstDash val="solid"/>
          </a:ln>
        </p:spPr>
      </p:sp>
      <p:sp>
        <p:nvSpPr>
          <p:cNvPr id="6" name="Text 4"/>
          <p:cNvSpPr/>
          <p:nvPr/>
        </p:nvSpPr>
        <p:spPr>
          <a:xfrm>
            <a:off x="594360" y="1417320"/>
            <a:ext cx="640080" cy="640080"/>
          </a:xfrm>
          <a:prstGeom prst="rect">
            <a:avLst/>
          </a:prstGeom>
          <a:noFill/>
          <a:ln/>
        </p:spPr>
        <p:txBody>
          <a:bodyPr wrap="square" lIns="0" tIns="0" rIns="0" bIns="0" rtlCol="0" anchor="ctr"/>
          <a:lstStyle/>
          <a:p>
            <a:pPr marL="0" indent="0">
              <a:buNone/>
            </a:pPr>
            <a:r>
              <a:rPr lang="en-US" sz="2600" b="1" dirty="0">
                <a:solidFill>
                  <a:srgbClr val="B85042"/>
                </a:solidFill>
                <a:latin typeface="Georgia" pitchFamily="34" charset="0"/>
                <a:ea typeface="Georgia" pitchFamily="34" charset="-122"/>
                <a:cs typeface="Georgia" pitchFamily="34" charset="-120"/>
              </a:rPr>
              <a:t>①</a:t>
            </a:r>
            <a:endParaRPr lang="en-US" sz="2600" dirty="0"/>
          </a:p>
        </p:txBody>
      </p:sp>
      <p:sp>
        <p:nvSpPr>
          <p:cNvPr id="7" name="Text 5"/>
          <p:cNvSpPr/>
          <p:nvPr/>
        </p:nvSpPr>
        <p:spPr>
          <a:xfrm>
            <a:off x="1280160" y="1371600"/>
            <a:ext cx="7132320" cy="320040"/>
          </a:xfrm>
          <a:prstGeom prst="rect">
            <a:avLst/>
          </a:prstGeom>
          <a:noFill/>
          <a:ln/>
        </p:spPr>
        <p:txBody>
          <a:bodyPr wrap="square" lIns="0" tIns="0" rIns="0" bIns="0"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Esperienza tra le tappe</a:t>
            </a:r>
            <a:endParaRPr lang="en-US" sz="1400" dirty="0"/>
          </a:p>
        </p:txBody>
      </p:sp>
      <p:sp>
        <p:nvSpPr>
          <p:cNvPr id="8" name="Text 6"/>
          <p:cNvSpPr/>
          <p:nvPr/>
        </p:nvSpPr>
        <p:spPr>
          <a:xfrm>
            <a:off x="1280160" y="1691640"/>
            <a:ext cx="7132320" cy="457200"/>
          </a:xfrm>
          <a:prstGeom prst="rect">
            <a:avLst/>
          </a:prstGeom>
          <a:noFill/>
          <a:ln/>
        </p:spPr>
        <p:txBody>
          <a:bodyPr wrap="square" lIns="0" tIns="0" rIns="0" bIns="0" rtlCol="0" anchor="ctr"/>
          <a:lstStyle/>
          <a:p>
            <a:r>
              <a:rPr lang="it-IT" sz="900" i="1" dirty="0" smtClean="0"/>
              <a:t>L'utente vive un'esperienza immersiva e guidata: ogni tappa prevede precise indicazioni di ascolto (es. riprodurre Vivaldi in un punto esatto della navata) e specifici "foto-task". Il JSON fornisce consigli su come posizionarsi o quale luce sfruttare (es. la 'golden hour' a San Pietro o le linee di fuga nel cortile Doria Pamphilj) per comprendere appieno i volumi architettonici</a:t>
            </a:r>
            <a:r>
              <a:rPr lang="it-IT" sz="900" dirty="0" smtClean="0"/>
              <a:t>.</a:t>
            </a:r>
            <a:endParaRPr lang="en-US" sz="900" dirty="0"/>
          </a:p>
        </p:txBody>
      </p:sp>
      <p:sp>
        <p:nvSpPr>
          <p:cNvPr id="9" name="Shape 7"/>
          <p:cNvSpPr/>
          <p:nvPr/>
        </p:nvSpPr>
        <p:spPr>
          <a:xfrm>
            <a:off x="457200" y="2331720"/>
            <a:ext cx="8229600" cy="1051560"/>
          </a:xfrm>
          <a:prstGeom prst="rect">
            <a:avLst/>
          </a:prstGeom>
          <a:solidFill>
            <a:srgbClr val="FFFFFF"/>
          </a:solidFill>
          <a:ln w="12700">
            <a:solidFill>
              <a:srgbClr val="E7E8D1"/>
            </a:solidFill>
            <a:prstDash val="solid"/>
          </a:ln>
        </p:spPr>
      </p:sp>
      <p:sp>
        <p:nvSpPr>
          <p:cNvPr id="10" name="Text 8"/>
          <p:cNvSpPr/>
          <p:nvPr/>
        </p:nvSpPr>
        <p:spPr>
          <a:xfrm>
            <a:off x="594360" y="2468880"/>
            <a:ext cx="640080" cy="640080"/>
          </a:xfrm>
          <a:prstGeom prst="rect">
            <a:avLst/>
          </a:prstGeom>
          <a:noFill/>
          <a:ln/>
        </p:spPr>
        <p:txBody>
          <a:bodyPr wrap="square" lIns="0" tIns="0" rIns="0" bIns="0" rtlCol="0" anchor="ctr"/>
          <a:lstStyle/>
          <a:p>
            <a:pPr marL="0" indent="0">
              <a:buNone/>
            </a:pPr>
            <a:r>
              <a:rPr lang="en-US" sz="2600" b="1" dirty="0">
                <a:solidFill>
                  <a:srgbClr val="B85042"/>
                </a:solidFill>
                <a:latin typeface="Georgia" pitchFamily="34" charset="0"/>
                <a:ea typeface="Georgia" pitchFamily="34" charset="-122"/>
                <a:cs typeface="Georgia" pitchFamily="34" charset="-120"/>
              </a:rPr>
              <a:t>②</a:t>
            </a:r>
            <a:endParaRPr lang="en-US" sz="2600" dirty="0"/>
          </a:p>
        </p:txBody>
      </p:sp>
      <p:sp>
        <p:nvSpPr>
          <p:cNvPr id="11" name="Text 9"/>
          <p:cNvSpPr/>
          <p:nvPr/>
        </p:nvSpPr>
        <p:spPr>
          <a:xfrm>
            <a:off x="1280160" y="2331720"/>
            <a:ext cx="7132320" cy="320040"/>
          </a:xfrm>
          <a:prstGeom prst="rect">
            <a:avLst/>
          </a:prstGeom>
          <a:noFill/>
          <a:ln/>
        </p:spPr>
        <p:txBody>
          <a:bodyPr wrap="square" lIns="0" tIns="0" rIns="0" bIns="0"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Scelte editoriali</a:t>
            </a:r>
            <a:endParaRPr lang="en-US" sz="1400" dirty="0"/>
          </a:p>
        </p:txBody>
      </p:sp>
      <p:sp>
        <p:nvSpPr>
          <p:cNvPr id="12" name="Text 10"/>
          <p:cNvSpPr/>
          <p:nvPr/>
        </p:nvSpPr>
        <p:spPr>
          <a:xfrm>
            <a:off x="1280160" y="2743200"/>
            <a:ext cx="7132320" cy="457200"/>
          </a:xfrm>
          <a:prstGeom prst="rect">
            <a:avLst/>
          </a:prstGeom>
          <a:noFill/>
          <a:ln/>
        </p:spPr>
        <p:txBody>
          <a:bodyPr wrap="square" lIns="0" tIns="0" rIns="0" bIns="0" rtlCol="0" anchor="ctr"/>
          <a:lstStyle/>
          <a:p>
            <a:r>
              <a:rPr lang="it-IT" sz="900" i="1" dirty="0" smtClean="0"/>
              <a:t>I libri citati in biografia(</a:t>
            </a:r>
            <a:r>
              <a:rPr lang="en-US" sz="900" dirty="0" smtClean="0"/>
              <a:t>Hibbard, </a:t>
            </a:r>
            <a:r>
              <a:rPr lang="it-IT" sz="900" dirty="0" smtClean="0"/>
              <a:t>Wittkower, </a:t>
            </a:r>
            <a:r>
              <a:rPr lang="it-IT" sz="900" dirty="0" smtClean="0"/>
              <a:t>Norberg-Schulz</a:t>
            </a:r>
            <a:r>
              <a:rPr lang="it-IT" sz="900" dirty="0" smtClean="0"/>
              <a:t>,)</a:t>
            </a:r>
            <a:r>
              <a:rPr lang="it-IT" sz="900" i="1" dirty="0" smtClean="0"/>
              <a:t> sono stati fondamentali per capire a pieno il punto di vista di Maderno e la sua reale influenza sul Barocco; la narrazione </a:t>
            </a:r>
            <a:r>
              <a:rPr lang="it-IT" sz="900" i="1" dirty="0" smtClean="0"/>
              <a:t>è </a:t>
            </a:r>
            <a:r>
              <a:rPr lang="it-IT" sz="900" i="1" dirty="0" smtClean="0"/>
              <a:t>poi rafforzata </a:t>
            </a:r>
            <a:r>
              <a:rPr lang="it-IT" sz="900" i="1" dirty="0" smtClean="0"/>
              <a:t>da una colonna sonora curata con brani dell'epoca (Corelli, Frescobaldi, Vivaldi, Monteverdi) e citazioni storiche (Goethe, Milizia, </a:t>
            </a:r>
            <a:r>
              <a:rPr lang="it-IT" sz="900" i="1" dirty="0" smtClean="0"/>
              <a:t>Baglione, de Brosses). </a:t>
            </a:r>
            <a:r>
              <a:rPr lang="it-IT" sz="900" i="1" dirty="0" smtClean="0"/>
              <a:t>A livello visivo, l'interfaccia adotta una palette cromatica "Barocca" (nero ossidiana e oro metallico) e una tipografia solenne (font Georgia) per calare l'utente nell'atmosfera del Seicento fin dal primo caricamento</a:t>
            </a:r>
            <a:r>
              <a:rPr lang="it-IT" sz="900" dirty="0" smtClean="0"/>
              <a:t>.</a:t>
            </a:r>
            <a:endParaRPr lang="en-US" sz="900" dirty="0"/>
          </a:p>
        </p:txBody>
      </p:sp>
      <p:sp>
        <p:nvSpPr>
          <p:cNvPr id="13" name="Shape 11"/>
          <p:cNvSpPr/>
          <p:nvPr/>
        </p:nvSpPr>
        <p:spPr>
          <a:xfrm>
            <a:off x="457200" y="3615396"/>
            <a:ext cx="8229600" cy="921435"/>
          </a:xfrm>
          <a:prstGeom prst="rect">
            <a:avLst/>
          </a:prstGeom>
          <a:solidFill>
            <a:srgbClr val="FFFFFF"/>
          </a:solidFill>
          <a:ln w="12700">
            <a:solidFill>
              <a:srgbClr val="E7E8D1"/>
            </a:solidFill>
            <a:prstDash val="solid"/>
          </a:ln>
        </p:spPr>
      </p:sp>
      <p:sp>
        <p:nvSpPr>
          <p:cNvPr id="14" name="Text 12"/>
          <p:cNvSpPr/>
          <p:nvPr/>
        </p:nvSpPr>
        <p:spPr>
          <a:xfrm>
            <a:off x="594360" y="3520440"/>
            <a:ext cx="640080" cy="640080"/>
          </a:xfrm>
          <a:prstGeom prst="rect">
            <a:avLst/>
          </a:prstGeom>
          <a:noFill/>
          <a:ln/>
        </p:spPr>
        <p:txBody>
          <a:bodyPr wrap="square" lIns="0" tIns="0" rIns="0" bIns="0" rtlCol="0" anchor="ctr"/>
          <a:lstStyle/>
          <a:p>
            <a:pPr marL="0" indent="0">
              <a:buNone/>
            </a:pPr>
            <a:r>
              <a:rPr lang="en-US" sz="2600" b="1" dirty="0">
                <a:solidFill>
                  <a:srgbClr val="B85042"/>
                </a:solidFill>
                <a:latin typeface="Georgia" pitchFamily="34" charset="0"/>
                <a:ea typeface="Georgia" pitchFamily="34" charset="-122"/>
                <a:cs typeface="Georgia" pitchFamily="34" charset="-120"/>
              </a:rPr>
              <a:t>③</a:t>
            </a:r>
            <a:endParaRPr lang="en-US" sz="2600" dirty="0"/>
          </a:p>
        </p:txBody>
      </p:sp>
      <p:sp>
        <p:nvSpPr>
          <p:cNvPr id="15" name="Text 13"/>
          <p:cNvSpPr/>
          <p:nvPr/>
        </p:nvSpPr>
        <p:spPr>
          <a:xfrm>
            <a:off x="1280160" y="3611880"/>
            <a:ext cx="7132320" cy="320040"/>
          </a:xfrm>
          <a:prstGeom prst="rect">
            <a:avLst/>
          </a:prstGeom>
          <a:noFill/>
          <a:ln/>
        </p:spPr>
        <p:txBody>
          <a:bodyPr wrap="square" lIns="0" tIns="0" rIns="0" bIns="0"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Estensione del template</a:t>
            </a:r>
            <a:endParaRPr lang="en-US" sz="1400" dirty="0"/>
          </a:p>
        </p:txBody>
      </p:sp>
      <p:sp>
        <p:nvSpPr>
          <p:cNvPr id="16" name="Text 14"/>
          <p:cNvSpPr/>
          <p:nvPr/>
        </p:nvSpPr>
        <p:spPr>
          <a:xfrm>
            <a:off x="1280160" y="3931920"/>
            <a:ext cx="7132320" cy="457200"/>
          </a:xfrm>
          <a:prstGeom prst="rect">
            <a:avLst/>
          </a:prstGeom>
          <a:noFill/>
          <a:ln/>
        </p:spPr>
        <p:txBody>
          <a:bodyPr wrap="square" lIns="0" tIns="0" rIns="0" bIns="0" rtlCol="0" anchor="ctr"/>
          <a:lstStyle/>
          <a:p>
            <a:r>
              <a:rPr lang="it-IT" sz="900" i="1" dirty="0" smtClean="0"/>
              <a:t>Rispetto al file base fornito per il progetto, il database (file JSON) è stato arricchito con nuove categorie specifiche, create appositamente per gestire i dati su musica, letteratura e atmosfera in ogni singola tappa. Inoltre, a livello visivo, il sito è stato arricchito con animazioni e movimenti fluidi per rendere la comparsa dei testi e dei menù più elegante e moderna</a:t>
            </a:r>
            <a:r>
              <a:rPr lang="it-IT" sz="900" dirty="0" smtClean="0"/>
              <a:t>.</a:t>
            </a:r>
            <a:endParaRPr lang="en-US" sz="900" dirty="0"/>
          </a:p>
        </p:txBody>
      </p:sp>
      <p:sp>
        <p:nvSpPr>
          <p:cNvPr id="17" name="Shape 15"/>
          <p:cNvSpPr/>
          <p:nvPr/>
        </p:nvSpPr>
        <p:spPr>
          <a:xfrm>
            <a:off x="457200" y="4800600"/>
            <a:ext cx="8229600" cy="0"/>
          </a:xfrm>
          <a:prstGeom prst="line">
            <a:avLst/>
          </a:prstGeom>
          <a:noFill/>
          <a:ln w="6350">
            <a:solidFill>
              <a:srgbClr val="C5A572"/>
            </a:solidFill>
            <a:prstDash val="solid"/>
          </a:ln>
        </p:spPr>
      </p:sp>
      <p:sp>
        <p:nvSpPr>
          <p:cNvPr id="18" name="Text 16"/>
          <p:cNvSpPr/>
          <p:nvPr/>
        </p:nvSpPr>
        <p:spPr>
          <a:xfrm>
            <a:off x="457200" y="4864608"/>
            <a:ext cx="6400800" cy="228600"/>
          </a:xfrm>
          <a:prstGeom prst="rect">
            <a:avLst/>
          </a:prstGeom>
          <a:noFill/>
          <a:ln/>
        </p:spPr>
        <p:txBody>
          <a:bodyPr wrap="square" rtlCol="0" anchor="ctr"/>
          <a:lstStyle/>
          <a:p>
            <a:pPr marL="0" indent="0">
              <a:buNone/>
            </a:pPr>
            <a:r>
              <a:rPr lang="en-US" sz="900" b="1" dirty="0">
                <a:solidFill>
                  <a:srgbClr val="B85042"/>
                </a:solidFill>
                <a:latin typeface="Calibri" pitchFamily="34" charset="0"/>
                <a:ea typeface="Calibri" pitchFamily="34" charset="-122"/>
                <a:cs typeface="Calibri" pitchFamily="34" charset="-120"/>
              </a:rPr>
              <a:t>Passeggiate Romane</a:t>
            </a:r>
            <a:r>
              <a:rPr lang="en-US" sz="900" dirty="0">
                <a:solidFill>
                  <a:srgbClr val="8A8A8A"/>
                </a:solidFill>
                <a:latin typeface="Calibri" pitchFamily="34" charset="0"/>
                <a:ea typeface="Calibri" pitchFamily="34" charset="-122"/>
                <a:cs typeface="Calibri" pitchFamily="34" charset="-120"/>
              </a:rPr>
              <a:t>  ·  </a:t>
            </a:r>
            <a:r>
              <a:rPr lang="en-US" sz="900" dirty="0" smtClean="0">
                <a:solidFill>
                  <a:srgbClr val="8A8A8A"/>
                </a:solidFill>
                <a:latin typeface="Calibri" pitchFamily="34" charset="0"/>
                <a:ea typeface="Calibri" pitchFamily="34" charset="-122"/>
                <a:cs typeface="Calibri" pitchFamily="34" charset="-120"/>
              </a:rPr>
              <a:t>Lorenzo </a:t>
            </a:r>
            <a:r>
              <a:rPr lang="en-US" sz="900" dirty="0" smtClean="0">
                <a:solidFill>
                  <a:srgbClr val="8A8A8A"/>
                </a:solidFill>
                <a:latin typeface="Calibri" pitchFamily="34" charset="0"/>
                <a:ea typeface="Calibri" pitchFamily="34" charset="-122"/>
                <a:cs typeface="Calibri" pitchFamily="34" charset="-120"/>
              </a:rPr>
              <a:t>Fagiani </a:t>
            </a:r>
            <a:r>
              <a:rPr lang="en-US" sz="900" dirty="0">
                <a:solidFill>
                  <a:srgbClr val="8A8A8A"/>
                </a:solidFill>
                <a:latin typeface="Calibri" pitchFamily="34" charset="0"/>
                <a:ea typeface="Calibri" pitchFamily="34" charset="-122"/>
                <a:cs typeface="Calibri" pitchFamily="34" charset="-120"/>
              </a:rPr>
              <a:t>· A.A. </a:t>
            </a:r>
            <a:r>
              <a:rPr lang="en-US" sz="900" dirty="0" smtClean="0">
                <a:solidFill>
                  <a:srgbClr val="8A8A8A"/>
                </a:solidFill>
                <a:latin typeface="Calibri" pitchFamily="34" charset="0"/>
                <a:ea typeface="Calibri" pitchFamily="34" charset="-122"/>
                <a:cs typeface="Calibri" pitchFamily="34" charset="-120"/>
              </a:rPr>
              <a:t>2025/2026</a:t>
            </a:r>
            <a:endParaRPr lang="en-US" sz="900" dirty="0"/>
          </a:p>
        </p:txBody>
      </p:sp>
      <p:sp>
        <p:nvSpPr>
          <p:cNvPr id="19" name="Text 17"/>
          <p:cNvSpPr/>
          <p:nvPr/>
        </p:nvSpPr>
        <p:spPr>
          <a:xfrm>
            <a:off x="8046720" y="4864608"/>
            <a:ext cx="640080" cy="22860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2"/>
        </a:solidFill>
        <a:effectLst/>
      </p:bgPr>
    </p:bg>
    <p:spTree>
      <p:nvGrpSpPr>
        <p:cNvPr id="1" name=""/>
        <p:cNvGrpSpPr/>
        <p:nvPr/>
      </p:nvGrpSpPr>
      <p:grpSpPr>
        <a:xfrm>
          <a:off x="0" y="0"/>
          <a:ext cx="0" cy="0"/>
          <a:chOff x="0" y="0"/>
          <a:chExt cx="0" cy="0"/>
        </a:xfrm>
      </p:grpSpPr>
      <p:sp>
        <p:nvSpPr>
          <p:cNvPr id="2" name="Text 0"/>
          <p:cNvSpPr/>
          <p:nvPr/>
        </p:nvSpPr>
        <p:spPr>
          <a:xfrm>
            <a:off x="457200" y="320040"/>
            <a:ext cx="1097280" cy="640080"/>
          </a:xfrm>
          <a:prstGeom prst="rect">
            <a:avLst/>
          </a:prstGeom>
          <a:noFill/>
          <a:ln/>
        </p:spPr>
        <p:txBody>
          <a:bodyPr wrap="square" lIns="0" tIns="0" rIns="0" bIns="0" rtlCol="0" anchor="ctr"/>
          <a:lstStyle/>
          <a:p>
            <a:pPr marL="0" indent="0">
              <a:buNone/>
            </a:pPr>
            <a:r>
              <a:rPr lang="en-US" sz="3200" b="1" dirty="0">
                <a:solidFill>
                  <a:srgbClr val="C5A572"/>
                </a:solidFill>
                <a:latin typeface="Georgia" pitchFamily="34" charset="0"/>
                <a:ea typeface="Georgia" pitchFamily="34" charset="-122"/>
                <a:cs typeface="Georgia" pitchFamily="34" charset="-120"/>
              </a:rPr>
              <a:t>11</a:t>
            </a:r>
            <a:endParaRPr lang="en-US" sz="3200" dirty="0"/>
          </a:p>
        </p:txBody>
      </p:sp>
      <p:sp>
        <p:nvSpPr>
          <p:cNvPr id="3" name="Text 1"/>
          <p:cNvSpPr/>
          <p:nvPr/>
        </p:nvSpPr>
        <p:spPr>
          <a:xfrm>
            <a:off x="1554480" y="320040"/>
            <a:ext cx="7132320" cy="640080"/>
          </a:xfrm>
          <a:prstGeom prst="rect">
            <a:avLst/>
          </a:prstGeom>
          <a:noFill/>
          <a:ln/>
        </p:spPr>
        <p:txBody>
          <a:bodyPr wrap="square" lIns="0" tIns="0" rIns="0" bIns="0" rtlCol="0" anchor="ctr"/>
          <a:lstStyle/>
          <a:p>
            <a:pPr marL="0" indent="0">
              <a:buNone/>
            </a:pPr>
            <a:r>
              <a:rPr lang="en-US" sz="2600" b="1" dirty="0">
                <a:solidFill>
                  <a:srgbClr val="2B2B2B"/>
                </a:solidFill>
                <a:latin typeface="Georgia" pitchFamily="34" charset="0"/>
                <a:ea typeface="Georgia" pitchFamily="34" charset="-122"/>
                <a:cs typeface="Georgia" pitchFamily="34" charset="-120"/>
              </a:rPr>
              <a:t>Fonti e bibliografia</a:t>
            </a:r>
            <a:endParaRPr lang="en-US" sz="2600" dirty="0"/>
          </a:p>
        </p:txBody>
      </p:sp>
      <p:sp>
        <p:nvSpPr>
          <p:cNvPr id="4" name="Shape 2"/>
          <p:cNvSpPr/>
          <p:nvPr/>
        </p:nvSpPr>
        <p:spPr>
          <a:xfrm>
            <a:off x="457200" y="1005840"/>
            <a:ext cx="1828800" cy="0"/>
          </a:xfrm>
          <a:prstGeom prst="line">
            <a:avLst/>
          </a:prstGeom>
          <a:noFill/>
          <a:ln w="25400">
            <a:solidFill>
              <a:srgbClr val="B85042"/>
            </a:solidFill>
            <a:prstDash val="solid"/>
          </a:ln>
        </p:spPr>
      </p:sp>
      <p:sp>
        <p:nvSpPr>
          <p:cNvPr id="5" name="Text 3"/>
          <p:cNvSpPr/>
          <p:nvPr/>
        </p:nvSpPr>
        <p:spPr>
          <a:xfrm>
            <a:off x="457200" y="1234440"/>
            <a:ext cx="3931920" cy="320040"/>
          </a:xfrm>
          <a:prstGeom prst="rect">
            <a:avLst/>
          </a:prstGeom>
          <a:noFill/>
          <a:ln/>
        </p:spPr>
        <p:txBody>
          <a:bodyPr wrap="square" lIns="0" tIns="0" rIns="0" bIns="0" rtlCol="0" anchor="ctr"/>
          <a:lstStyle/>
          <a:p>
            <a:pPr marL="0" indent="0">
              <a:buNone/>
            </a:pPr>
            <a:r>
              <a:rPr lang="en-US" sz="1300" b="1" dirty="0">
                <a:solidFill>
                  <a:srgbClr val="B85042"/>
                </a:solidFill>
                <a:latin typeface="Georgia" pitchFamily="34" charset="0"/>
                <a:ea typeface="Georgia" pitchFamily="34" charset="-122"/>
                <a:cs typeface="Georgia" pitchFamily="34" charset="-120"/>
              </a:rPr>
              <a:t>Fonti primarie e letterarie</a:t>
            </a:r>
            <a:endParaRPr lang="en-US" sz="1300" dirty="0"/>
          </a:p>
        </p:txBody>
      </p:sp>
      <p:sp>
        <p:nvSpPr>
          <p:cNvPr id="6" name="Text 4"/>
          <p:cNvSpPr/>
          <p:nvPr/>
        </p:nvSpPr>
        <p:spPr>
          <a:xfrm>
            <a:off x="457200" y="1645920"/>
            <a:ext cx="4297680" cy="2103120"/>
          </a:xfrm>
          <a:prstGeom prst="rect">
            <a:avLst/>
          </a:prstGeom>
          <a:noFill/>
          <a:ln/>
        </p:spPr>
        <p:txBody>
          <a:bodyPr wrap="square" lIns="0" tIns="0" rIns="0" bIns="0" rtlCol="0" anchor="t"/>
          <a:lstStyle/>
          <a:p>
            <a:pPr marL="342900" indent="-342900">
              <a:spcAft>
                <a:spcPts val="400"/>
              </a:spcAft>
              <a:buSzPct val="100000"/>
              <a:buChar char="•"/>
            </a:pPr>
            <a:r>
              <a:rPr lang="it-IT" sz="1100" dirty="0" smtClean="0"/>
              <a:t>Giovanni </a:t>
            </a:r>
            <a:r>
              <a:rPr lang="it-IT" sz="1100" dirty="0" smtClean="0"/>
              <a:t>Baglione, </a:t>
            </a:r>
            <a:r>
              <a:rPr lang="it-IT" sz="1100" dirty="0" smtClean="0"/>
              <a:t>Le </a:t>
            </a:r>
            <a:r>
              <a:rPr lang="it-IT" sz="1100" dirty="0" smtClean="0"/>
              <a:t>vite de' pittori, scultori et architetti, 1642.</a:t>
            </a:r>
            <a:endParaRPr lang="en-US" sz="1100" dirty="0"/>
          </a:p>
          <a:p>
            <a:pPr marL="342900" indent="-342900">
              <a:spcAft>
                <a:spcPts val="400"/>
              </a:spcAft>
              <a:buSzPct val="100000"/>
              <a:buChar char="•"/>
            </a:pPr>
            <a:r>
              <a:rPr lang="it-IT" sz="1100" dirty="0" smtClean="0"/>
              <a:t>Francesco Milizia, Memorie degli architetti antichi e moderni, 1785</a:t>
            </a:r>
            <a:r>
              <a:rPr lang="it-IT" sz="1100" dirty="0" smtClean="0"/>
              <a:t>.</a:t>
            </a:r>
          </a:p>
          <a:p>
            <a:pPr marL="342900" indent="-342900">
              <a:spcAft>
                <a:spcPts val="400"/>
              </a:spcAft>
              <a:buSzPct val="100000"/>
              <a:buChar char="•"/>
            </a:pPr>
            <a:r>
              <a:rPr lang="fr-FR" sz="1100" dirty="0" smtClean="0"/>
              <a:t>Charles de Brosses, Lettres familières sur l'Italie, 1739</a:t>
            </a:r>
            <a:r>
              <a:rPr lang="fr-FR" sz="1100" dirty="0" smtClean="0"/>
              <a:t>.</a:t>
            </a:r>
          </a:p>
          <a:p>
            <a:pPr marL="342900" indent="-342900">
              <a:spcAft>
                <a:spcPts val="400"/>
              </a:spcAft>
              <a:buSzPct val="100000"/>
              <a:buChar char="•"/>
            </a:pPr>
            <a:r>
              <a:rPr lang="de-DE" sz="1100" dirty="0" smtClean="0"/>
              <a:t>Johann Wolfgang von Goethe, Viaggio in Italia, 1817</a:t>
            </a:r>
            <a:r>
              <a:rPr lang="de-DE" sz="1100" dirty="0" smtClean="0"/>
              <a:t>.</a:t>
            </a:r>
          </a:p>
          <a:p>
            <a:pPr marL="342900" indent="-342900">
              <a:spcAft>
                <a:spcPts val="400"/>
              </a:spcAft>
              <a:buSzPct val="100000"/>
              <a:buChar char="•"/>
            </a:pPr>
            <a:r>
              <a:rPr lang="en-US" sz="1100" dirty="0" smtClean="0"/>
              <a:t>Howard Hibbard, Carlo Maderno and Roman Architecture 1580-1630, </a:t>
            </a:r>
            <a:endParaRPr lang="en-US" sz="1100" dirty="0" smtClean="0"/>
          </a:p>
          <a:p>
            <a:pPr marL="342900" indent="-342900">
              <a:spcAft>
                <a:spcPts val="400"/>
              </a:spcAft>
              <a:buSzPct val="100000"/>
              <a:buChar char="•"/>
            </a:pPr>
            <a:r>
              <a:rPr lang="it-IT" sz="1100" dirty="0" smtClean="0"/>
              <a:t>Rudolf Wittkower, Arte e architettura in Italia. </a:t>
            </a:r>
            <a:r>
              <a:rPr lang="it-IT" sz="1100" i="1" dirty="0" smtClean="0"/>
              <a:t>1600-1750</a:t>
            </a:r>
            <a:r>
              <a:rPr lang="it-IT" sz="1100" dirty="0" smtClean="0"/>
              <a:t>, Einaudi, 1993</a:t>
            </a:r>
            <a:r>
              <a:rPr lang="it-IT" sz="1100" dirty="0" smtClean="0"/>
              <a:t>.</a:t>
            </a:r>
          </a:p>
          <a:p>
            <a:pPr marL="342900" indent="-342900">
              <a:spcAft>
                <a:spcPts val="400"/>
              </a:spcAft>
              <a:buSzPct val="100000"/>
              <a:buChar char="•"/>
            </a:pPr>
            <a:r>
              <a:rPr lang="it-IT" sz="1100" dirty="0" smtClean="0"/>
              <a:t>Christian </a:t>
            </a:r>
            <a:r>
              <a:rPr lang="it-IT" sz="1100" dirty="0" smtClean="0"/>
              <a:t>Norberg-Schulz, Architettura </a:t>
            </a:r>
            <a:r>
              <a:rPr lang="it-IT" sz="1100" dirty="0" smtClean="0"/>
              <a:t>Barocca, Electa, 1998.</a:t>
            </a:r>
            <a:endParaRPr lang="it-IT" sz="1100" dirty="0" smtClean="0"/>
          </a:p>
          <a:p>
            <a:pPr marL="342900" indent="-342900">
              <a:spcAft>
                <a:spcPts val="400"/>
              </a:spcAft>
              <a:buSzPct val="100000"/>
              <a:buChar char="•"/>
            </a:pPr>
            <a:endParaRPr lang="it-IT" sz="1100" dirty="0" smtClean="0"/>
          </a:p>
          <a:p>
            <a:pPr marL="342900" indent="-342900">
              <a:spcAft>
                <a:spcPts val="400"/>
              </a:spcAft>
              <a:buSzPct val="100000"/>
            </a:pPr>
            <a:endParaRPr lang="en-US" sz="1100" dirty="0"/>
          </a:p>
        </p:txBody>
      </p:sp>
      <p:sp>
        <p:nvSpPr>
          <p:cNvPr id="7" name="Text 5"/>
          <p:cNvSpPr/>
          <p:nvPr/>
        </p:nvSpPr>
        <p:spPr>
          <a:xfrm>
            <a:off x="4754880" y="1234440"/>
            <a:ext cx="3931920" cy="320040"/>
          </a:xfrm>
          <a:prstGeom prst="rect">
            <a:avLst/>
          </a:prstGeom>
          <a:noFill/>
          <a:ln/>
        </p:spPr>
        <p:txBody>
          <a:bodyPr wrap="square" lIns="0" tIns="0" rIns="0" bIns="0" rtlCol="0" anchor="ctr"/>
          <a:lstStyle/>
          <a:p>
            <a:pPr marL="0" indent="0">
              <a:buNone/>
            </a:pPr>
            <a:r>
              <a:rPr lang="en-US" sz="1300" b="1" dirty="0">
                <a:solidFill>
                  <a:srgbClr val="B85042"/>
                </a:solidFill>
                <a:latin typeface="Georgia" pitchFamily="34" charset="0"/>
                <a:ea typeface="Georgia" pitchFamily="34" charset="-122"/>
                <a:cs typeface="Georgia" pitchFamily="34" charset="-120"/>
              </a:rPr>
              <a:t>Fonti multimediali e online</a:t>
            </a:r>
            <a:endParaRPr lang="en-US" sz="1300" dirty="0"/>
          </a:p>
        </p:txBody>
      </p:sp>
      <p:sp>
        <p:nvSpPr>
          <p:cNvPr id="8" name="Text 6"/>
          <p:cNvSpPr/>
          <p:nvPr/>
        </p:nvSpPr>
        <p:spPr>
          <a:xfrm>
            <a:off x="4754880" y="1645920"/>
            <a:ext cx="3931920" cy="2103120"/>
          </a:xfrm>
          <a:prstGeom prst="rect">
            <a:avLst/>
          </a:prstGeom>
          <a:noFill/>
          <a:ln/>
        </p:spPr>
        <p:txBody>
          <a:bodyPr wrap="square" lIns="0" tIns="0" rIns="0" bIns="0" rtlCol="0" anchor="t"/>
          <a:lstStyle/>
          <a:p>
            <a:pPr>
              <a:buFont typeface="Arial" pitchFamily="34" charset="0"/>
              <a:buChar char="•"/>
            </a:pPr>
            <a:r>
              <a:rPr lang="it-IT" sz="1100" dirty="0" smtClean="0"/>
              <a:t> A</a:t>
            </a:r>
            <a:r>
              <a:rPr lang="it-IT" sz="1100" dirty="0" smtClean="0"/>
              <a:t>. Corelli, Concerto Grosso Op. 6 No. 4 — </a:t>
            </a:r>
            <a:r>
              <a:rPr lang="it-IT" sz="1100" dirty="0" smtClean="0">
                <a:hlinkClick r:id="rId3"/>
              </a:rPr>
              <a:t>https://www.youtube.com/watch?v=6-uDRK1cBbU</a:t>
            </a:r>
            <a:r>
              <a:rPr lang="it-IT" sz="1100" dirty="0" smtClean="0"/>
              <a:t>.</a:t>
            </a:r>
          </a:p>
          <a:p>
            <a:pPr>
              <a:buFont typeface="Arial" pitchFamily="34" charset="0"/>
              <a:buChar char="•"/>
            </a:pPr>
            <a:r>
              <a:rPr lang="it-IT" sz="1100" dirty="0" smtClean="0"/>
              <a:t> G</a:t>
            </a:r>
            <a:r>
              <a:rPr lang="it-IT" sz="1100" dirty="0" smtClean="0"/>
              <a:t>. Frescobaldi, Toccata Quinta — </a:t>
            </a:r>
            <a:r>
              <a:rPr lang="it-IT" sz="1100" dirty="0" smtClean="0">
                <a:hlinkClick r:id="rId4"/>
              </a:rPr>
              <a:t>https://youtu.be/1CKkZ_Nv1FQ?si=nyJggtDKQ9p3zIxz</a:t>
            </a:r>
            <a:r>
              <a:rPr lang="it-IT" sz="1100" dirty="0" smtClean="0"/>
              <a:t>.</a:t>
            </a:r>
          </a:p>
          <a:p>
            <a:pPr>
              <a:buFont typeface="Arial" pitchFamily="34" charset="0"/>
              <a:buChar char="•"/>
            </a:pPr>
            <a:r>
              <a:rPr lang="it-IT" sz="1100" dirty="0" smtClean="0"/>
              <a:t> A</a:t>
            </a:r>
            <a:r>
              <a:rPr lang="it-IT" sz="1100" dirty="0" smtClean="0"/>
              <a:t>. Vivaldi, Gloria in D Major — </a:t>
            </a:r>
            <a:r>
              <a:rPr lang="it-IT" sz="1100" dirty="0" smtClean="0">
                <a:hlinkClick r:id="rId5"/>
              </a:rPr>
              <a:t>https://youtu.be/WZZM9jbYBtU?si=j3SKUKbuKSJsrtIO</a:t>
            </a:r>
            <a:r>
              <a:rPr lang="it-IT" sz="1100" dirty="0" smtClean="0"/>
              <a:t>.</a:t>
            </a:r>
          </a:p>
          <a:p>
            <a:pPr>
              <a:buFont typeface="Arial" pitchFamily="34" charset="0"/>
              <a:buChar char="•"/>
            </a:pPr>
            <a:r>
              <a:rPr lang="it-IT" sz="1100" dirty="0" smtClean="0"/>
              <a:t> C</a:t>
            </a:r>
            <a:r>
              <a:rPr lang="it-IT" sz="1100" dirty="0" smtClean="0"/>
              <a:t>. Monteverdi, Vespro Della Beata Vergine — </a:t>
            </a:r>
            <a:r>
              <a:rPr lang="it-IT" sz="1100" dirty="0" smtClean="0">
                <a:hlinkClick r:id="rId6"/>
              </a:rPr>
              <a:t>https://youtu.be/FHxLnZITSRw</a:t>
            </a:r>
            <a:r>
              <a:rPr lang="it-IT" sz="1100" dirty="0" smtClean="0">
                <a:hlinkClick r:id="rId6"/>
              </a:rPr>
              <a:t>?</a:t>
            </a:r>
            <a:endParaRPr lang="it-IT" sz="1100" dirty="0" smtClean="0"/>
          </a:p>
          <a:p>
            <a:pPr>
              <a:buFont typeface="Arial" pitchFamily="34" charset="0"/>
              <a:buChar char="•"/>
            </a:pPr>
            <a:r>
              <a:rPr lang="it-IT" sz="1100" dirty="0" smtClean="0"/>
              <a:t> Cartografia digitale: OpenStreetMap Contributors (Licenza ODbL</a:t>
            </a:r>
            <a:r>
              <a:rPr lang="it-IT" sz="1100" dirty="0" smtClean="0"/>
              <a:t>).</a:t>
            </a:r>
          </a:p>
          <a:p>
            <a:pPr>
              <a:buFont typeface="Arial" pitchFamily="34" charset="0"/>
              <a:buChar char="•"/>
            </a:pPr>
            <a:r>
              <a:rPr lang="it-IT" sz="1100" dirty="0" smtClean="0"/>
              <a:t> Libreria </a:t>
            </a:r>
            <a:r>
              <a:rPr lang="it-IT" sz="1100" dirty="0" smtClean="0"/>
              <a:t>mappa: Leaflet 1.9.4 (leafletjs.com</a:t>
            </a:r>
            <a:r>
              <a:rPr lang="it-IT" sz="1100" dirty="0" smtClean="0"/>
              <a:t>).</a:t>
            </a:r>
            <a:endParaRPr lang="it-IT" sz="1100" dirty="0" smtClean="0"/>
          </a:p>
        </p:txBody>
      </p:sp>
      <p:sp>
        <p:nvSpPr>
          <p:cNvPr id="9" name="Text 7"/>
          <p:cNvSpPr/>
          <p:nvPr/>
        </p:nvSpPr>
        <p:spPr>
          <a:xfrm>
            <a:off x="457200" y="3931920"/>
            <a:ext cx="8229600" cy="822960"/>
          </a:xfrm>
          <a:prstGeom prst="rect">
            <a:avLst/>
          </a:prstGeom>
          <a:noFill/>
          <a:ln/>
        </p:spPr>
        <p:txBody>
          <a:bodyPr wrap="square" rtlCol="0" anchor="t"/>
          <a:lstStyle/>
          <a:p>
            <a:r>
              <a:rPr lang="it-IT" sz="1000" i="1" dirty="0" smtClean="0"/>
              <a:t>Tutte le immagini e i ritratti utilizzati </a:t>
            </a:r>
            <a:r>
              <a:rPr lang="it-IT" sz="1000" i="1" dirty="0" smtClean="0"/>
              <a:t>provengono </a:t>
            </a:r>
            <a:r>
              <a:rPr lang="it-IT" sz="1000" i="1" dirty="0" smtClean="0"/>
              <a:t>da archivi di Pubblico Dominio (Wikimedia Commons). Si dichiara l’utilizzo di strumenti di Intelligenza Artificiale esclusivamente per la revisione ortografica, la rifinitura stilistica dei testi descrittivi e il controllo formale della sintassi del codice JSON.</a:t>
            </a:r>
            <a:endParaRPr lang="en-US" sz="1000" i="1" dirty="0"/>
          </a:p>
        </p:txBody>
      </p:sp>
      <p:sp>
        <p:nvSpPr>
          <p:cNvPr id="10" name="Shape 8"/>
          <p:cNvSpPr/>
          <p:nvPr/>
        </p:nvSpPr>
        <p:spPr>
          <a:xfrm>
            <a:off x="457200" y="4800600"/>
            <a:ext cx="8229600" cy="0"/>
          </a:xfrm>
          <a:prstGeom prst="line">
            <a:avLst/>
          </a:prstGeom>
          <a:noFill/>
          <a:ln w="6350">
            <a:solidFill>
              <a:srgbClr val="C5A572"/>
            </a:solidFill>
            <a:prstDash val="solid"/>
          </a:ln>
        </p:spPr>
      </p:sp>
      <p:sp>
        <p:nvSpPr>
          <p:cNvPr id="11" name="Text 9"/>
          <p:cNvSpPr/>
          <p:nvPr/>
        </p:nvSpPr>
        <p:spPr>
          <a:xfrm>
            <a:off x="457200" y="4864608"/>
            <a:ext cx="6400800" cy="228600"/>
          </a:xfrm>
          <a:prstGeom prst="rect">
            <a:avLst/>
          </a:prstGeom>
          <a:noFill/>
          <a:ln/>
        </p:spPr>
        <p:txBody>
          <a:bodyPr wrap="square" rtlCol="0" anchor="ctr"/>
          <a:lstStyle/>
          <a:p>
            <a:pPr marL="0" indent="0">
              <a:buNone/>
            </a:pPr>
            <a:r>
              <a:rPr lang="en-US" sz="900" b="1" dirty="0">
                <a:solidFill>
                  <a:srgbClr val="B85042"/>
                </a:solidFill>
                <a:latin typeface="Calibri" pitchFamily="34" charset="0"/>
                <a:ea typeface="Calibri" pitchFamily="34" charset="-122"/>
                <a:cs typeface="Calibri" pitchFamily="34" charset="-120"/>
              </a:rPr>
              <a:t>Passeggiate Romane</a:t>
            </a:r>
            <a:r>
              <a:rPr lang="en-US" sz="900" dirty="0">
                <a:solidFill>
                  <a:srgbClr val="8A8A8A"/>
                </a:solidFill>
                <a:latin typeface="Calibri" pitchFamily="34" charset="0"/>
                <a:ea typeface="Calibri" pitchFamily="34" charset="-122"/>
                <a:cs typeface="Calibri" pitchFamily="34" charset="-120"/>
              </a:rPr>
              <a:t>  ·  </a:t>
            </a:r>
            <a:r>
              <a:rPr lang="en-US" sz="900" dirty="0" smtClean="0">
                <a:solidFill>
                  <a:srgbClr val="8A8A8A"/>
                </a:solidFill>
                <a:latin typeface="Calibri" pitchFamily="34" charset="0"/>
                <a:ea typeface="Calibri" pitchFamily="34" charset="-122"/>
                <a:cs typeface="Calibri" pitchFamily="34" charset="-120"/>
              </a:rPr>
              <a:t>Lorenzo </a:t>
            </a:r>
            <a:r>
              <a:rPr lang="en-US" sz="900" dirty="0" smtClean="0">
                <a:solidFill>
                  <a:srgbClr val="8A8A8A"/>
                </a:solidFill>
                <a:latin typeface="Calibri" pitchFamily="34" charset="0"/>
                <a:ea typeface="Calibri" pitchFamily="34" charset="-122"/>
                <a:cs typeface="Calibri" pitchFamily="34" charset="-120"/>
              </a:rPr>
              <a:t>Fagiani </a:t>
            </a:r>
            <a:r>
              <a:rPr lang="en-US" sz="900" dirty="0">
                <a:solidFill>
                  <a:srgbClr val="8A8A8A"/>
                </a:solidFill>
                <a:latin typeface="Calibri" pitchFamily="34" charset="0"/>
                <a:ea typeface="Calibri" pitchFamily="34" charset="-122"/>
                <a:cs typeface="Calibri" pitchFamily="34" charset="-120"/>
              </a:rPr>
              <a:t>· A.A. </a:t>
            </a:r>
            <a:r>
              <a:rPr lang="en-US" sz="900" dirty="0" smtClean="0">
                <a:solidFill>
                  <a:srgbClr val="8A8A8A"/>
                </a:solidFill>
                <a:latin typeface="Calibri" pitchFamily="34" charset="0"/>
                <a:ea typeface="Calibri" pitchFamily="34" charset="-122"/>
                <a:cs typeface="Calibri" pitchFamily="34" charset="-120"/>
              </a:rPr>
              <a:t>2025/2026</a:t>
            </a:r>
            <a:endParaRPr lang="en-US" sz="900" dirty="0"/>
          </a:p>
        </p:txBody>
      </p:sp>
      <p:sp>
        <p:nvSpPr>
          <p:cNvPr id="12" name="Text 10"/>
          <p:cNvSpPr/>
          <p:nvPr/>
        </p:nvSpPr>
        <p:spPr>
          <a:xfrm>
            <a:off x="8046720" y="4864608"/>
            <a:ext cx="640080" cy="22860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B2B2B"/>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Conclusioni e accesso al progetto</a:t>
            </a:r>
            <a:endParaRPr lang="en-US" sz="2800" dirty="0"/>
          </a:p>
        </p:txBody>
      </p:sp>
      <p:sp>
        <p:nvSpPr>
          <p:cNvPr id="3" name="Shape 1"/>
          <p:cNvSpPr/>
          <p:nvPr/>
        </p:nvSpPr>
        <p:spPr>
          <a:xfrm>
            <a:off x="457200" y="1097280"/>
            <a:ext cx="1828800" cy="0"/>
          </a:xfrm>
          <a:prstGeom prst="line">
            <a:avLst/>
          </a:prstGeom>
          <a:noFill/>
          <a:ln w="25400">
            <a:solidFill>
              <a:srgbClr val="C5A572"/>
            </a:solidFill>
            <a:prstDash val="solid"/>
          </a:ln>
        </p:spPr>
      </p:sp>
      <p:sp>
        <p:nvSpPr>
          <p:cNvPr id="4" name="Text 2"/>
          <p:cNvSpPr/>
          <p:nvPr/>
        </p:nvSpPr>
        <p:spPr>
          <a:xfrm>
            <a:off x="541606" y="1211580"/>
            <a:ext cx="4572000" cy="320040"/>
          </a:xfrm>
          <a:prstGeom prst="rect">
            <a:avLst/>
          </a:prstGeom>
          <a:noFill/>
          <a:ln/>
        </p:spPr>
        <p:txBody>
          <a:bodyPr wrap="square" lIns="0" tIns="0" rIns="0" bIns="0" rtlCol="0" anchor="ctr"/>
          <a:lstStyle/>
          <a:p>
            <a:pPr marL="0" indent="0">
              <a:buNone/>
            </a:pPr>
            <a:r>
              <a:rPr lang="en-US" sz="1400" b="1" dirty="0">
                <a:solidFill>
                  <a:srgbClr val="C5A572"/>
                </a:solidFill>
                <a:latin typeface="Georgia" pitchFamily="34" charset="0"/>
                <a:ea typeface="Georgia" pitchFamily="34" charset="-122"/>
                <a:cs typeface="Georgia" pitchFamily="34" charset="-120"/>
              </a:rPr>
              <a:t>Cosa porto con me</a:t>
            </a:r>
            <a:endParaRPr lang="en-US" sz="1400" dirty="0"/>
          </a:p>
        </p:txBody>
      </p:sp>
      <p:sp>
        <p:nvSpPr>
          <p:cNvPr id="5" name="Text 3"/>
          <p:cNvSpPr/>
          <p:nvPr/>
        </p:nvSpPr>
        <p:spPr>
          <a:xfrm>
            <a:off x="457200" y="1554480"/>
            <a:ext cx="4572000" cy="1371600"/>
          </a:xfrm>
          <a:prstGeom prst="rect">
            <a:avLst/>
          </a:prstGeom>
          <a:noFill/>
          <a:ln/>
        </p:spPr>
        <p:txBody>
          <a:bodyPr wrap="square" rtlCol="0" anchor="ctr"/>
          <a:lstStyle/>
          <a:p>
            <a:r>
              <a:rPr lang="it-IT" sz="1100" i="1" dirty="0" smtClean="0">
                <a:solidFill>
                  <a:schemeClr val="bg1"/>
                </a:solidFill>
              </a:rPr>
              <a:t>Strutturare </a:t>
            </a:r>
            <a:r>
              <a:rPr lang="it-IT" sz="1100" i="1" dirty="0" smtClean="0">
                <a:solidFill>
                  <a:schemeClr val="bg1"/>
                </a:solidFill>
              </a:rPr>
              <a:t>il codice JSON e l'interfaccia incastrando la mappa, i brani musicali e la storia di Carlo Maderno ha richiesto molta pazienza e tentativi. Tuttavia, è proprio affrontando questi problemi tecnici che ho compreso il vero senso del progetto: non si tratta di un semplice elenco di nozioni, ma della capacità di usare la tecnologia per valorizzare il patrimonio. Quello che mi porto a casa è la soddisfazione di aver creato un prodotto reale: un itinerario interattivo che dimostra come il turismo digitale possa trasformare una semplice passeggiata a Roma in un'esperienza totalmente immersiva.</a:t>
            </a:r>
            <a:endParaRPr lang="en-US" sz="1100" i="1" dirty="0">
              <a:solidFill>
                <a:schemeClr val="bg1"/>
              </a:solidFill>
            </a:endParaRPr>
          </a:p>
        </p:txBody>
      </p:sp>
      <p:sp>
        <p:nvSpPr>
          <p:cNvPr id="6" name="Text 4"/>
          <p:cNvSpPr/>
          <p:nvPr/>
        </p:nvSpPr>
        <p:spPr>
          <a:xfrm>
            <a:off x="541606" y="2994660"/>
            <a:ext cx="4572000" cy="320040"/>
          </a:xfrm>
          <a:prstGeom prst="rect">
            <a:avLst/>
          </a:prstGeom>
          <a:noFill/>
          <a:ln/>
        </p:spPr>
        <p:txBody>
          <a:bodyPr wrap="square" lIns="0" tIns="0" rIns="0" bIns="0" rtlCol="0" anchor="ctr"/>
          <a:lstStyle/>
          <a:p>
            <a:pPr marL="0" indent="0">
              <a:buNone/>
            </a:pPr>
            <a:r>
              <a:rPr lang="en-US" sz="1400" b="1" dirty="0">
                <a:solidFill>
                  <a:srgbClr val="C5A572"/>
                </a:solidFill>
                <a:latin typeface="Georgia" pitchFamily="34" charset="0"/>
                <a:ea typeface="Georgia" pitchFamily="34" charset="-122"/>
                <a:cs typeface="Georgia" pitchFamily="34" charset="-120"/>
              </a:rPr>
              <a:t>Sviluppi futuri</a:t>
            </a:r>
            <a:endParaRPr lang="en-US" sz="1400" dirty="0"/>
          </a:p>
        </p:txBody>
      </p:sp>
      <p:sp>
        <p:nvSpPr>
          <p:cNvPr id="7" name="Text 5"/>
          <p:cNvSpPr/>
          <p:nvPr/>
        </p:nvSpPr>
        <p:spPr>
          <a:xfrm>
            <a:off x="457200" y="3429000"/>
            <a:ext cx="4572000" cy="1097280"/>
          </a:xfrm>
          <a:prstGeom prst="rect">
            <a:avLst/>
          </a:prstGeom>
          <a:noFill/>
          <a:ln/>
        </p:spPr>
        <p:txBody>
          <a:bodyPr wrap="square" rtlCol="0" anchor="ctr"/>
          <a:lstStyle/>
          <a:p>
            <a:pPr>
              <a:buFont typeface="Arial" pitchFamily="34" charset="0"/>
              <a:buChar char="•"/>
            </a:pPr>
            <a:r>
              <a:rPr lang="it-IT" sz="1100" b="1" dirty="0" smtClean="0">
                <a:solidFill>
                  <a:schemeClr val="bg1"/>
                </a:solidFill>
              </a:rPr>
              <a:t> Geolocalizzazione </a:t>
            </a:r>
            <a:r>
              <a:rPr lang="it-IT" sz="1100" b="1" dirty="0" smtClean="0">
                <a:solidFill>
                  <a:schemeClr val="bg1"/>
                </a:solidFill>
              </a:rPr>
              <a:t>GPS: </a:t>
            </a:r>
            <a:r>
              <a:rPr lang="it-IT" sz="1100" i="1" dirty="0" smtClean="0">
                <a:solidFill>
                  <a:schemeClr val="bg1"/>
                </a:solidFill>
              </a:rPr>
              <a:t>Attivare il rilevamento in tempo reale per far partire in automatico la musica solo quando l'utente arriva fisicamente davanti al monumento</a:t>
            </a:r>
            <a:r>
              <a:rPr lang="it-IT" sz="1100" i="1" dirty="0" smtClean="0">
                <a:solidFill>
                  <a:schemeClr val="bg1"/>
                </a:solidFill>
              </a:rPr>
              <a:t>.</a:t>
            </a:r>
            <a:endParaRPr lang="it-IT" sz="1100" i="1" dirty="0" smtClean="0">
              <a:solidFill>
                <a:schemeClr val="bg1"/>
              </a:solidFill>
            </a:endParaRPr>
          </a:p>
          <a:p>
            <a:pPr>
              <a:buFont typeface="Arial" pitchFamily="34" charset="0"/>
              <a:buChar char="•"/>
            </a:pPr>
            <a:r>
              <a:rPr lang="it-IT" sz="1100" b="1" dirty="0" smtClean="0">
                <a:solidFill>
                  <a:schemeClr val="bg1"/>
                </a:solidFill>
              </a:rPr>
              <a:t> Multilingua</a:t>
            </a:r>
            <a:r>
              <a:rPr lang="it-IT" sz="1100" b="1" dirty="0" smtClean="0">
                <a:solidFill>
                  <a:schemeClr val="bg1"/>
                </a:solidFill>
              </a:rPr>
              <a:t>:</a:t>
            </a:r>
            <a:r>
              <a:rPr lang="it-IT" sz="1100" dirty="0" smtClean="0">
                <a:solidFill>
                  <a:schemeClr val="bg1"/>
                </a:solidFill>
              </a:rPr>
              <a:t> </a:t>
            </a:r>
            <a:r>
              <a:rPr lang="it-IT" sz="1100" i="1" dirty="0" smtClean="0">
                <a:solidFill>
                  <a:schemeClr val="bg1"/>
                </a:solidFill>
              </a:rPr>
              <a:t>Inserire un selettore per tradurre istantaneamente i testi e l'interfaccia in inglese, rendendo l'app fruibile dai turisti stranieri</a:t>
            </a:r>
            <a:r>
              <a:rPr lang="it-IT" sz="1100" i="1" dirty="0" smtClean="0">
                <a:solidFill>
                  <a:schemeClr val="bg1"/>
                </a:solidFill>
              </a:rPr>
              <a:t>.</a:t>
            </a:r>
            <a:endParaRPr lang="it-IT" sz="1100" i="1" dirty="0" smtClean="0">
              <a:solidFill>
                <a:schemeClr val="bg1"/>
              </a:solidFill>
            </a:endParaRPr>
          </a:p>
          <a:p>
            <a:pPr>
              <a:buFont typeface="Arial" pitchFamily="34" charset="0"/>
              <a:buChar char="•"/>
            </a:pPr>
            <a:r>
              <a:rPr lang="it-IT" sz="1100" b="1" dirty="0" smtClean="0">
                <a:solidFill>
                  <a:schemeClr val="bg1"/>
                </a:solidFill>
              </a:rPr>
              <a:t> Accessibilità (WCAG):</a:t>
            </a:r>
            <a:r>
              <a:rPr lang="it-IT" sz="1100" dirty="0" smtClean="0">
                <a:solidFill>
                  <a:schemeClr val="bg1"/>
                </a:solidFill>
              </a:rPr>
              <a:t> </a:t>
            </a:r>
            <a:r>
              <a:rPr lang="it-IT" sz="1100" i="1" dirty="0" smtClean="0">
                <a:solidFill>
                  <a:schemeClr val="bg1"/>
                </a:solidFill>
              </a:rPr>
              <a:t>Aggiungere un pulsante per la sintesi vocale che legga ad alta voce le descrizioni storiche per gli utenti con disabilità visive.</a:t>
            </a:r>
            <a:endParaRPr lang="it-IT" sz="1100" i="1" dirty="0">
              <a:solidFill>
                <a:schemeClr val="bg1"/>
              </a:solidFill>
            </a:endParaRPr>
          </a:p>
        </p:txBody>
      </p:sp>
      <p:sp>
        <p:nvSpPr>
          <p:cNvPr id="8" name="Shape 6"/>
          <p:cNvSpPr/>
          <p:nvPr/>
        </p:nvSpPr>
        <p:spPr>
          <a:xfrm>
            <a:off x="5486400" y="1371600"/>
            <a:ext cx="3200400" cy="3291840"/>
          </a:xfrm>
          <a:prstGeom prst="rect">
            <a:avLst/>
          </a:prstGeom>
          <a:solidFill>
            <a:srgbClr val="B85042"/>
          </a:solidFill>
          <a:ln w="12700">
            <a:solidFill>
              <a:srgbClr val="B85042"/>
            </a:solidFill>
            <a:prstDash val="solid"/>
          </a:ln>
        </p:spPr>
      </p:sp>
      <p:sp>
        <p:nvSpPr>
          <p:cNvPr id="9" name="Text 7"/>
          <p:cNvSpPr/>
          <p:nvPr/>
        </p:nvSpPr>
        <p:spPr>
          <a:xfrm>
            <a:off x="5669280" y="1554480"/>
            <a:ext cx="2926080" cy="32004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ACCEDI AL PROGETTO</a:t>
            </a:r>
            <a:endParaRPr lang="en-US" sz="1100" dirty="0"/>
          </a:p>
        </p:txBody>
      </p:sp>
      <p:sp>
        <p:nvSpPr>
          <p:cNvPr id="10" name="Shape 8"/>
          <p:cNvSpPr/>
          <p:nvPr/>
        </p:nvSpPr>
        <p:spPr>
          <a:xfrm>
            <a:off x="5669280" y="1920240"/>
            <a:ext cx="914400" cy="0"/>
          </a:xfrm>
          <a:prstGeom prst="line">
            <a:avLst/>
          </a:prstGeom>
          <a:noFill/>
          <a:ln w="19050">
            <a:solidFill>
              <a:srgbClr val="C5A572"/>
            </a:solidFill>
            <a:prstDash val="solid"/>
          </a:ln>
        </p:spPr>
      </p:sp>
      <p:sp>
        <p:nvSpPr>
          <p:cNvPr id="11" name="Text 9"/>
          <p:cNvSpPr/>
          <p:nvPr/>
        </p:nvSpPr>
        <p:spPr>
          <a:xfrm>
            <a:off x="5669280" y="2103120"/>
            <a:ext cx="292608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a:t>
            </a:r>
            <a:r>
              <a:rPr lang="en-US" sz="1100" b="1" dirty="0" smtClean="0">
                <a:solidFill>
                  <a:srgbClr val="FFFFFF"/>
                </a:solidFill>
                <a:latin typeface="Calibri" pitchFamily="34" charset="0"/>
                <a:ea typeface="Calibri" pitchFamily="34" charset="-122"/>
                <a:cs typeface="Calibri" pitchFamily="34" charset="-120"/>
              </a:rPr>
              <a:t>  </a:t>
            </a:r>
            <a:r>
              <a:rPr lang="en-US" sz="1100" b="1" dirty="0">
                <a:solidFill>
                  <a:srgbClr val="FFFFFF"/>
                </a:solidFill>
                <a:latin typeface="Calibri" pitchFamily="34" charset="0"/>
                <a:ea typeface="Calibri" pitchFamily="34" charset="-122"/>
                <a:cs typeface="Calibri" pitchFamily="34" charset="-120"/>
              </a:rPr>
              <a:t>Web app</a:t>
            </a:r>
            <a:endParaRPr lang="en-US" sz="1100" dirty="0"/>
          </a:p>
        </p:txBody>
      </p:sp>
      <p:sp>
        <p:nvSpPr>
          <p:cNvPr id="12" name="Text 10"/>
          <p:cNvSpPr/>
          <p:nvPr/>
        </p:nvSpPr>
        <p:spPr>
          <a:xfrm>
            <a:off x="5669280" y="2331720"/>
            <a:ext cx="2926080" cy="457200"/>
          </a:xfrm>
          <a:prstGeom prst="rect">
            <a:avLst/>
          </a:prstGeom>
          <a:noFill/>
          <a:ln/>
        </p:spPr>
        <p:txBody>
          <a:bodyPr wrap="square" lIns="0" tIns="0" rIns="0" bIns="0" rtlCol="0" anchor="ctr"/>
          <a:lstStyle/>
          <a:p>
            <a:r>
              <a:rPr lang="en-US" sz="900" i="1" dirty="0" smtClean="0">
                <a:solidFill>
                  <a:schemeClr val="bg1"/>
                </a:solidFill>
              </a:rPr>
              <a:t>https://</a:t>
            </a:r>
            <a:r>
              <a:rPr lang="en-US" sz="900" i="1" dirty="0" smtClean="0">
                <a:solidFill>
                  <a:schemeClr val="bg1"/>
                </a:solidFill>
              </a:rPr>
              <a:t>mangelaccio.github.io/progetti-studenti/studente-fagiani-lorenzo/</a:t>
            </a:r>
            <a:endParaRPr lang="en-US" sz="900" dirty="0">
              <a:solidFill>
                <a:schemeClr val="bg1"/>
              </a:solidFill>
            </a:endParaRPr>
          </a:p>
        </p:txBody>
      </p:sp>
      <p:sp>
        <p:nvSpPr>
          <p:cNvPr id="13" name="Text 11"/>
          <p:cNvSpPr/>
          <p:nvPr/>
        </p:nvSpPr>
        <p:spPr>
          <a:xfrm>
            <a:off x="5669280" y="2926080"/>
            <a:ext cx="292608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a:t>
            </a:r>
            <a:r>
              <a:rPr lang="en-US" sz="1100" b="1" dirty="0" smtClean="0">
                <a:solidFill>
                  <a:srgbClr val="FFFFFF"/>
                </a:solidFill>
                <a:latin typeface="Calibri" pitchFamily="34" charset="0"/>
                <a:ea typeface="Calibri" pitchFamily="34" charset="-122"/>
                <a:cs typeface="Calibri" pitchFamily="34" charset="-120"/>
              </a:rPr>
              <a:t>  </a:t>
            </a:r>
            <a:r>
              <a:rPr lang="en-US" sz="1100" b="1" dirty="0">
                <a:solidFill>
                  <a:srgbClr val="FFFFFF"/>
                </a:solidFill>
                <a:latin typeface="Calibri" pitchFamily="34" charset="0"/>
                <a:ea typeface="Calibri" pitchFamily="34" charset="-122"/>
                <a:cs typeface="Calibri" pitchFamily="34" charset="-120"/>
              </a:rPr>
              <a:t>Repository</a:t>
            </a:r>
            <a:endParaRPr lang="en-US" sz="1100" dirty="0"/>
          </a:p>
        </p:txBody>
      </p:sp>
      <p:sp>
        <p:nvSpPr>
          <p:cNvPr id="14" name="Text 12"/>
          <p:cNvSpPr/>
          <p:nvPr/>
        </p:nvSpPr>
        <p:spPr>
          <a:xfrm>
            <a:off x="5669280" y="3154680"/>
            <a:ext cx="2926080" cy="457200"/>
          </a:xfrm>
          <a:prstGeom prst="rect">
            <a:avLst/>
          </a:prstGeom>
          <a:noFill/>
          <a:ln/>
        </p:spPr>
        <p:txBody>
          <a:bodyPr wrap="square" lIns="0" tIns="0" rIns="0" bIns="0" rtlCol="0" anchor="ctr"/>
          <a:lstStyle/>
          <a:p>
            <a:r>
              <a:rPr lang="en-US" sz="900" i="1" dirty="0" smtClean="0">
                <a:solidFill>
                  <a:schemeClr val="bg1"/>
                </a:solidFill>
              </a:rPr>
              <a:t>https</a:t>
            </a:r>
            <a:r>
              <a:rPr lang="en-US" sz="900" i="1" dirty="0" smtClean="0">
                <a:solidFill>
                  <a:schemeClr val="bg1"/>
                </a:solidFill>
              </a:rPr>
              <a:t>://</a:t>
            </a:r>
            <a:r>
              <a:rPr lang="en-US" sz="900" i="1" dirty="0" smtClean="0">
                <a:solidFill>
                  <a:schemeClr val="bg1"/>
                </a:solidFill>
              </a:rPr>
              <a:t>github.com/fagiani/passeggiata-maderno </a:t>
            </a:r>
            <a:endParaRPr lang="en-US" sz="900" dirty="0">
              <a:solidFill>
                <a:schemeClr val="bg1"/>
              </a:solidFill>
            </a:endParaRPr>
          </a:p>
        </p:txBody>
      </p:sp>
      <p:sp>
        <p:nvSpPr>
          <p:cNvPr id="15" name="Text 13"/>
          <p:cNvSpPr/>
          <p:nvPr/>
        </p:nvSpPr>
        <p:spPr>
          <a:xfrm>
            <a:off x="5669280" y="3749040"/>
            <a:ext cx="292608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a:t>
            </a:r>
            <a:r>
              <a:rPr lang="en-US" sz="1100" b="1" dirty="0" smtClean="0">
                <a:solidFill>
                  <a:srgbClr val="FFFFFF"/>
                </a:solidFill>
                <a:latin typeface="Calibri" pitchFamily="34" charset="0"/>
                <a:ea typeface="Calibri" pitchFamily="34" charset="-122"/>
                <a:cs typeface="Calibri" pitchFamily="34" charset="-120"/>
              </a:rPr>
              <a:t> Contatto </a:t>
            </a:r>
            <a:r>
              <a:rPr lang="en-US" sz="1100" b="1" dirty="0">
                <a:solidFill>
                  <a:srgbClr val="FFFFFF"/>
                </a:solidFill>
                <a:latin typeface="Calibri" pitchFamily="34" charset="0"/>
                <a:ea typeface="Calibri" pitchFamily="34" charset="-122"/>
                <a:cs typeface="Calibri" pitchFamily="34" charset="-120"/>
              </a:rPr>
              <a:t>istituzionale</a:t>
            </a:r>
            <a:endParaRPr lang="en-US" sz="1100" dirty="0"/>
          </a:p>
        </p:txBody>
      </p:sp>
      <p:sp>
        <p:nvSpPr>
          <p:cNvPr id="16" name="Text 14"/>
          <p:cNvSpPr/>
          <p:nvPr/>
        </p:nvSpPr>
        <p:spPr>
          <a:xfrm>
            <a:off x="5669280" y="3977640"/>
            <a:ext cx="2926080" cy="457200"/>
          </a:xfrm>
          <a:prstGeom prst="rect">
            <a:avLst/>
          </a:prstGeom>
          <a:noFill/>
          <a:ln/>
        </p:spPr>
        <p:txBody>
          <a:bodyPr wrap="square" lIns="0" tIns="0" rIns="0" bIns="0" rtlCol="0" anchor="ctr"/>
          <a:lstStyle/>
          <a:p>
            <a:pPr marL="0" indent="0">
              <a:buNone/>
            </a:pPr>
            <a:r>
              <a:rPr lang="en-US" sz="900" i="1" dirty="0" smtClean="0">
                <a:solidFill>
                  <a:srgbClr val="FAF8F2"/>
                </a:solidFill>
                <a:latin typeface="Calibri" pitchFamily="34" charset="0"/>
                <a:ea typeface="Calibri" pitchFamily="34" charset="-122"/>
                <a:cs typeface="Calibri" pitchFamily="34" charset="-120"/>
              </a:rPr>
              <a:t>lorenzo.fagiani</a:t>
            </a:r>
            <a:r>
              <a:rPr lang="en-US" sz="900" i="1" dirty="0" smtClean="0">
                <a:solidFill>
                  <a:srgbClr val="FAF8F2"/>
                </a:solidFill>
                <a:latin typeface="Calibri" pitchFamily="34" charset="0"/>
                <a:ea typeface="Calibri" pitchFamily="34" charset="-122"/>
                <a:cs typeface="Calibri" pitchFamily="34" charset="-120"/>
              </a:rPr>
              <a:t>.01@students.uniroma2.eu</a:t>
            </a:r>
            <a:endParaRPr lang="en-US" sz="900" dirty="0"/>
          </a:p>
        </p:txBody>
      </p:sp>
      <p:sp>
        <p:nvSpPr>
          <p:cNvPr id="17" name="Text 15"/>
          <p:cNvSpPr/>
          <p:nvPr/>
        </p:nvSpPr>
        <p:spPr>
          <a:xfrm>
            <a:off x="541606" y="4663440"/>
            <a:ext cx="2743200" cy="365760"/>
          </a:xfrm>
          <a:prstGeom prst="rect">
            <a:avLst/>
          </a:prstGeom>
          <a:noFill/>
          <a:ln/>
        </p:spPr>
        <p:txBody>
          <a:bodyPr wrap="square" lIns="0" tIns="0" rIns="0" bIns="0" rtlCol="0" anchor="ctr"/>
          <a:lstStyle/>
          <a:p>
            <a:pPr marL="0" indent="0">
              <a:buNone/>
            </a:pPr>
            <a:r>
              <a:rPr lang="en-US" sz="2000" i="1" dirty="0">
                <a:solidFill>
                  <a:srgbClr val="C5A572"/>
                </a:solidFill>
                <a:latin typeface="Georgia" pitchFamily="34" charset="0"/>
                <a:ea typeface="Georgia" pitchFamily="34" charset="-122"/>
                <a:cs typeface="Georgia" pitchFamily="34" charset="-120"/>
              </a:rPr>
              <a:t>Grazie.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C4E5718F44779E47A8004FF9255E1F9F" ma:contentTypeVersion="12" ma:contentTypeDescription="Creare un nuovo documento." ma:contentTypeScope="" ma:versionID="fd24f12b416ea4edd04e6aa55ffa6d1c">
  <xsd:schema xmlns:xsd="http://www.w3.org/2001/XMLSchema" xmlns:xs="http://www.w3.org/2001/XMLSchema" xmlns:p="http://schemas.microsoft.com/office/2006/metadata/properties" xmlns:ns2="b2a9557d-8874-4037-acf0-8bcdcedb5766" xmlns:ns3="4a99e5b9-c9b8-42bf-9d89-b7e48bcbbb33" targetNamespace="http://schemas.microsoft.com/office/2006/metadata/properties" ma:root="true" ma:fieldsID="28a22d3ee23b7bae23b8ad7513d342ba" ns2:_="" ns3:_="">
    <xsd:import namespace="b2a9557d-8874-4037-acf0-8bcdcedb5766"/>
    <xsd:import namespace="4a99e5b9-c9b8-42bf-9d89-b7e48bcbbb33"/>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a9557d-8874-4037-acf0-8bcdcedb5766"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Tag immagine" ma:readOnly="false" ma:fieldId="{5cf76f15-5ced-4ddc-b409-7134ff3c332f}" ma:taxonomyMulti="true" ma:sspId="1013fbc9-b00e-4d37-9f0b-4b76e146b303"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a99e5b9-c9b8-42bf-9d89-b7e48bcbbb33"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1fabfcb7-2b62-42a2-b1fe-f8adeeba1d5e}" ma:internalName="TaxCatchAll" ma:showField="CatchAllData" ma:web="4a99e5b9-c9b8-42bf-9d89-b7e48bcbbb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ReferenceId xmlns="b2a9557d-8874-4037-acf0-8bcdcedb5766" xsi:nil="true"/>
    <lcf76f155ced4ddcb4097134ff3c332f xmlns="b2a9557d-8874-4037-acf0-8bcdcedb5766">
      <Terms xmlns="http://schemas.microsoft.com/office/infopath/2007/PartnerControls"/>
    </lcf76f155ced4ddcb4097134ff3c332f>
    <TaxCatchAll xmlns="4a99e5b9-c9b8-42bf-9d89-b7e48bcbbb33" xsi:nil="true"/>
  </documentManagement>
</p:properties>
</file>

<file path=customXml/itemProps1.xml><?xml version="1.0" encoding="utf-8"?>
<ds:datastoreItem xmlns:ds="http://schemas.openxmlformats.org/officeDocument/2006/customXml" ds:itemID="{C3D979EC-7BEC-484B-9698-5B0FC8BC308F}">
  <ds:schemaRefs>
    <ds:schemaRef ds:uri="http://schemas.microsoft.com/sharepoint/v3/contenttype/forms"/>
  </ds:schemaRefs>
</ds:datastoreItem>
</file>

<file path=customXml/itemProps2.xml><?xml version="1.0" encoding="utf-8"?>
<ds:datastoreItem xmlns:ds="http://schemas.openxmlformats.org/officeDocument/2006/customXml" ds:itemID="{1475956E-3020-403D-9A86-62D7F11D4C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2a9557d-8874-4037-acf0-8bcdcedb5766"/>
    <ds:schemaRef ds:uri="4a99e5b9-c9b8-42bf-9d89-b7e48bcbbb3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0730E7C-FCDD-42CF-8186-81130E77A427}">
  <ds:schemaRefs>
    <ds:schemaRef ds:uri="http://schemas.microsoft.com/office/2006/metadata/properties"/>
    <ds:schemaRef ds:uri="http://schemas.microsoft.com/office/infopath/2007/PartnerControls"/>
    <ds:schemaRef ds:uri="b2a9557d-8874-4037-acf0-8bcdcedb5766"/>
    <ds:schemaRef ds:uri="4a99e5b9-c9b8-42bf-9d89-b7e48bcbbb33"/>
  </ds:schemaRefs>
</ds:datastoreItem>
</file>

<file path=docProps/app.xml><?xml version="1.0" encoding="utf-8"?>
<Properties xmlns="http://schemas.openxmlformats.org/officeDocument/2006/extended-properties" xmlns:vt="http://schemas.openxmlformats.org/officeDocument/2006/docPropsVTypes">
  <TotalTime>922</TotalTime>
  <Words>2200</Words>
  <Application>Microsoft Office PowerPoint</Application>
  <PresentationFormat>Presentazione su schermo (16:9)</PresentationFormat>
  <Paragraphs>260</Paragraphs>
  <Slides>14</Slides>
  <Notes>14</Notes>
  <HiddenSlides>0</HiddenSlides>
  <MMClips>0</MMClips>
  <ScaleCrop>false</ScaleCrop>
  <HeadingPairs>
    <vt:vector size="4" baseType="variant">
      <vt:variant>
        <vt:lpstr>Tema</vt:lpstr>
      </vt:variant>
      <vt:variant>
        <vt:i4>1</vt:i4>
      </vt:variant>
      <vt:variant>
        <vt:lpstr>Titoli diapositive</vt:lpstr>
      </vt:variant>
      <vt:variant>
        <vt:i4>14</vt:i4>
      </vt:variant>
    </vt:vector>
  </HeadingPairs>
  <TitlesOfParts>
    <vt:vector size="15" baseType="lpstr">
      <vt:lpstr>Office Theme</vt:lpstr>
      <vt:lpstr>Diapositiva 1</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documentazione — Passeggiate Romane</dc:title>
  <dc:subject>Laboratorio di Web Mapping</dc:subject>
  <dc:creator>Università di Roma Tor Vergata</dc:creator>
  <cp:lastModifiedBy>Lorenzo</cp:lastModifiedBy>
  <cp:revision>35</cp:revision>
  <dcterms:created xsi:type="dcterms:W3CDTF">2026-04-20T15:21:47Z</dcterms:created>
  <dcterms:modified xsi:type="dcterms:W3CDTF">2026-04-26T20:43:08Z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0x010100C4E5718F44779E47A8004FF9255E1F9F</vt:lpwstr>
  </property>
</Properties>
</file>